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37"/>
  </p:notesMasterIdLst>
  <p:sldIdLst>
    <p:sldId id="256" r:id="rId2"/>
    <p:sldId id="570" r:id="rId3"/>
    <p:sldId id="568" r:id="rId4"/>
    <p:sldId id="569" r:id="rId5"/>
    <p:sldId id="585" r:id="rId6"/>
    <p:sldId id="582" r:id="rId7"/>
    <p:sldId id="573" r:id="rId8"/>
    <p:sldId id="586" r:id="rId9"/>
    <p:sldId id="287" r:id="rId10"/>
    <p:sldId id="574" r:id="rId11"/>
    <p:sldId id="583" r:id="rId12"/>
    <p:sldId id="312" r:id="rId13"/>
    <p:sldId id="575" r:id="rId14"/>
    <p:sldId id="576" r:id="rId15"/>
    <p:sldId id="577" r:id="rId16"/>
    <p:sldId id="578" r:id="rId17"/>
    <p:sldId id="364" r:id="rId18"/>
    <p:sldId id="584" r:id="rId19"/>
    <p:sldId id="280" r:id="rId20"/>
    <p:sldId id="301" r:id="rId21"/>
    <p:sldId id="300" r:id="rId22"/>
    <p:sldId id="303" r:id="rId23"/>
    <p:sldId id="307" r:id="rId24"/>
    <p:sldId id="308" r:id="rId25"/>
    <p:sldId id="587" r:id="rId26"/>
    <p:sldId id="293" r:id="rId27"/>
    <p:sldId id="579" r:id="rId28"/>
    <p:sldId id="291" r:id="rId29"/>
    <p:sldId id="283" r:id="rId30"/>
    <p:sldId id="580" r:id="rId31"/>
    <p:sldId id="581" r:id="rId32"/>
    <p:sldId id="305" r:id="rId33"/>
    <p:sldId id="290" r:id="rId34"/>
    <p:sldId id="310" r:id="rId35"/>
    <p:sldId id="311" r:id="rId36"/>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Tahoma" pitchFamily="34" charset="0"/>
        <a:ea typeface="+mn-ea"/>
        <a:cs typeface="Arial" charset="0"/>
      </a:defRPr>
    </a:lvl1pPr>
    <a:lvl2pPr marL="457200" algn="l" rtl="0" fontAlgn="base">
      <a:spcBef>
        <a:spcPct val="0"/>
      </a:spcBef>
      <a:spcAft>
        <a:spcPct val="0"/>
      </a:spcAft>
      <a:defRPr b="1" kern="1200">
        <a:solidFill>
          <a:schemeClr val="tx1"/>
        </a:solidFill>
        <a:latin typeface="Tahoma" pitchFamily="34" charset="0"/>
        <a:ea typeface="+mn-ea"/>
        <a:cs typeface="Arial" charset="0"/>
      </a:defRPr>
    </a:lvl2pPr>
    <a:lvl3pPr marL="914400" algn="l" rtl="0" fontAlgn="base">
      <a:spcBef>
        <a:spcPct val="0"/>
      </a:spcBef>
      <a:spcAft>
        <a:spcPct val="0"/>
      </a:spcAft>
      <a:defRPr b="1" kern="1200">
        <a:solidFill>
          <a:schemeClr val="tx1"/>
        </a:solidFill>
        <a:latin typeface="Tahoma" pitchFamily="34" charset="0"/>
        <a:ea typeface="+mn-ea"/>
        <a:cs typeface="Arial" charset="0"/>
      </a:defRPr>
    </a:lvl3pPr>
    <a:lvl4pPr marL="1371600" algn="l" rtl="0" fontAlgn="base">
      <a:spcBef>
        <a:spcPct val="0"/>
      </a:spcBef>
      <a:spcAft>
        <a:spcPct val="0"/>
      </a:spcAft>
      <a:defRPr b="1" kern="1200">
        <a:solidFill>
          <a:schemeClr val="tx1"/>
        </a:solidFill>
        <a:latin typeface="Tahoma" pitchFamily="34" charset="0"/>
        <a:ea typeface="+mn-ea"/>
        <a:cs typeface="Arial" charset="0"/>
      </a:defRPr>
    </a:lvl4pPr>
    <a:lvl5pPr marL="1828800" algn="l" rtl="0" fontAlgn="base">
      <a:spcBef>
        <a:spcPct val="0"/>
      </a:spcBef>
      <a:spcAft>
        <a:spcPct val="0"/>
      </a:spcAft>
      <a:defRPr b="1" kern="1200">
        <a:solidFill>
          <a:schemeClr val="tx1"/>
        </a:solidFill>
        <a:latin typeface="Tahoma" pitchFamily="34" charset="0"/>
        <a:ea typeface="+mn-ea"/>
        <a:cs typeface="Arial" charset="0"/>
      </a:defRPr>
    </a:lvl5pPr>
    <a:lvl6pPr marL="2286000" algn="l" defTabSz="914400" rtl="0" eaLnBrk="1" latinLnBrk="0" hangingPunct="1">
      <a:defRPr b="1" kern="1200">
        <a:solidFill>
          <a:schemeClr val="tx1"/>
        </a:solidFill>
        <a:latin typeface="Tahoma" pitchFamily="34" charset="0"/>
        <a:ea typeface="+mn-ea"/>
        <a:cs typeface="Arial" charset="0"/>
      </a:defRPr>
    </a:lvl6pPr>
    <a:lvl7pPr marL="2743200" algn="l" defTabSz="914400" rtl="0" eaLnBrk="1" latinLnBrk="0" hangingPunct="1">
      <a:defRPr b="1" kern="1200">
        <a:solidFill>
          <a:schemeClr val="tx1"/>
        </a:solidFill>
        <a:latin typeface="Tahoma" pitchFamily="34" charset="0"/>
        <a:ea typeface="+mn-ea"/>
        <a:cs typeface="Arial" charset="0"/>
      </a:defRPr>
    </a:lvl7pPr>
    <a:lvl8pPr marL="3200400" algn="l" defTabSz="914400" rtl="0" eaLnBrk="1" latinLnBrk="0" hangingPunct="1">
      <a:defRPr b="1" kern="1200">
        <a:solidFill>
          <a:schemeClr val="tx1"/>
        </a:solidFill>
        <a:latin typeface="Tahoma" pitchFamily="34" charset="0"/>
        <a:ea typeface="+mn-ea"/>
        <a:cs typeface="Arial" charset="0"/>
      </a:defRPr>
    </a:lvl8pPr>
    <a:lvl9pPr marL="3657600" algn="l" defTabSz="914400" rtl="0" eaLnBrk="1" latinLnBrk="0" hangingPunct="1">
      <a:defRPr b="1" kern="1200">
        <a:solidFill>
          <a:schemeClr val="tx1"/>
        </a:solidFill>
        <a:latin typeface="Tahoma"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a:srgbClr val="CC0099"/>
    <a:srgbClr val="FFFF66"/>
    <a:srgbClr val="66FF33"/>
    <a:srgbClr val="000000"/>
    <a:srgbClr val="CC0066"/>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64135" autoAdjust="0"/>
  </p:normalViewPr>
  <p:slideViewPr>
    <p:cSldViewPr snapToGrid="0">
      <p:cViewPr varScale="1">
        <p:scale>
          <a:sx n="65" d="100"/>
          <a:sy n="65" d="100"/>
        </p:scale>
        <p:origin x="1762" y="58"/>
      </p:cViewPr>
      <p:guideLst>
        <p:guide orient="horz" pos="2160"/>
        <p:guide pos="2880"/>
      </p:guideLst>
    </p:cSldViewPr>
  </p:slideViewPr>
  <p:outlineViewPr>
    <p:cViewPr>
      <p:scale>
        <a:sx n="33" d="100"/>
        <a:sy n="33" d="100"/>
      </p:scale>
      <p:origin x="0" y="0"/>
    </p:cViewPr>
  </p:outlineViewPr>
  <p:notesTextViewPr>
    <p:cViewPr>
      <p:scale>
        <a:sx n="125" d="100"/>
        <a:sy n="125" d="100"/>
      </p:scale>
      <p:origin x="0" y="-34"/>
    </p:cViewPr>
  </p:notesTextViewPr>
  <p:notesViewPr>
    <p:cSldViewPr snapToGrid="0">
      <p:cViewPr varScale="1">
        <p:scale>
          <a:sx n="59" d="100"/>
          <a:sy n="59" d="100"/>
        </p:scale>
        <p:origin x="-174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49DDC4-31D3-224B-8993-BDA6042EB1E3}"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C0BF9D2E-A6FF-6045-8151-37AE24795193}">
      <dgm:prSet custT="1"/>
      <dgm:spPr/>
      <dgm:t>
        <a:bodyPr/>
        <a:lstStyle/>
        <a:p>
          <a:pPr rtl="0"/>
          <a:r>
            <a:rPr lang="en-US" sz="1400" dirty="0"/>
            <a:t>1. Computer security is not as simple as it might first appear to the novice</a:t>
          </a:r>
        </a:p>
      </dgm:t>
    </dgm:pt>
    <dgm:pt modelId="{51F3D1C9-D2D1-0B4E-A92B-B30E5A3B4C00}" type="parTrans" cxnId="{159F91C2-0ADB-5341-91F3-B5838B7D939B}">
      <dgm:prSet/>
      <dgm:spPr/>
      <dgm:t>
        <a:bodyPr/>
        <a:lstStyle/>
        <a:p>
          <a:endParaRPr lang="en-US"/>
        </a:p>
      </dgm:t>
    </dgm:pt>
    <dgm:pt modelId="{681D42A9-34FB-0342-8F81-036924A1FD91}" type="sibTrans" cxnId="{159F91C2-0ADB-5341-91F3-B5838B7D939B}">
      <dgm:prSet/>
      <dgm:spPr/>
      <dgm:t>
        <a:bodyPr/>
        <a:lstStyle/>
        <a:p>
          <a:endParaRPr lang="en-US"/>
        </a:p>
      </dgm:t>
    </dgm:pt>
    <dgm:pt modelId="{38737062-B875-D04C-8454-D1D7A4AFF327}">
      <dgm:prSet custT="1"/>
      <dgm:spPr>
        <a:solidFill>
          <a:schemeClr val="accent3">
            <a:lumMod val="75000"/>
          </a:schemeClr>
        </a:solidFill>
      </dgm:spPr>
      <dgm:t>
        <a:bodyPr/>
        <a:lstStyle/>
        <a:p>
          <a:pPr rtl="0"/>
          <a:r>
            <a:rPr lang="en-US" sz="1400" dirty="0"/>
            <a:t>2. In developing a particular security mechanism or algorithm, one must always consider potential attacks on those security features</a:t>
          </a:r>
        </a:p>
      </dgm:t>
    </dgm:pt>
    <dgm:pt modelId="{D9AE507F-B97D-BD42-B074-C8994FDD67ED}" type="parTrans" cxnId="{CEE37639-5395-ED4E-8752-E7EB8124AA30}">
      <dgm:prSet/>
      <dgm:spPr/>
      <dgm:t>
        <a:bodyPr/>
        <a:lstStyle/>
        <a:p>
          <a:endParaRPr lang="en-US"/>
        </a:p>
      </dgm:t>
    </dgm:pt>
    <dgm:pt modelId="{8557F9BB-144D-2F47-BC18-0FEF5B016251}" type="sibTrans" cxnId="{CEE37639-5395-ED4E-8752-E7EB8124AA30}">
      <dgm:prSet/>
      <dgm:spPr/>
      <dgm:t>
        <a:bodyPr/>
        <a:lstStyle/>
        <a:p>
          <a:endParaRPr lang="en-US"/>
        </a:p>
      </dgm:t>
    </dgm:pt>
    <dgm:pt modelId="{D206238D-B64A-3C48-9AA9-02A105F7B14A}">
      <dgm:prSet custT="1"/>
      <dgm:spPr/>
      <dgm:t>
        <a:bodyPr/>
        <a:lstStyle/>
        <a:p>
          <a:pPr rtl="0"/>
          <a:r>
            <a:rPr lang="en-US" sz="1400" dirty="0"/>
            <a:t>3. Procedures used to provide particular services are often counterintuitive</a:t>
          </a:r>
        </a:p>
      </dgm:t>
    </dgm:pt>
    <dgm:pt modelId="{98665341-6C3B-A64F-B934-00925864E583}" type="parTrans" cxnId="{5125F4BE-7BF6-BE4D-8F47-AE9648C30FFE}">
      <dgm:prSet/>
      <dgm:spPr/>
      <dgm:t>
        <a:bodyPr/>
        <a:lstStyle/>
        <a:p>
          <a:endParaRPr lang="en-US"/>
        </a:p>
      </dgm:t>
    </dgm:pt>
    <dgm:pt modelId="{727A58D2-5CF5-8E4E-BEE7-8E76ADC3CD86}" type="sibTrans" cxnId="{5125F4BE-7BF6-BE4D-8F47-AE9648C30FFE}">
      <dgm:prSet/>
      <dgm:spPr/>
      <dgm:t>
        <a:bodyPr/>
        <a:lstStyle/>
        <a:p>
          <a:endParaRPr lang="en-US"/>
        </a:p>
      </dgm:t>
    </dgm:pt>
    <dgm:pt modelId="{5C2CD799-37EF-8749-8CEF-C46C6DE32CBE}">
      <dgm:prSet custT="1"/>
      <dgm:spPr>
        <a:solidFill>
          <a:schemeClr val="accent5">
            <a:lumMod val="75000"/>
          </a:schemeClr>
        </a:solidFill>
      </dgm:spPr>
      <dgm:t>
        <a:bodyPr/>
        <a:lstStyle/>
        <a:p>
          <a:pPr rtl="0"/>
          <a:r>
            <a:rPr lang="en-US" sz="1400" dirty="0"/>
            <a:t>4. Physical and logical placement needs to be determined</a:t>
          </a:r>
        </a:p>
      </dgm:t>
    </dgm:pt>
    <dgm:pt modelId="{DDBDB4F2-E22D-9549-A45F-C952A9C7A73C}" type="parTrans" cxnId="{E1FF7C1D-3FB0-0E47-BD15-C5CA55B2821B}">
      <dgm:prSet/>
      <dgm:spPr/>
      <dgm:t>
        <a:bodyPr/>
        <a:lstStyle/>
        <a:p>
          <a:endParaRPr lang="en-US"/>
        </a:p>
      </dgm:t>
    </dgm:pt>
    <dgm:pt modelId="{C7BB4EA2-9D39-7341-89AB-01A93CBF5C82}" type="sibTrans" cxnId="{E1FF7C1D-3FB0-0E47-BD15-C5CA55B2821B}">
      <dgm:prSet/>
      <dgm:spPr/>
      <dgm:t>
        <a:bodyPr/>
        <a:lstStyle/>
        <a:p>
          <a:endParaRPr lang="en-US"/>
        </a:p>
      </dgm:t>
    </dgm:pt>
    <dgm:pt modelId="{5875E5B6-99EC-2142-8C93-2B38B35F688B}">
      <dgm:prSet custT="1"/>
      <dgm:spPr/>
      <dgm:t>
        <a:bodyPr/>
        <a:lstStyle/>
        <a:p>
          <a:pPr rtl="0"/>
          <a:r>
            <a:rPr lang="en-US" sz="1300" dirty="0"/>
            <a:t>5. Security mechanisms typically involve more than a particular algorithm or protocol and also require that participants be in possession of some secret information which raises questions about the creation, distribution, and protection of that secret information</a:t>
          </a:r>
        </a:p>
      </dgm:t>
    </dgm:pt>
    <dgm:pt modelId="{73BE2ECB-C1DA-5242-951F-6092EB4D40FC}" type="parTrans" cxnId="{2F6A9E27-D5C1-D843-8B20-32484B2CA0AC}">
      <dgm:prSet/>
      <dgm:spPr/>
      <dgm:t>
        <a:bodyPr/>
        <a:lstStyle/>
        <a:p>
          <a:endParaRPr lang="en-US"/>
        </a:p>
      </dgm:t>
    </dgm:pt>
    <dgm:pt modelId="{BAB8A9BC-D36F-6A44-9A0F-94A1C07F4074}" type="sibTrans" cxnId="{2F6A9E27-D5C1-D843-8B20-32484B2CA0AC}">
      <dgm:prSet/>
      <dgm:spPr/>
      <dgm:t>
        <a:bodyPr/>
        <a:lstStyle/>
        <a:p>
          <a:endParaRPr lang="en-US"/>
        </a:p>
      </dgm:t>
    </dgm:pt>
    <dgm:pt modelId="{8790E657-59DC-AB4E-B2D8-E6E47498FDA6}">
      <dgm:prSet custT="1"/>
      <dgm:spPr>
        <a:solidFill>
          <a:schemeClr val="accent3">
            <a:lumMod val="75000"/>
          </a:schemeClr>
        </a:solidFill>
      </dgm:spPr>
      <dgm:t>
        <a:bodyPr/>
        <a:lstStyle/>
        <a:p>
          <a:pPr rtl="0"/>
          <a:r>
            <a:rPr lang="en-US" sz="1400" dirty="0"/>
            <a:t>6. Attackers only need to find a single weakness, while the designer must find and eliminate all weaknesses to achieve perfect security</a:t>
          </a:r>
        </a:p>
      </dgm:t>
    </dgm:pt>
    <dgm:pt modelId="{1613C12A-0E45-D64E-A356-DADB4217BAF4}" type="parTrans" cxnId="{BEF29EC4-E4A1-1043-99F0-06F3EA634EF8}">
      <dgm:prSet/>
      <dgm:spPr/>
      <dgm:t>
        <a:bodyPr/>
        <a:lstStyle/>
        <a:p>
          <a:endParaRPr lang="en-US"/>
        </a:p>
      </dgm:t>
    </dgm:pt>
    <dgm:pt modelId="{2EC64B36-D9FD-8848-9D42-D633207B9C98}" type="sibTrans" cxnId="{BEF29EC4-E4A1-1043-99F0-06F3EA634EF8}">
      <dgm:prSet/>
      <dgm:spPr/>
      <dgm:t>
        <a:bodyPr/>
        <a:lstStyle/>
        <a:p>
          <a:endParaRPr lang="en-US"/>
        </a:p>
      </dgm:t>
    </dgm:pt>
    <dgm:pt modelId="{BD282607-209B-D94B-82EC-B7D7D51B88C7}">
      <dgm:prSet custT="1"/>
      <dgm:spPr/>
      <dgm:t>
        <a:bodyPr/>
        <a:lstStyle/>
        <a:p>
          <a:pPr rtl="0"/>
          <a:r>
            <a:rPr lang="en-US" sz="1400" dirty="0"/>
            <a:t>9. There is a natural tendency on the part of users and system managers to perceive little benefit from security investment until a security failure occurs</a:t>
          </a:r>
        </a:p>
      </dgm:t>
    </dgm:pt>
    <dgm:pt modelId="{28C8EBCC-FE59-FB41-9BBC-2B02F287091F}" type="parTrans" cxnId="{A1063626-8553-AA4B-B59B-38773354D5B0}">
      <dgm:prSet/>
      <dgm:spPr/>
      <dgm:t>
        <a:bodyPr/>
        <a:lstStyle/>
        <a:p>
          <a:endParaRPr lang="en-US"/>
        </a:p>
      </dgm:t>
    </dgm:pt>
    <dgm:pt modelId="{F2D66187-238D-EA4C-A2D4-2A8FA28E75A7}" type="sibTrans" cxnId="{A1063626-8553-AA4B-B59B-38773354D5B0}">
      <dgm:prSet/>
      <dgm:spPr/>
      <dgm:t>
        <a:bodyPr/>
        <a:lstStyle/>
        <a:p>
          <a:endParaRPr lang="en-US"/>
        </a:p>
      </dgm:t>
    </dgm:pt>
    <dgm:pt modelId="{4D1B6B79-8B71-C34C-8F69-69541115B5A2}">
      <dgm:prSet custT="1"/>
      <dgm:spPr>
        <a:solidFill>
          <a:schemeClr val="accent5">
            <a:lumMod val="75000"/>
          </a:schemeClr>
        </a:solidFill>
      </dgm:spPr>
      <dgm:t>
        <a:bodyPr/>
        <a:lstStyle/>
        <a:p>
          <a:pPr rtl="0"/>
          <a:r>
            <a:rPr lang="en-US" sz="1400" dirty="0"/>
            <a:t>8. Security requires regular and constant monitoring</a:t>
          </a:r>
        </a:p>
      </dgm:t>
    </dgm:pt>
    <dgm:pt modelId="{0599851D-42A5-234E-8F8E-AB590B76BC39}" type="parTrans" cxnId="{DB1248C1-542B-F244-99A6-B417281F8916}">
      <dgm:prSet/>
      <dgm:spPr/>
      <dgm:t>
        <a:bodyPr/>
        <a:lstStyle/>
        <a:p>
          <a:endParaRPr lang="en-US"/>
        </a:p>
      </dgm:t>
    </dgm:pt>
    <dgm:pt modelId="{9EADADCF-7E16-BD45-8D13-B4B901575AAC}" type="sibTrans" cxnId="{DB1248C1-542B-F244-99A6-B417281F8916}">
      <dgm:prSet/>
      <dgm:spPr/>
      <dgm:t>
        <a:bodyPr/>
        <a:lstStyle/>
        <a:p>
          <a:endParaRPr lang="en-US"/>
        </a:p>
      </dgm:t>
    </dgm:pt>
    <dgm:pt modelId="{94E76F4D-5287-4842-B1AD-60F0E334EE0C}">
      <dgm:prSet custT="1"/>
      <dgm:spPr/>
      <dgm:t>
        <a:bodyPr/>
        <a:lstStyle/>
        <a:p>
          <a:pPr rtl="0"/>
          <a:r>
            <a:rPr lang="en-US" sz="1400" dirty="0"/>
            <a:t>7. Security is still too often an afterthought to be incorporated into a system after the design is complete, rather than being an integral part of the design process</a:t>
          </a:r>
        </a:p>
      </dgm:t>
    </dgm:pt>
    <dgm:pt modelId="{5A181E3C-E1D7-0B47-8768-DB527A0C430B}" type="parTrans" cxnId="{07457E72-B7B0-C145-B24A-918289C33945}">
      <dgm:prSet/>
      <dgm:spPr/>
      <dgm:t>
        <a:bodyPr/>
        <a:lstStyle/>
        <a:p>
          <a:endParaRPr lang="en-US"/>
        </a:p>
      </dgm:t>
    </dgm:pt>
    <dgm:pt modelId="{619A9664-8B7A-A845-A004-F7B845FFEFD3}" type="sibTrans" cxnId="{07457E72-B7B0-C145-B24A-918289C33945}">
      <dgm:prSet/>
      <dgm:spPr/>
      <dgm:t>
        <a:bodyPr/>
        <a:lstStyle/>
        <a:p>
          <a:endParaRPr lang="en-US"/>
        </a:p>
      </dgm:t>
    </dgm:pt>
    <dgm:pt modelId="{5FA45762-0B5E-234E-8176-DC0809E271B0}">
      <dgm:prSet custT="1"/>
      <dgm:spPr>
        <a:solidFill>
          <a:schemeClr val="accent3">
            <a:lumMod val="75000"/>
          </a:schemeClr>
        </a:solidFill>
      </dgm:spPr>
      <dgm:t>
        <a:bodyPr/>
        <a:lstStyle/>
        <a:p>
          <a:pPr rtl="0"/>
          <a:r>
            <a:rPr lang="en-US" sz="1400" dirty="0"/>
            <a:t>10. Many users and even security administrators view strong security as an impediment to efficient and user-friendly operation of an information system or use of information</a:t>
          </a:r>
        </a:p>
      </dgm:t>
    </dgm:pt>
    <dgm:pt modelId="{CF11053D-87E8-B74D-A2F5-D261BC380F7F}" type="parTrans" cxnId="{90911A03-FC7A-E346-86F8-F36E6FBD5998}">
      <dgm:prSet/>
      <dgm:spPr/>
      <dgm:t>
        <a:bodyPr/>
        <a:lstStyle/>
        <a:p>
          <a:endParaRPr lang="en-US"/>
        </a:p>
      </dgm:t>
    </dgm:pt>
    <dgm:pt modelId="{61AC2F5D-DCBF-DD4D-81CC-329F6A995B18}" type="sibTrans" cxnId="{90911A03-FC7A-E346-86F8-F36E6FBD5998}">
      <dgm:prSet/>
      <dgm:spPr/>
      <dgm:t>
        <a:bodyPr/>
        <a:lstStyle/>
        <a:p>
          <a:endParaRPr lang="en-US"/>
        </a:p>
      </dgm:t>
    </dgm:pt>
    <dgm:pt modelId="{746A6ECA-48E4-9E45-8578-AF829B63CA0C}" type="pres">
      <dgm:prSet presAssocID="{1249DDC4-31D3-224B-8993-BDA6042EB1E3}" presName="linear" presStyleCnt="0">
        <dgm:presLayoutVars>
          <dgm:animLvl val="lvl"/>
          <dgm:resizeHandles val="exact"/>
        </dgm:presLayoutVars>
      </dgm:prSet>
      <dgm:spPr/>
    </dgm:pt>
    <dgm:pt modelId="{6873EC69-5554-1946-A603-622FD2F24531}" type="pres">
      <dgm:prSet presAssocID="{C0BF9D2E-A6FF-6045-8151-37AE24795193}" presName="parentText" presStyleLbl="node1" presStyleIdx="0" presStyleCnt="10">
        <dgm:presLayoutVars>
          <dgm:chMax val="0"/>
          <dgm:bulletEnabled val="1"/>
        </dgm:presLayoutVars>
      </dgm:prSet>
      <dgm:spPr/>
    </dgm:pt>
    <dgm:pt modelId="{25A670DD-F6AC-A641-A613-E2E7BE0EEFAF}" type="pres">
      <dgm:prSet presAssocID="{681D42A9-34FB-0342-8F81-036924A1FD91}" presName="spacer" presStyleCnt="0"/>
      <dgm:spPr/>
    </dgm:pt>
    <dgm:pt modelId="{CF5A8B8B-DEFB-E740-81CA-4AD7AAF0AAF9}" type="pres">
      <dgm:prSet presAssocID="{38737062-B875-D04C-8454-D1D7A4AFF327}" presName="parentText" presStyleLbl="node1" presStyleIdx="1" presStyleCnt="10">
        <dgm:presLayoutVars>
          <dgm:chMax val="0"/>
          <dgm:bulletEnabled val="1"/>
        </dgm:presLayoutVars>
      </dgm:prSet>
      <dgm:spPr/>
    </dgm:pt>
    <dgm:pt modelId="{90E0A6F3-3366-F447-ABB4-73D5B4A5C730}" type="pres">
      <dgm:prSet presAssocID="{8557F9BB-144D-2F47-BC18-0FEF5B016251}" presName="spacer" presStyleCnt="0"/>
      <dgm:spPr/>
    </dgm:pt>
    <dgm:pt modelId="{793D2875-7427-DB48-8DB3-CA46BFF185D3}" type="pres">
      <dgm:prSet presAssocID="{D206238D-B64A-3C48-9AA9-02A105F7B14A}" presName="parentText" presStyleLbl="node1" presStyleIdx="2" presStyleCnt="10">
        <dgm:presLayoutVars>
          <dgm:chMax val="0"/>
          <dgm:bulletEnabled val="1"/>
        </dgm:presLayoutVars>
      </dgm:prSet>
      <dgm:spPr/>
    </dgm:pt>
    <dgm:pt modelId="{F1EB58D8-21FF-624D-BA59-0B8390953F71}" type="pres">
      <dgm:prSet presAssocID="{727A58D2-5CF5-8E4E-BEE7-8E76ADC3CD86}" presName="spacer" presStyleCnt="0"/>
      <dgm:spPr/>
    </dgm:pt>
    <dgm:pt modelId="{9FEAA38D-0E1F-4E47-B5A5-B5834DBA8E5F}" type="pres">
      <dgm:prSet presAssocID="{5C2CD799-37EF-8749-8CEF-C46C6DE32CBE}" presName="parentText" presStyleLbl="node1" presStyleIdx="3" presStyleCnt="10">
        <dgm:presLayoutVars>
          <dgm:chMax val="0"/>
          <dgm:bulletEnabled val="1"/>
        </dgm:presLayoutVars>
      </dgm:prSet>
      <dgm:spPr/>
    </dgm:pt>
    <dgm:pt modelId="{ACA172EC-B24D-EF47-9BED-3D884B5EC23D}" type="pres">
      <dgm:prSet presAssocID="{C7BB4EA2-9D39-7341-89AB-01A93CBF5C82}" presName="spacer" presStyleCnt="0"/>
      <dgm:spPr/>
    </dgm:pt>
    <dgm:pt modelId="{C3BEE8ED-5622-8443-8726-5314A36904EC}" type="pres">
      <dgm:prSet presAssocID="{5875E5B6-99EC-2142-8C93-2B38B35F688B}" presName="parentText" presStyleLbl="node1" presStyleIdx="4" presStyleCnt="10">
        <dgm:presLayoutVars>
          <dgm:chMax val="0"/>
          <dgm:bulletEnabled val="1"/>
        </dgm:presLayoutVars>
      </dgm:prSet>
      <dgm:spPr/>
    </dgm:pt>
    <dgm:pt modelId="{512A6E07-1DEB-4D40-9E42-0E6323C9B991}" type="pres">
      <dgm:prSet presAssocID="{BAB8A9BC-D36F-6A44-9A0F-94A1C07F4074}" presName="spacer" presStyleCnt="0"/>
      <dgm:spPr/>
    </dgm:pt>
    <dgm:pt modelId="{C5ACDA04-9503-D741-9A98-A11F5B1C4290}" type="pres">
      <dgm:prSet presAssocID="{8790E657-59DC-AB4E-B2D8-E6E47498FDA6}" presName="parentText" presStyleLbl="node1" presStyleIdx="5" presStyleCnt="10">
        <dgm:presLayoutVars>
          <dgm:chMax val="0"/>
          <dgm:bulletEnabled val="1"/>
        </dgm:presLayoutVars>
      </dgm:prSet>
      <dgm:spPr/>
    </dgm:pt>
    <dgm:pt modelId="{1DB0C662-0C50-AF4E-9D19-8014AA129764}" type="pres">
      <dgm:prSet presAssocID="{2EC64B36-D9FD-8848-9D42-D633207B9C98}" presName="spacer" presStyleCnt="0"/>
      <dgm:spPr/>
    </dgm:pt>
    <dgm:pt modelId="{0776297F-1ECD-134C-BCF0-208F2852E00A}" type="pres">
      <dgm:prSet presAssocID="{94E76F4D-5287-4842-B1AD-60F0E334EE0C}" presName="parentText" presStyleLbl="node1" presStyleIdx="6" presStyleCnt="10">
        <dgm:presLayoutVars>
          <dgm:chMax val="0"/>
          <dgm:bulletEnabled val="1"/>
        </dgm:presLayoutVars>
      </dgm:prSet>
      <dgm:spPr/>
    </dgm:pt>
    <dgm:pt modelId="{4ED4D29B-17C4-5F41-9C4F-9763F0A7DF4A}" type="pres">
      <dgm:prSet presAssocID="{619A9664-8B7A-A845-A004-F7B845FFEFD3}" presName="spacer" presStyleCnt="0"/>
      <dgm:spPr/>
    </dgm:pt>
    <dgm:pt modelId="{E2EE7A55-3978-B04F-A3FE-9C9F056CBA11}" type="pres">
      <dgm:prSet presAssocID="{4D1B6B79-8B71-C34C-8F69-69541115B5A2}" presName="parentText" presStyleLbl="node1" presStyleIdx="7" presStyleCnt="10">
        <dgm:presLayoutVars>
          <dgm:chMax val="0"/>
          <dgm:bulletEnabled val="1"/>
        </dgm:presLayoutVars>
      </dgm:prSet>
      <dgm:spPr/>
    </dgm:pt>
    <dgm:pt modelId="{B5163028-441F-4641-AF38-78FD6EDACD76}" type="pres">
      <dgm:prSet presAssocID="{9EADADCF-7E16-BD45-8D13-B4B901575AAC}" presName="spacer" presStyleCnt="0"/>
      <dgm:spPr/>
    </dgm:pt>
    <dgm:pt modelId="{591F456C-2256-9443-8F58-72257993E123}" type="pres">
      <dgm:prSet presAssocID="{BD282607-209B-D94B-82EC-B7D7D51B88C7}" presName="parentText" presStyleLbl="node1" presStyleIdx="8" presStyleCnt="10">
        <dgm:presLayoutVars>
          <dgm:chMax val="0"/>
          <dgm:bulletEnabled val="1"/>
        </dgm:presLayoutVars>
      </dgm:prSet>
      <dgm:spPr/>
    </dgm:pt>
    <dgm:pt modelId="{A9801312-C063-7040-88DD-9B96B6748B4D}" type="pres">
      <dgm:prSet presAssocID="{F2D66187-238D-EA4C-A2D4-2A8FA28E75A7}" presName="spacer" presStyleCnt="0"/>
      <dgm:spPr/>
    </dgm:pt>
    <dgm:pt modelId="{B8E735F0-D003-6942-B3ED-099C1D685E5D}" type="pres">
      <dgm:prSet presAssocID="{5FA45762-0B5E-234E-8176-DC0809E271B0}" presName="parentText" presStyleLbl="node1" presStyleIdx="9" presStyleCnt="10">
        <dgm:presLayoutVars>
          <dgm:chMax val="0"/>
          <dgm:bulletEnabled val="1"/>
        </dgm:presLayoutVars>
      </dgm:prSet>
      <dgm:spPr/>
    </dgm:pt>
  </dgm:ptLst>
  <dgm:cxnLst>
    <dgm:cxn modelId="{90911A03-FC7A-E346-86F8-F36E6FBD5998}" srcId="{1249DDC4-31D3-224B-8993-BDA6042EB1E3}" destId="{5FA45762-0B5E-234E-8176-DC0809E271B0}" srcOrd="9" destOrd="0" parTransId="{CF11053D-87E8-B74D-A2F5-D261BC380F7F}" sibTransId="{61AC2F5D-DCBF-DD4D-81CC-329F6A995B18}"/>
    <dgm:cxn modelId="{BADB7F08-42E4-A245-B7FB-7DF1D8FCBB5A}" type="presOf" srcId="{BD282607-209B-D94B-82EC-B7D7D51B88C7}" destId="{591F456C-2256-9443-8F58-72257993E123}" srcOrd="0" destOrd="0" presId="urn:microsoft.com/office/officeart/2005/8/layout/vList2"/>
    <dgm:cxn modelId="{2CBF380A-E2C2-024B-A48D-1E2A968CE577}" type="presOf" srcId="{8790E657-59DC-AB4E-B2D8-E6E47498FDA6}" destId="{C5ACDA04-9503-D741-9A98-A11F5B1C4290}" srcOrd="0" destOrd="0" presId="urn:microsoft.com/office/officeart/2005/8/layout/vList2"/>
    <dgm:cxn modelId="{E1FF7C1D-3FB0-0E47-BD15-C5CA55B2821B}" srcId="{1249DDC4-31D3-224B-8993-BDA6042EB1E3}" destId="{5C2CD799-37EF-8749-8CEF-C46C6DE32CBE}" srcOrd="3" destOrd="0" parTransId="{DDBDB4F2-E22D-9549-A45F-C952A9C7A73C}" sibTransId="{C7BB4EA2-9D39-7341-89AB-01A93CBF5C82}"/>
    <dgm:cxn modelId="{A1063626-8553-AA4B-B59B-38773354D5B0}" srcId="{1249DDC4-31D3-224B-8993-BDA6042EB1E3}" destId="{BD282607-209B-D94B-82EC-B7D7D51B88C7}" srcOrd="8" destOrd="0" parTransId="{28C8EBCC-FE59-FB41-9BBC-2B02F287091F}" sibTransId="{F2D66187-238D-EA4C-A2D4-2A8FA28E75A7}"/>
    <dgm:cxn modelId="{2F6A9E27-D5C1-D843-8B20-32484B2CA0AC}" srcId="{1249DDC4-31D3-224B-8993-BDA6042EB1E3}" destId="{5875E5B6-99EC-2142-8C93-2B38B35F688B}" srcOrd="4" destOrd="0" parTransId="{73BE2ECB-C1DA-5242-951F-6092EB4D40FC}" sibTransId="{BAB8A9BC-D36F-6A44-9A0F-94A1C07F4074}"/>
    <dgm:cxn modelId="{23C3CA36-B202-304E-9B75-22110C8EF0AC}" type="presOf" srcId="{5C2CD799-37EF-8749-8CEF-C46C6DE32CBE}" destId="{9FEAA38D-0E1F-4E47-B5A5-B5834DBA8E5F}" srcOrd="0" destOrd="0" presId="urn:microsoft.com/office/officeart/2005/8/layout/vList2"/>
    <dgm:cxn modelId="{CEE37639-5395-ED4E-8752-E7EB8124AA30}" srcId="{1249DDC4-31D3-224B-8993-BDA6042EB1E3}" destId="{38737062-B875-D04C-8454-D1D7A4AFF327}" srcOrd="1" destOrd="0" parTransId="{D9AE507F-B97D-BD42-B074-C8994FDD67ED}" sibTransId="{8557F9BB-144D-2F47-BC18-0FEF5B016251}"/>
    <dgm:cxn modelId="{2B84E165-0E13-2840-8DB8-5181EF66AA60}" type="presOf" srcId="{38737062-B875-D04C-8454-D1D7A4AFF327}" destId="{CF5A8B8B-DEFB-E740-81CA-4AD7AAF0AAF9}" srcOrd="0" destOrd="0" presId="urn:microsoft.com/office/officeart/2005/8/layout/vList2"/>
    <dgm:cxn modelId="{C9C8304A-159D-B84A-A09C-1881AFF35B9A}" type="presOf" srcId="{C0BF9D2E-A6FF-6045-8151-37AE24795193}" destId="{6873EC69-5554-1946-A603-622FD2F24531}" srcOrd="0" destOrd="0" presId="urn:microsoft.com/office/officeart/2005/8/layout/vList2"/>
    <dgm:cxn modelId="{07457E72-B7B0-C145-B24A-918289C33945}" srcId="{1249DDC4-31D3-224B-8993-BDA6042EB1E3}" destId="{94E76F4D-5287-4842-B1AD-60F0E334EE0C}" srcOrd="6" destOrd="0" parTransId="{5A181E3C-E1D7-0B47-8768-DB527A0C430B}" sibTransId="{619A9664-8B7A-A845-A004-F7B845FFEFD3}"/>
    <dgm:cxn modelId="{DB8B5F57-45B2-8C4E-B4CF-FD46BB281A0E}" type="presOf" srcId="{94E76F4D-5287-4842-B1AD-60F0E334EE0C}" destId="{0776297F-1ECD-134C-BCF0-208F2852E00A}" srcOrd="0" destOrd="0" presId="urn:microsoft.com/office/officeart/2005/8/layout/vList2"/>
    <dgm:cxn modelId="{AAE36478-93DE-234B-AFB9-87B1FFA200E5}" type="presOf" srcId="{5875E5B6-99EC-2142-8C93-2B38B35F688B}" destId="{C3BEE8ED-5622-8443-8726-5314A36904EC}" srcOrd="0" destOrd="0" presId="urn:microsoft.com/office/officeart/2005/8/layout/vList2"/>
    <dgm:cxn modelId="{959AAC7A-07CA-8D48-A70C-620CF89C080B}" type="presOf" srcId="{5FA45762-0B5E-234E-8176-DC0809E271B0}" destId="{B8E735F0-D003-6942-B3ED-099C1D685E5D}" srcOrd="0" destOrd="0" presId="urn:microsoft.com/office/officeart/2005/8/layout/vList2"/>
    <dgm:cxn modelId="{5125F4BE-7BF6-BE4D-8F47-AE9648C30FFE}" srcId="{1249DDC4-31D3-224B-8993-BDA6042EB1E3}" destId="{D206238D-B64A-3C48-9AA9-02A105F7B14A}" srcOrd="2" destOrd="0" parTransId="{98665341-6C3B-A64F-B934-00925864E583}" sibTransId="{727A58D2-5CF5-8E4E-BEE7-8E76ADC3CD86}"/>
    <dgm:cxn modelId="{DB1248C1-542B-F244-99A6-B417281F8916}" srcId="{1249DDC4-31D3-224B-8993-BDA6042EB1E3}" destId="{4D1B6B79-8B71-C34C-8F69-69541115B5A2}" srcOrd="7" destOrd="0" parTransId="{0599851D-42A5-234E-8F8E-AB590B76BC39}" sibTransId="{9EADADCF-7E16-BD45-8D13-B4B901575AAC}"/>
    <dgm:cxn modelId="{159F91C2-0ADB-5341-91F3-B5838B7D939B}" srcId="{1249DDC4-31D3-224B-8993-BDA6042EB1E3}" destId="{C0BF9D2E-A6FF-6045-8151-37AE24795193}" srcOrd="0" destOrd="0" parTransId="{51F3D1C9-D2D1-0B4E-A92B-B30E5A3B4C00}" sibTransId="{681D42A9-34FB-0342-8F81-036924A1FD91}"/>
    <dgm:cxn modelId="{BEF29EC4-E4A1-1043-99F0-06F3EA634EF8}" srcId="{1249DDC4-31D3-224B-8993-BDA6042EB1E3}" destId="{8790E657-59DC-AB4E-B2D8-E6E47498FDA6}" srcOrd="5" destOrd="0" parTransId="{1613C12A-0E45-D64E-A356-DADB4217BAF4}" sibTransId="{2EC64B36-D9FD-8848-9D42-D633207B9C98}"/>
    <dgm:cxn modelId="{4F9740CA-9A9F-124E-BC06-A7F6FC5D3F9B}" type="presOf" srcId="{4D1B6B79-8B71-C34C-8F69-69541115B5A2}" destId="{E2EE7A55-3978-B04F-A3FE-9C9F056CBA11}" srcOrd="0" destOrd="0" presId="urn:microsoft.com/office/officeart/2005/8/layout/vList2"/>
    <dgm:cxn modelId="{0C6F92E5-5230-9046-8E00-8974E4EA5DFC}" type="presOf" srcId="{D206238D-B64A-3C48-9AA9-02A105F7B14A}" destId="{793D2875-7427-DB48-8DB3-CA46BFF185D3}" srcOrd="0" destOrd="0" presId="urn:microsoft.com/office/officeart/2005/8/layout/vList2"/>
    <dgm:cxn modelId="{3B4FA8F6-16FB-7043-9CE6-4324B16DE483}" type="presOf" srcId="{1249DDC4-31D3-224B-8993-BDA6042EB1E3}" destId="{746A6ECA-48E4-9E45-8578-AF829B63CA0C}" srcOrd="0" destOrd="0" presId="urn:microsoft.com/office/officeart/2005/8/layout/vList2"/>
    <dgm:cxn modelId="{B5C25240-0437-EE4F-8BEC-5C211D38FA41}" type="presParOf" srcId="{746A6ECA-48E4-9E45-8578-AF829B63CA0C}" destId="{6873EC69-5554-1946-A603-622FD2F24531}" srcOrd="0" destOrd="0" presId="urn:microsoft.com/office/officeart/2005/8/layout/vList2"/>
    <dgm:cxn modelId="{898BC20C-A50B-0C4B-A1A0-6555D6AC70DA}" type="presParOf" srcId="{746A6ECA-48E4-9E45-8578-AF829B63CA0C}" destId="{25A670DD-F6AC-A641-A613-E2E7BE0EEFAF}" srcOrd="1" destOrd="0" presId="urn:microsoft.com/office/officeart/2005/8/layout/vList2"/>
    <dgm:cxn modelId="{66EA0E4F-7324-4244-B972-C13BA76454B9}" type="presParOf" srcId="{746A6ECA-48E4-9E45-8578-AF829B63CA0C}" destId="{CF5A8B8B-DEFB-E740-81CA-4AD7AAF0AAF9}" srcOrd="2" destOrd="0" presId="urn:microsoft.com/office/officeart/2005/8/layout/vList2"/>
    <dgm:cxn modelId="{609589D4-8A34-A64F-A3CE-F2EAA3AA7082}" type="presParOf" srcId="{746A6ECA-48E4-9E45-8578-AF829B63CA0C}" destId="{90E0A6F3-3366-F447-ABB4-73D5B4A5C730}" srcOrd="3" destOrd="0" presId="urn:microsoft.com/office/officeart/2005/8/layout/vList2"/>
    <dgm:cxn modelId="{4F319E87-9EBD-F041-90BD-29240780ADEE}" type="presParOf" srcId="{746A6ECA-48E4-9E45-8578-AF829B63CA0C}" destId="{793D2875-7427-DB48-8DB3-CA46BFF185D3}" srcOrd="4" destOrd="0" presId="urn:microsoft.com/office/officeart/2005/8/layout/vList2"/>
    <dgm:cxn modelId="{D279FDCC-80B6-B54D-ADAB-6862DD27ADBD}" type="presParOf" srcId="{746A6ECA-48E4-9E45-8578-AF829B63CA0C}" destId="{F1EB58D8-21FF-624D-BA59-0B8390953F71}" srcOrd="5" destOrd="0" presId="urn:microsoft.com/office/officeart/2005/8/layout/vList2"/>
    <dgm:cxn modelId="{009C980D-D4D4-314A-91FD-E1530E975161}" type="presParOf" srcId="{746A6ECA-48E4-9E45-8578-AF829B63CA0C}" destId="{9FEAA38D-0E1F-4E47-B5A5-B5834DBA8E5F}" srcOrd="6" destOrd="0" presId="urn:microsoft.com/office/officeart/2005/8/layout/vList2"/>
    <dgm:cxn modelId="{A3E53E54-ACFD-9247-818D-B543E338BB8D}" type="presParOf" srcId="{746A6ECA-48E4-9E45-8578-AF829B63CA0C}" destId="{ACA172EC-B24D-EF47-9BED-3D884B5EC23D}" srcOrd="7" destOrd="0" presId="urn:microsoft.com/office/officeart/2005/8/layout/vList2"/>
    <dgm:cxn modelId="{76056C4E-D040-894C-92AC-0B1ECBFD22C1}" type="presParOf" srcId="{746A6ECA-48E4-9E45-8578-AF829B63CA0C}" destId="{C3BEE8ED-5622-8443-8726-5314A36904EC}" srcOrd="8" destOrd="0" presId="urn:microsoft.com/office/officeart/2005/8/layout/vList2"/>
    <dgm:cxn modelId="{8257E290-8F19-8B45-BF0E-9DFB694C55FF}" type="presParOf" srcId="{746A6ECA-48E4-9E45-8578-AF829B63CA0C}" destId="{512A6E07-1DEB-4D40-9E42-0E6323C9B991}" srcOrd="9" destOrd="0" presId="urn:microsoft.com/office/officeart/2005/8/layout/vList2"/>
    <dgm:cxn modelId="{F6427CC7-2A66-A640-80B9-C1630AC7F70C}" type="presParOf" srcId="{746A6ECA-48E4-9E45-8578-AF829B63CA0C}" destId="{C5ACDA04-9503-D741-9A98-A11F5B1C4290}" srcOrd="10" destOrd="0" presId="urn:microsoft.com/office/officeart/2005/8/layout/vList2"/>
    <dgm:cxn modelId="{787856D4-F7F3-BE45-84CD-BBDB00D2F968}" type="presParOf" srcId="{746A6ECA-48E4-9E45-8578-AF829B63CA0C}" destId="{1DB0C662-0C50-AF4E-9D19-8014AA129764}" srcOrd="11" destOrd="0" presId="urn:microsoft.com/office/officeart/2005/8/layout/vList2"/>
    <dgm:cxn modelId="{2ED5586B-CE13-394B-8855-807BEB89BD4B}" type="presParOf" srcId="{746A6ECA-48E4-9E45-8578-AF829B63CA0C}" destId="{0776297F-1ECD-134C-BCF0-208F2852E00A}" srcOrd="12" destOrd="0" presId="urn:microsoft.com/office/officeart/2005/8/layout/vList2"/>
    <dgm:cxn modelId="{C4F83B28-B89E-2444-A7B7-67227CB1E476}" type="presParOf" srcId="{746A6ECA-48E4-9E45-8578-AF829B63CA0C}" destId="{4ED4D29B-17C4-5F41-9C4F-9763F0A7DF4A}" srcOrd="13" destOrd="0" presId="urn:microsoft.com/office/officeart/2005/8/layout/vList2"/>
    <dgm:cxn modelId="{DAAA0EA2-6397-E244-865B-9030365C7A5B}" type="presParOf" srcId="{746A6ECA-48E4-9E45-8578-AF829B63CA0C}" destId="{E2EE7A55-3978-B04F-A3FE-9C9F056CBA11}" srcOrd="14" destOrd="0" presId="urn:microsoft.com/office/officeart/2005/8/layout/vList2"/>
    <dgm:cxn modelId="{F7019233-E3F3-9942-A47B-320B1459CF00}" type="presParOf" srcId="{746A6ECA-48E4-9E45-8578-AF829B63CA0C}" destId="{B5163028-441F-4641-AF38-78FD6EDACD76}" srcOrd="15" destOrd="0" presId="urn:microsoft.com/office/officeart/2005/8/layout/vList2"/>
    <dgm:cxn modelId="{F890EE04-532F-0049-85E1-BC471C726E41}" type="presParOf" srcId="{746A6ECA-48E4-9E45-8578-AF829B63CA0C}" destId="{591F456C-2256-9443-8F58-72257993E123}" srcOrd="16" destOrd="0" presId="urn:microsoft.com/office/officeart/2005/8/layout/vList2"/>
    <dgm:cxn modelId="{3E19C425-03F7-2340-8DF0-E4971C543918}" type="presParOf" srcId="{746A6ECA-48E4-9E45-8578-AF829B63CA0C}" destId="{A9801312-C063-7040-88DD-9B96B6748B4D}" srcOrd="17" destOrd="0" presId="urn:microsoft.com/office/officeart/2005/8/layout/vList2"/>
    <dgm:cxn modelId="{54DFCF9C-180F-5445-B1B6-17DF1293A60B}" type="presParOf" srcId="{746A6ECA-48E4-9E45-8578-AF829B63CA0C}" destId="{B8E735F0-D003-6942-B3ED-099C1D685E5D}" srcOrd="1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73EC69-5554-1946-A603-622FD2F24531}">
      <dsp:nvSpPr>
        <dsp:cNvPr id="0" name=""/>
        <dsp:cNvSpPr/>
      </dsp:nvSpPr>
      <dsp:spPr>
        <a:xfrm>
          <a:off x="0" y="406"/>
          <a:ext cx="8640960" cy="579765"/>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1. Computer security is not as simple as it might first appear to the novice</a:t>
          </a:r>
        </a:p>
      </dsp:txBody>
      <dsp:txXfrm>
        <a:off x="28302" y="28708"/>
        <a:ext cx="8584356" cy="523161"/>
      </dsp:txXfrm>
    </dsp:sp>
    <dsp:sp modelId="{CF5A8B8B-DEFB-E740-81CA-4AD7AAF0AAF9}">
      <dsp:nvSpPr>
        <dsp:cNvPr id="0" name=""/>
        <dsp:cNvSpPr/>
      </dsp:nvSpPr>
      <dsp:spPr>
        <a:xfrm>
          <a:off x="0" y="591970"/>
          <a:ext cx="8640960" cy="579765"/>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2. In developing a particular security mechanism or algorithm, one must always consider potential attacks on those security features</a:t>
          </a:r>
        </a:p>
      </dsp:txBody>
      <dsp:txXfrm>
        <a:off x="28302" y="620272"/>
        <a:ext cx="8584356" cy="523161"/>
      </dsp:txXfrm>
    </dsp:sp>
    <dsp:sp modelId="{793D2875-7427-DB48-8DB3-CA46BFF185D3}">
      <dsp:nvSpPr>
        <dsp:cNvPr id="0" name=""/>
        <dsp:cNvSpPr/>
      </dsp:nvSpPr>
      <dsp:spPr>
        <a:xfrm>
          <a:off x="0" y="1183534"/>
          <a:ext cx="8640960" cy="579765"/>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3. Procedures used to provide particular services are often counterintuitive</a:t>
          </a:r>
        </a:p>
      </dsp:txBody>
      <dsp:txXfrm>
        <a:off x="28302" y="1211836"/>
        <a:ext cx="8584356" cy="523161"/>
      </dsp:txXfrm>
    </dsp:sp>
    <dsp:sp modelId="{9FEAA38D-0E1F-4E47-B5A5-B5834DBA8E5F}">
      <dsp:nvSpPr>
        <dsp:cNvPr id="0" name=""/>
        <dsp:cNvSpPr/>
      </dsp:nvSpPr>
      <dsp:spPr>
        <a:xfrm>
          <a:off x="0" y="1775099"/>
          <a:ext cx="8640960" cy="579765"/>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4. Physical and logical placement needs to be determined</a:t>
          </a:r>
        </a:p>
      </dsp:txBody>
      <dsp:txXfrm>
        <a:off x="28302" y="1803401"/>
        <a:ext cx="8584356" cy="523161"/>
      </dsp:txXfrm>
    </dsp:sp>
    <dsp:sp modelId="{C3BEE8ED-5622-8443-8726-5314A36904EC}">
      <dsp:nvSpPr>
        <dsp:cNvPr id="0" name=""/>
        <dsp:cNvSpPr/>
      </dsp:nvSpPr>
      <dsp:spPr>
        <a:xfrm>
          <a:off x="0" y="2366663"/>
          <a:ext cx="8640960" cy="579765"/>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US" sz="1300" kern="1200" dirty="0"/>
            <a:t>5. Security mechanisms typically involve more than a particular algorithm or protocol and also require that participants be in possession of some secret information which raises questions about the creation, distribution, and protection of that secret information</a:t>
          </a:r>
        </a:p>
      </dsp:txBody>
      <dsp:txXfrm>
        <a:off x="28302" y="2394965"/>
        <a:ext cx="8584356" cy="523161"/>
      </dsp:txXfrm>
    </dsp:sp>
    <dsp:sp modelId="{C5ACDA04-9503-D741-9A98-A11F5B1C4290}">
      <dsp:nvSpPr>
        <dsp:cNvPr id="0" name=""/>
        <dsp:cNvSpPr/>
      </dsp:nvSpPr>
      <dsp:spPr>
        <a:xfrm>
          <a:off x="0" y="2958227"/>
          <a:ext cx="8640960" cy="579765"/>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6. Attackers only need to find a single weakness, while the designer must find and eliminate all weaknesses to achieve perfect security</a:t>
          </a:r>
        </a:p>
      </dsp:txBody>
      <dsp:txXfrm>
        <a:off x="28302" y="2986529"/>
        <a:ext cx="8584356" cy="523161"/>
      </dsp:txXfrm>
    </dsp:sp>
    <dsp:sp modelId="{0776297F-1ECD-134C-BCF0-208F2852E00A}">
      <dsp:nvSpPr>
        <dsp:cNvPr id="0" name=""/>
        <dsp:cNvSpPr/>
      </dsp:nvSpPr>
      <dsp:spPr>
        <a:xfrm>
          <a:off x="0" y="3549791"/>
          <a:ext cx="8640960" cy="579765"/>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7. Security is still too often an afterthought to be incorporated into a system after the design is complete, rather than being an integral part of the design process</a:t>
          </a:r>
        </a:p>
      </dsp:txBody>
      <dsp:txXfrm>
        <a:off x="28302" y="3578093"/>
        <a:ext cx="8584356" cy="523161"/>
      </dsp:txXfrm>
    </dsp:sp>
    <dsp:sp modelId="{E2EE7A55-3978-B04F-A3FE-9C9F056CBA11}">
      <dsp:nvSpPr>
        <dsp:cNvPr id="0" name=""/>
        <dsp:cNvSpPr/>
      </dsp:nvSpPr>
      <dsp:spPr>
        <a:xfrm>
          <a:off x="0" y="4141355"/>
          <a:ext cx="8640960" cy="579765"/>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8. Security requires regular and constant monitoring</a:t>
          </a:r>
        </a:p>
      </dsp:txBody>
      <dsp:txXfrm>
        <a:off x="28302" y="4169657"/>
        <a:ext cx="8584356" cy="523161"/>
      </dsp:txXfrm>
    </dsp:sp>
    <dsp:sp modelId="{591F456C-2256-9443-8F58-72257993E123}">
      <dsp:nvSpPr>
        <dsp:cNvPr id="0" name=""/>
        <dsp:cNvSpPr/>
      </dsp:nvSpPr>
      <dsp:spPr>
        <a:xfrm>
          <a:off x="0" y="4732919"/>
          <a:ext cx="8640960" cy="579765"/>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9. There is a natural tendency on the part of users and system managers to perceive little benefit from security investment until a security failure occurs</a:t>
          </a:r>
        </a:p>
      </dsp:txBody>
      <dsp:txXfrm>
        <a:off x="28302" y="4761221"/>
        <a:ext cx="8584356" cy="523161"/>
      </dsp:txXfrm>
    </dsp:sp>
    <dsp:sp modelId="{B8E735F0-D003-6942-B3ED-099C1D685E5D}">
      <dsp:nvSpPr>
        <dsp:cNvPr id="0" name=""/>
        <dsp:cNvSpPr/>
      </dsp:nvSpPr>
      <dsp:spPr>
        <a:xfrm>
          <a:off x="0" y="5324483"/>
          <a:ext cx="8640960" cy="579765"/>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t>10. Many users and even security administrators view strong security as an impediment to efficient and user-friendly operation of an information system or use of information</a:t>
          </a:r>
        </a:p>
      </dsp:txBody>
      <dsp:txXfrm>
        <a:off x="28302" y="5352785"/>
        <a:ext cx="8584356" cy="52316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Arial" charset="0"/>
              </a:defRPr>
            </a:lvl1pPr>
          </a:lstStyle>
          <a:p>
            <a:pPr>
              <a:defRPr/>
            </a:pPr>
            <a:endParaRPr lang="en-US"/>
          </a:p>
        </p:txBody>
      </p:sp>
      <p:sp>
        <p:nvSpPr>
          <p:cNvPr id="819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defRPr>
            </a:lvl1pPr>
          </a:lstStyle>
          <a:p>
            <a:pPr>
              <a:defRPr/>
            </a:pPr>
            <a:endParaRPr lang="en-US"/>
          </a:p>
        </p:txBody>
      </p:sp>
      <p:sp>
        <p:nvSpPr>
          <p:cNvPr id="307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819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Arial" charset="0"/>
              </a:defRPr>
            </a:lvl1pPr>
          </a:lstStyle>
          <a:p>
            <a:pPr>
              <a:defRPr/>
            </a:pPr>
            <a:endParaRPr lang="en-US"/>
          </a:p>
        </p:txBody>
      </p:sp>
      <p:sp>
        <p:nvSpPr>
          <p:cNvPr id="819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charset="0"/>
              </a:defRPr>
            </a:lvl1pPr>
          </a:lstStyle>
          <a:p>
            <a:pPr>
              <a:defRPr/>
            </a:pPr>
            <a:fld id="{26D4D28E-1551-41D0-8B78-C10CA7836A95}" type="slidenum">
              <a:rPr lang="en-US"/>
              <a:pPr>
                <a:defRPr/>
              </a:pPr>
              <a:t>‹#›</a:t>
            </a:fld>
            <a:endParaRPr lang="en-US"/>
          </a:p>
        </p:txBody>
      </p:sp>
    </p:spTree>
    <p:extLst>
      <p:ext uri="{BB962C8B-B14F-4D97-AF65-F5344CB8AC3E}">
        <p14:creationId xmlns:p14="http://schemas.microsoft.com/office/powerpoint/2010/main" val="29647789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ar-SY" sz="1200" b="0" i="0" u="none" strike="noStrike" kern="1200" baseline="0" dirty="0">
              <a:solidFill>
                <a:schemeClr val="tx1"/>
              </a:solidFill>
              <a:latin typeface="Arial" charset="0"/>
              <a:ea typeface="+mn-ea"/>
              <a:cs typeface="Arial" charset="0"/>
            </a:endParaRPr>
          </a:p>
          <a:p>
            <a:r>
              <a:rPr lang="en-US" sz="1200" b="0" i="0" u="none" strike="noStrike" kern="1200" baseline="0" dirty="0">
                <a:solidFill>
                  <a:schemeClr val="tx1"/>
                </a:solidFill>
                <a:latin typeface="Arial" charset="0"/>
                <a:ea typeface="+mn-ea"/>
                <a:cs typeface="Arial" charset="0"/>
              </a:rPr>
              <a:t> </a:t>
            </a:r>
            <a:r>
              <a:rPr lang="en-US" sz="1200" b="1" i="0" u="none" strike="noStrike" kern="1200" baseline="0" dirty="0">
                <a:solidFill>
                  <a:schemeClr val="tx1"/>
                </a:solidFill>
                <a:latin typeface="Arial" charset="0"/>
                <a:ea typeface="+mn-ea"/>
                <a:cs typeface="Arial" charset="0"/>
              </a:rPr>
              <a:t>ISO/IEC 27000: 2018 </a:t>
            </a:r>
            <a:endParaRPr lang="ar-SY" sz="1200" b="0" i="0" u="none" strike="noStrike" kern="1200" baseline="0" dirty="0">
              <a:solidFill>
                <a:schemeClr val="tx1"/>
              </a:solidFill>
              <a:latin typeface="Arial" charset="0"/>
              <a:ea typeface="+mn-ea"/>
              <a:cs typeface="Arial" charset="0"/>
            </a:endParaRPr>
          </a:p>
          <a:p>
            <a:r>
              <a:rPr lang="en-US" sz="1200" b="0" i="0" u="none" strike="noStrike" kern="1200" baseline="0" dirty="0">
                <a:solidFill>
                  <a:schemeClr val="tx1"/>
                </a:solidFill>
                <a:latin typeface="Arial" charset="0"/>
                <a:ea typeface="+mn-ea"/>
                <a:cs typeface="Arial" charset="0"/>
              </a:rPr>
              <a:t> </a:t>
            </a:r>
            <a:r>
              <a:rPr lang="en-US" sz="1200" b="1" i="0" u="none" strike="noStrike" kern="1200" baseline="0" dirty="0">
                <a:solidFill>
                  <a:schemeClr val="tx1"/>
                </a:solidFill>
                <a:latin typeface="Arial" charset="0"/>
                <a:ea typeface="+mn-ea"/>
                <a:cs typeface="Arial" charset="0"/>
              </a:rPr>
              <a:t>Information technology — Security techniques — Information security management systems — Overview and vocabulary</a:t>
            </a:r>
            <a:endParaRPr lang="ar-SY" dirty="0"/>
          </a:p>
        </p:txBody>
      </p:sp>
      <p:sp>
        <p:nvSpPr>
          <p:cNvPr id="4" name="Slide Number Placeholder 3"/>
          <p:cNvSpPr>
            <a:spLocks noGrp="1"/>
          </p:cNvSpPr>
          <p:nvPr>
            <p:ph type="sldNum" sz="quarter" idx="10"/>
          </p:nvPr>
        </p:nvSpPr>
        <p:spPr/>
        <p:txBody>
          <a:bodyPr/>
          <a:lstStyle/>
          <a:p>
            <a:pPr>
              <a:defRPr/>
            </a:pPr>
            <a:fld id="{26D4D28E-1551-41D0-8B78-C10CA7836A95}" type="slidenum">
              <a:rPr lang="en-US" smtClean="0"/>
              <a:pPr>
                <a:defRPr/>
              </a:pPr>
              <a:t>1</a:t>
            </a:fld>
            <a:endParaRPr lang="en-US"/>
          </a:p>
        </p:txBody>
      </p:sp>
    </p:spTree>
    <p:extLst>
      <p:ext uri="{BB962C8B-B14F-4D97-AF65-F5344CB8AC3E}">
        <p14:creationId xmlns:p14="http://schemas.microsoft.com/office/powerpoint/2010/main" val="2463057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8380588E-B01B-4A1A-931E-319A6281456E}" type="slidenum">
              <a:rPr lang="en-US" smtClean="0"/>
              <a:pPr/>
              <a:t>2</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32284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C206DB8E-458E-48AC-B8B1-6AFB05B167D8}" type="slidenum">
              <a:rPr lang="en-US" smtClean="0"/>
              <a:pPr>
                <a:defRPr/>
              </a:pPr>
              <a:t>3</a:t>
            </a:fld>
            <a:endParaRPr lang="en-US"/>
          </a:p>
        </p:txBody>
      </p:sp>
    </p:spTree>
    <p:extLst>
      <p:ext uri="{BB962C8B-B14F-4D97-AF65-F5344CB8AC3E}">
        <p14:creationId xmlns:p14="http://schemas.microsoft.com/office/powerpoint/2010/main" val="76755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C206DB8E-458E-48AC-B8B1-6AFB05B167D8}" type="slidenum">
              <a:rPr lang="en-US" smtClean="0"/>
              <a:pPr>
                <a:defRPr/>
              </a:pPr>
              <a:t>4</a:t>
            </a:fld>
            <a:endParaRPr lang="en-US"/>
          </a:p>
        </p:txBody>
      </p:sp>
    </p:spTree>
    <p:extLst>
      <p:ext uri="{BB962C8B-B14F-4D97-AF65-F5344CB8AC3E}">
        <p14:creationId xmlns:p14="http://schemas.microsoft.com/office/powerpoint/2010/main" val="226805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8380588E-B01B-4A1A-931E-319A6281456E}" type="slidenum">
              <a:rPr lang="en-US" smtClean="0"/>
              <a:pPr/>
              <a:t>6</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96909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charset="0"/>
                <a:ea typeface="+mn-ea"/>
                <a:cs typeface="Arial" charset="0"/>
              </a:rPr>
              <a:t>According to ISO 27000,</a:t>
            </a:r>
          </a:p>
          <a:p>
            <a:r>
              <a:rPr lang="en-US" dirty="0"/>
              <a:t>An </a:t>
            </a:r>
            <a:r>
              <a:rPr lang="en-US" b="1" dirty="0"/>
              <a:t>information system</a:t>
            </a:r>
            <a:r>
              <a:rPr lang="en-US" b="0" dirty="0"/>
              <a:t> </a:t>
            </a:r>
            <a:r>
              <a:rPr lang="en-US" sz="1800" b="0" i="0" u="none" strike="noStrike" baseline="0" dirty="0">
                <a:solidFill>
                  <a:srgbClr val="211D1E"/>
                </a:solidFill>
                <a:latin typeface="Cambria" panose="02040503050406030204" pitchFamily="18" charset="0"/>
              </a:rPr>
              <a:t>set of applications, services, information technology assets, or other information-handling components</a:t>
            </a:r>
            <a:r>
              <a:rPr lang="en-US" dirty="0"/>
              <a:t>. </a:t>
            </a:r>
            <a:r>
              <a:rPr lang="en-US" b="1" dirty="0">
                <a:solidFill>
                  <a:schemeClr val="accent1">
                    <a:lumMod val="60000"/>
                    <a:lumOff val="40000"/>
                  </a:schemeClr>
                </a:solidFill>
              </a:rPr>
              <a:t>Information systems </a:t>
            </a:r>
            <a:r>
              <a:rPr lang="en-US" b="0" dirty="0">
                <a:solidFill>
                  <a:schemeClr val="accent1">
                    <a:lumMod val="60000"/>
                    <a:lumOff val="40000"/>
                  </a:schemeClr>
                </a:solidFill>
              </a:rPr>
              <a:t>include</a:t>
            </a:r>
            <a:r>
              <a:rPr lang="en-US" b="1" dirty="0">
                <a:solidFill>
                  <a:schemeClr val="accent1">
                    <a:lumMod val="60000"/>
                    <a:lumOff val="40000"/>
                  </a:schemeClr>
                </a:solidFill>
              </a:rPr>
              <a:t> </a:t>
            </a:r>
            <a:r>
              <a:rPr lang="en-US" b="0" dirty="0">
                <a:solidFill>
                  <a:schemeClr val="accent1">
                    <a:lumMod val="60000"/>
                    <a:lumOff val="40000"/>
                  </a:schemeClr>
                </a:solidFill>
              </a:rPr>
              <a:t>servers, </a:t>
            </a:r>
            <a:r>
              <a:rPr lang="en-US" dirty="0">
                <a:solidFill>
                  <a:srgbClr val="FFFF00"/>
                </a:solidFill>
              </a:rPr>
              <a:t>PCs, routers, switches, applications, services, OSes, …</a:t>
            </a:r>
            <a:endParaRPr lang="en-US" b="1" i="1" dirty="0">
              <a:solidFill>
                <a:schemeClr val="accent1"/>
              </a:solidFill>
              <a:cs typeface="Tahoma"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kern="1200" dirty="0">
              <a:solidFill>
                <a:schemeClr val="tx1"/>
              </a:solidFill>
              <a:effectLst/>
              <a:latin typeface="Arial" charset="0"/>
              <a:ea typeface="+mn-ea"/>
              <a:cs typeface="Arial" charset="0"/>
            </a:endParaRPr>
          </a:p>
          <a:p>
            <a:r>
              <a:rPr lang="en-US" sz="1200" b="0" i="0" u="none" strike="noStrike" kern="1200" baseline="0" dirty="0">
                <a:solidFill>
                  <a:schemeClr val="tx1"/>
                </a:solidFill>
                <a:latin typeface="Arial" pitchFamily="-107" charset="0"/>
                <a:ea typeface="+mn-ea"/>
                <a:cs typeface="Arial" charset="0"/>
              </a:rPr>
              <a:t> The </a:t>
            </a:r>
            <a:r>
              <a:rPr lang="en-US" sz="1200" b="0" i="0" u="sng" strike="noStrike" kern="1200" baseline="0" dirty="0">
                <a:solidFill>
                  <a:schemeClr val="tx1"/>
                </a:solidFill>
                <a:latin typeface="Arial" pitchFamily="-107" charset="0"/>
                <a:ea typeface="+mn-ea"/>
                <a:cs typeface="Arial" charset="0"/>
              </a:rPr>
              <a:t>assets</a:t>
            </a:r>
            <a:r>
              <a:rPr lang="en-US" sz="1200" b="0" i="0" u="none" strike="noStrike" kern="1200" baseline="0" dirty="0">
                <a:solidFill>
                  <a:schemeClr val="tx1"/>
                </a:solidFill>
                <a:latin typeface="Arial" pitchFamily="-107" charset="0"/>
                <a:ea typeface="+mn-ea"/>
                <a:cs typeface="Arial" charset="0"/>
              </a:rPr>
              <a:t> (what is important and need protection) of a computer system can be categorized as follows:</a:t>
            </a:r>
          </a:p>
          <a:p>
            <a:endParaRPr lang="en-US" sz="1200" b="0" i="0" u="none" strike="noStrike" kern="1200" baseline="0" dirty="0">
              <a:solidFill>
                <a:schemeClr val="tx1"/>
              </a:solidFill>
              <a:latin typeface="Arial" pitchFamily="-107" charset="0"/>
              <a:ea typeface="+mn-ea"/>
              <a:cs typeface="Arial" charset="0"/>
            </a:endParaRPr>
          </a:p>
          <a:p>
            <a:r>
              <a:rPr lang="en-US" sz="1200" b="0" i="0" u="none" strike="noStrike" kern="1200" baseline="0" dirty="0">
                <a:solidFill>
                  <a:schemeClr val="tx1"/>
                </a:solidFill>
                <a:latin typeface="Arial" pitchFamily="-107" charset="0"/>
                <a:ea typeface="+mn-ea"/>
                <a:cs typeface="Arial" charset="0"/>
              </a:rPr>
              <a:t>• Hardware:  Including computer systems and other data processing, data storage,</a:t>
            </a:r>
          </a:p>
          <a:p>
            <a:r>
              <a:rPr lang="en-US" sz="1200" b="0" i="0" u="none" strike="noStrike" kern="1200" baseline="0" dirty="0">
                <a:solidFill>
                  <a:schemeClr val="tx1"/>
                </a:solidFill>
                <a:latin typeface="Arial" pitchFamily="-107" charset="0"/>
                <a:ea typeface="+mn-ea"/>
                <a:cs typeface="Arial" charset="0"/>
              </a:rPr>
              <a:t>and data communications devices</a:t>
            </a:r>
          </a:p>
          <a:p>
            <a:endParaRPr lang="en-US" sz="1200" b="0" i="0" u="none" strike="noStrike" kern="1200" baseline="0" dirty="0">
              <a:solidFill>
                <a:schemeClr val="tx1"/>
              </a:solidFill>
              <a:latin typeface="Arial" pitchFamily="-107" charset="0"/>
              <a:ea typeface="+mn-ea"/>
              <a:cs typeface="Arial" charset="0"/>
            </a:endParaRPr>
          </a:p>
          <a:p>
            <a:r>
              <a:rPr lang="en-US" sz="1200" b="0" i="0" u="none" strike="noStrike" kern="1200" baseline="0" dirty="0">
                <a:solidFill>
                  <a:schemeClr val="tx1"/>
                </a:solidFill>
                <a:latin typeface="Arial" pitchFamily="-107" charset="0"/>
                <a:ea typeface="+mn-ea"/>
                <a:cs typeface="Arial" charset="0"/>
              </a:rPr>
              <a:t>• Software:  Including the operating system, system utilities, and applications.</a:t>
            </a:r>
          </a:p>
          <a:p>
            <a:endParaRPr lang="en-US" sz="1200" b="0" i="0" u="none" strike="noStrike" kern="1200" baseline="0" dirty="0">
              <a:solidFill>
                <a:schemeClr val="tx1"/>
              </a:solidFill>
              <a:latin typeface="Arial" pitchFamily="-107" charset="0"/>
              <a:ea typeface="+mn-ea"/>
              <a:cs typeface="Arial" charset="0"/>
            </a:endParaRPr>
          </a:p>
          <a:p>
            <a:r>
              <a:rPr lang="en-US" sz="1200" b="0" i="0" u="none" strike="noStrike" kern="1200" baseline="0" dirty="0">
                <a:solidFill>
                  <a:schemeClr val="tx1"/>
                </a:solidFill>
                <a:latin typeface="Arial" pitchFamily="-107" charset="0"/>
                <a:ea typeface="+mn-ea"/>
                <a:cs typeface="Arial" charset="0"/>
              </a:rPr>
              <a:t>• Data:  Including files and databases, as well as security-related data, such as</a:t>
            </a:r>
          </a:p>
          <a:p>
            <a:r>
              <a:rPr lang="en-US" sz="1200" b="0" i="0" u="none" strike="noStrike" kern="1200" baseline="0" dirty="0">
                <a:solidFill>
                  <a:schemeClr val="tx1"/>
                </a:solidFill>
                <a:latin typeface="Arial" pitchFamily="-107" charset="0"/>
                <a:ea typeface="+mn-ea"/>
                <a:cs typeface="Arial" charset="0"/>
              </a:rPr>
              <a:t>password files.</a:t>
            </a:r>
          </a:p>
          <a:p>
            <a:endParaRPr lang="en-US" sz="1200" b="0" i="0" u="none" strike="noStrike" kern="1200" baseline="0" dirty="0">
              <a:solidFill>
                <a:schemeClr val="tx1"/>
              </a:solidFill>
              <a:latin typeface="Arial" pitchFamily="-107" charset="0"/>
              <a:ea typeface="+mn-ea"/>
              <a:cs typeface="Arial" charset="0"/>
            </a:endParaRPr>
          </a:p>
          <a:p>
            <a:r>
              <a:rPr lang="en-US" sz="1200" b="0" i="0" u="none" strike="noStrike" kern="1200" baseline="0" dirty="0">
                <a:solidFill>
                  <a:schemeClr val="tx1"/>
                </a:solidFill>
                <a:latin typeface="Arial" pitchFamily="-107" charset="0"/>
                <a:ea typeface="+mn-ea"/>
                <a:cs typeface="Arial" charset="0"/>
              </a:rPr>
              <a:t>• Communication facilities and networks:  Local and wide area network</a:t>
            </a:r>
          </a:p>
          <a:p>
            <a:r>
              <a:rPr lang="en-US" sz="1200" b="0" i="0" u="none" strike="noStrike" kern="1200" baseline="0" dirty="0">
                <a:solidFill>
                  <a:schemeClr val="tx1"/>
                </a:solidFill>
                <a:latin typeface="Arial" pitchFamily="-107" charset="0"/>
                <a:ea typeface="+mn-ea"/>
                <a:cs typeface="Arial" charset="0"/>
              </a:rPr>
              <a:t>communication links, bridges, routers, and so on.</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26D4D28E-1551-41D0-8B78-C10CA7836A95}" type="slidenum">
              <a:rPr lang="en-US" smtClean="0"/>
              <a:pPr>
                <a:defRPr/>
              </a:pPr>
              <a:t>7</a:t>
            </a:fld>
            <a:endParaRPr lang="en-US"/>
          </a:p>
        </p:txBody>
      </p:sp>
    </p:spTree>
    <p:extLst>
      <p:ext uri="{BB962C8B-B14F-4D97-AF65-F5344CB8AC3E}">
        <p14:creationId xmlns:p14="http://schemas.microsoft.com/office/powerpoint/2010/main" val="858905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F6645-CF48-7A4F-9974-26C36EDBC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D94F8-879D-E3F6-BECB-73E23849C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F7D6E-90D7-B9A4-5AF4-92D35647B4C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kern="1200" dirty="0">
              <a:solidFill>
                <a:schemeClr val="tx1"/>
              </a:solidFill>
              <a:effectLst/>
              <a:latin typeface="Arial" charset="0"/>
              <a:ea typeface="+mn-ea"/>
              <a:cs typeface="Arial"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According to NIST,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Information Systems Security </a:t>
            </a:r>
            <a:r>
              <a:rPr lang="en-US" b="0" dirty="0"/>
              <a:t>is the </a:t>
            </a:r>
            <a:r>
              <a:rPr lang="en-US" dirty="0"/>
              <a:t>protection of information systems against unauthorized access to or modification of information, whether in storage, processing or transit, and against the denial of service to authorized users, including those measures necessary to detect, document, and counter such threats</a:t>
            </a:r>
            <a:endParaRPr lang="en-US" sz="1200" b="0" i="0" kern="1200" dirty="0">
              <a:solidFill>
                <a:schemeClr val="tx1"/>
              </a:solidFill>
              <a:effectLst/>
              <a:latin typeface="Arial" charset="0"/>
              <a:ea typeface="+mn-ea"/>
              <a:cs typeface="Arial"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kern="1200" dirty="0">
              <a:solidFill>
                <a:schemeClr val="tx1"/>
              </a:solidFill>
              <a:effectLst/>
              <a:latin typeface="Arial" charset="0"/>
              <a:ea typeface="+mn-ea"/>
              <a:cs typeface="Arial"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kern="1200" dirty="0">
              <a:solidFill>
                <a:schemeClr val="tx1"/>
              </a:solidFill>
              <a:effectLst/>
              <a:latin typeface="Arial" charset="0"/>
              <a:ea typeface="+mn-ea"/>
              <a:cs typeface="Arial"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charset="0"/>
                <a:ea typeface="+mn-ea"/>
                <a:cs typeface="Arial" charset="0"/>
              </a:rPr>
              <a:t> ISS refers to the processes and methodologies involved with keeping </a:t>
            </a:r>
            <a:r>
              <a:rPr lang="en-US" sz="1200" b="1" i="0" kern="1200" dirty="0">
                <a:solidFill>
                  <a:schemeClr val="tx1"/>
                </a:solidFill>
                <a:effectLst/>
                <a:latin typeface="Arial" charset="0"/>
                <a:ea typeface="+mn-ea"/>
                <a:cs typeface="Arial" charset="0"/>
              </a:rPr>
              <a:t>information</a:t>
            </a:r>
            <a:r>
              <a:rPr lang="en-US" sz="1200" b="0" i="0" kern="1200" dirty="0">
                <a:solidFill>
                  <a:schemeClr val="tx1"/>
                </a:solidFill>
                <a:effectLst/>
                <a:latin typeface="Arial" charset="0"/>
                <a:ea typeface="+mn-ea"/>
                <a:cs typeface="Arial" charset="0"/>
              </a:rPr>
              <a:t> confidential, available, and assuring its integrity.</a:t>
            </a:r>
            <a:endParaRPr lang="en-US" dirty="0"/>
          </a:p>
          <a:p>
            <a:endParaRPr lang="en-US" dirty="0"/>
          </a:p>
        </p:txBody>
      </p:sp>
      <p:sp>
        <p:nvSpPr>
          <p:cNvPr id="4" name="Slide Number Placeholder 3">
            <a:extLst>
              <a:ext uri="{FF2B5EF4-FFF2-40B4-BE49-F238E27FC236}">
                <a16:creationId xmlns:a16="http://schemas.microsoft.com/office/drawing/2014/main" id="{0F50EE32-412E-E861-EA39-1F41F938DBB5}"/>
              </a:ext>
            </a:extLst>
          </p:cNvPr>
          <p:cNvSpPr>
            <a:spLocks noGrp="1"/>
          </p:cNvSpPr>
          <p:nvPr>
            <p:ph type="sldNum" sz="quarter" idx="10"/>
          </p:nvPr>
        </p:nvSpPr>
        <p:spPr/>
        <p:txBody>
          <a:bodyPr/>
          <a:lstStyle/>
          <a:p>
            <a:pPr>
              <a:defRPr/>
            </a:pPr>
            <a:fld id="{26D4D28E-1551-41D0-8B78-C10CA7836A95}" type="slidenum">
              <a:rPr lang="en-US" smtClean="0"/>
              <a:pPr>
                <a:defRPr/>
              </a:pPr>
              <a:t>8</a:t>
            </a:fld>
            <a:endParaRPr lang="en-US"/>
          </a:p>
        </p:txBody>
      </p:sp>
    </p:spTree>
    <p:extLst>
      <p:ext uri="{BB962C8B-B14F-4D97-AF65-F5344CB8AC3E}">
        <p14:creationId xmlns:p14="http://schemas.microsoft.com/office/powerpoint/2010/main" val="3051544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9FD2464E-0292-4D35-BB6F-3C966F9512B0}" type="slidenum">
              <a:rPr lang="en-US" smtClean="0"/>
              <a:pPr/>
              <a:t>9</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charset="0"/>
                <a:ea typeface="+mn-ea"/>
                <a:cs typeface="Arial" charset="0"/>
              </a:rPr>
              <a:t>ISS</a:t>
            </a:r>
            <a:r>
              <a:rPr lang="en-US" sz="1200" b="0" i="0" u="none" strike="noStrike" kern="1200" baseline="0" dirty="0">
                <a:solidFill>
                  <a:schemeClr val="tx1"/>
                </a:solidFill>
                <a:latin typeface="Arial" charset="0"/>
                <a:ea typeface="+mn-ea"/>
                <a:cs typeface="Arial" charset="0"/>
              </a:rPr>
              <a:t> is</a:t>
            </a:r>
            <a:r>
              <a:rPr lang="en-US" sz="1200" b="1" i="0" u="none" strike="noStrike" kern="1200" baseline="0" dirty="0">
                <a:solidFill>
                  <a:schemeClr val="tx1"/>
                </a:solidFill>
                <a:latin typeface="Arial" charset="0"/>
                <a:ea typeface="+mn-ea"/>
                <a:cs typeface="Arial" charset="0"/>
              </a:rPr>
              <a:t> </a:t>
            </a:r>
            <a:r>
              <a:rPr lang="en-US" sz="1200" dirty="0">
                <a:cs typeface="Tahoma" pitchFamily="34" charset="0"/>
              </a:rPr>
              <a:t>part of Information security.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kern="1200" dirty="0">
              <a:solidFill>
                <a:schemeClr val="tx1"/>
              </a:solidFill>
              <a:effectLst/>
              <a:latin typeface="Arial" charset="0"/>
              <a:ea typeface="+mn-ea"/>
              <a:cs typeface="Tahoma" pitchFamily="34" charset="0"/>
            </a:endParaRPr>
          </a:p>
          <a:p>
            <a:pPr algn="l"/>
            <a:r>
              <a:rPr lang="en-US" sz="1200" b="0" i="0" kern="1200" dirty="0">
                <a:solidFill>
                  <a:schemeClr val="tx1"/>
                </a:solidFill>
                <a:effectLst/>
                <a:latin typeface="Arial" charset="0"/>
                <a:ea typeface="+mn-ea"/>
                <a:cs typeface="Tahoma" pitchFamily="34" charset="0"/>
              </a:rPr>
              <a:t>According to NIST, </a:t>
            </a:r>
          </a:p>
          <a:p>
            <a:pPr algn="l"/>
            <a:r>
              <a:rPr lang="en-US" sz="1800" b="1" i="0" u="none" strike="noStrike" baseline="0" dirty="0">
                <a:latin typeface="TimesTenLTStd-Bold"/>
              </a:rPr>
              <a:t>Computer Security: </a:t>
            </a:r>
            <a:r>
              <a:rPr lang="en-US" sz="1800" b="0" i="0" u="none" strike="noStrike" baseline="0" dirty="0">
                <a:latin typeface="TimesTenLTStd-Roman"/>
              </a:rPr>
              <a:t>Measures and controls that ensure confidentiality, integrity, and availability of information system assets including hardware, software, firmware, and information being processed, stored, and communicated.</a:t>
            </a:r>
            <a:r>
              <a:rPr lang="en-US" sz="1200" b="0" i="0" kern="1200" dirty="0">
                <a:solidFill>
                  <a:schemeClr val="tx1"/>
                </a:solidFill>
                <a:effectLst/>
                <a:latin typeface="Arial" charset="0"/>
                <a:ea typeface="+mn-ea"/>
                <a:cs typeface="Tahoma" pitchFamily="34" charset="0"/>
              </a:rPr>
              <a:t>  </a:t>
            </a:r>
          </a:p>
          <a:p>
            <a:pPr algn="l"/>
            <a:endParaRPr lang="en-US" sz="1200" b="0" i="0" kern="1200" dirty="0">
              <a:solidFill>
                <a:schemeClr val="tx1"/>
              </a:solidFill>
              <a:effectLst/>
              <a:latin typeface="Arial" charset="0"/>
              <a:ea typeface="+mn-ea"/>
              <a:cs typeface="Tahoma"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charset="0"/>
                <a:ea typeface="+mn-ea"/>
                <a:cs typeface="Tahoma" pitchFamily="34" charset="0"/>
              </a:rPr>
              <a:t>In  this context Computer security = ISS</a:t>
            </a:r>
            <a:endParaRPr lang="en-US" sz="1200" b="0" i="0" kern="1200" dirty="0">
              <a:solidFill>
                <a:schemeClr val="tx1"/>
              </a:solidFill>
              <a:effectLst/>
              <a:latin typeface="Arial" charset="0"/>
              <a:ea typeface="+mn-ea"/>
              <a:cs typeface="Arial" charset="0"/>
            </a:endParaRPr>
          </a:p>
          <a:p>
            <a:pPr eaLnBrk="1" hangingPunct="1"/>
            <a:endParaRPr lang="en-US" sz="1200" b="0" i="0" kern="1200" dirty="0">
              <a:solidFill>
                <a:schemeClr val="tx1"/>
              </a:solidFill>
              <a:effectLst/>
              <a:latin typeface="Arial" charset="0"/>
              <a:ea typeface="+mn-ea"/>
              <a:cs typeface="Arial" charset="0"/>
            </a:endParaRPr>
          </a:p>
          <a:p>
            <a:endParaRPr lang="en-US" dirty="0"/>
          </a:p>
        </p:txBody>
      </p:sp>
    </p:spTree>
    <p:extLst>
      <p:ext uri="{BB962C8B-B14F-4D97-AF65-F5344CB8AC3E}">
        <p14:creationId xmlns:p14="http://schemas.microsoft.com/office/powerpoint/2010/main" val="2789279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9FD2464E-0292-4D35-BB6F-3C966F9512B0}" type="slidenum">
              <a:rPr lang="en-US" smtClean="0"/>
              <a:pPr/>
              <a:t>10</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en-US" sz="1200" b="0" i="0" kern="1200" dirty="0">
                <a:solidFill>
                  <a:schemeClr val="tx1"/>
                </a:solidFill>
                <a:effectLst/>
                <a:latin typeface="Arial" charset="0"/>
                <a:ea typeface="+mn-ea"/>
                <a:cs typeface="Arial" charset="0"/>
              </a:rPr>
              <a:t>According to ISO 27000</a:t>
            </a:r>
          </a:p>
          <a:p>
            <a:pPr eaLnBrk="1" hangingPunct="1">
              <a:defRPr/>
            </a:pPr>
            <a:r>
              <a:rPr lang="en-US" b="1" dirty="0">
                <a:solidFill>
                  <a:schemeClr val="accent1"/>
                </a:solidFill>
                <a:cs typeface="Tahoma" pitchFamily="34" charset="0"/>
              </a:rPr>
              <a:t>Information security: </a:t>
            </a:r>
            <a:r>
              <a:rPr lang="en-US" dirty="0">
                <a:solidFill>
                  <a:srgbClr val="FFFF00"/>
                </a:solidFill>
                <a:cs typeface="Tahoma" pitchFamily="34" charset="0"/>
              </a:rPr>
              <a:t>preservation of confidentiality, integrity and availability of information</a:t>
            </a:r>
          </a:p>
          <a:p>
            <a:pPr eaLnBrk="1" hangingPunct="1">
              <a:defRPr/>
            </a:pPr>
            <a:r>
              <a:rPr lang="en-US" dirty="0">
                <a:solidFill>
                  <a:srgbClr val="FFFF00"/>
                </a:solidFill>
                <a:cs typeface="Tahoma" pitchFamily="34" charset="0"/>
              </a:rPr>
              <a:t>It also </a:t>
            </a:r>
            <a:r>
              <a:rPr lang="en-US" dirty="0">
                <a:solidFill>
                  <a:schemeClr val="accent1">
                    <a:lumMod val="60000"/>
                    <a:lumOff val="40000"/>
                  </a:schemeClr>
                </a:solidFill>
              </a:rPr>
              <a:t>preservation of authenticity, accountability, non-repudiation, and reliability</a:t>
            </a:r>
            <a:endParaRPr lang="en-US" dirty="0">
              <a:solidFill>
                <a:srgbClr val="FFFF00"/>
              </a:solidFill>
              <a:cs typeface="Tahoma" pitchFamily="34" charset="0"/>
            </a:endParaRPr>
          </a:p>
          <a:p>
            <a:pPr eaLnBrk="1" hangingPunct="1"/>
            <a:endParaRPr lang="en-US" sz="1200" b="0" i="0" kern="1200" dirty="0">
              <a:solidFill>
                <a:schemeClr val="tx1"/>
              </a:solidFill>
              <a:effectLst/>
              <a:latin typeface="Arial" charset="0"/>
              <a:ea typeface="+mn-ea"/>
              <a:cs typeface="Arial" charset="0"/>
            </a:endParaRPr>
          </a:p>
          <a:p>
            <a:r>
              <a:rPr lang="en-US" sz="1200" b="1" i="0" u="none" strike="noStrike" kern="1200" baseline="0" dirty="0">
                <a:solidFill>
                  <a:schemeClr val="tx1"/>
                </a:solidFill>
                <a:latin typeface="Arial" charset="0"/>
                <a:ea typeface="+mn-ea"/>
                <a:cs typeface="Arial" charset="0"/>
              </a:rPr>
              <a:t>Confidentiality: </a:t>
            </a:r>
            <a:r>
              <a:rPr lang="en-US" sz="1200" b="0" i="0" u="none" strike="noStrike" kern="1200" baseline="0" dirty="0">
                <a:solidFill>
                  <a:schemeClr val="tx1"/>
                </a:solidFill>
                <a:latin typeface="Arial" charset="0"/>
                <a:ea typeface="+mn-ea"/>
                <a:cs typeface="Arial" charset="0"/>
              </a:rPr>
              <a:t>property that information is not made available or disclosed to unauthorized individuals, entities, or </a:t>
            </a:r>
            <a:r>
              <a:rPr lang="en-US" sz="1200" b="0" i="1" u="none" strike="noStrike" kern="1200" baseline="0" dirty="0">
                <a:solidFill>
                  <a:schemeClr val="tx1"/>
                </a:solidFill>
                <a:latin typeface="Arial" charset="0"/>
                <a:ea typeface="+mn-ea"/>
                <a:cs typeface="Arial" charset="0"/>
              </a:rPr>
              <a:t>processes.</a:t>
            </a:r>
          </a:p>
          <a:p>
            <a:r>
              <a:rPr lang="en-US" sz="1200" b="1" i="0" u="none" strike="noStrike" kern="1200" baseline="0" dirty="0">
                <a:solidFill>
                  <a:schemeClr val="tx1"/>
                </a:solidFill>
                <a:latin typeface="Arial" charset="0"/>
                <a:ea typeface="+mn-ea"/>
                <a:cs typeface="Arial" charset="0"/>
              </a:rPr>
              <a:t>Integrity: </a:t>
            </a:r>
            <a:r>
              <a:rPr lang="en-US" sz="1200" b="0" i="0" u="none" strike="noStrike" kern="1200" baseline="0" dirty="0">
                <a:solidFill>
                  <a:schemeClr val="tx1"/>
                </a:solidFill>
                <a:latin typeface="Arial" charset="0"/>
                <a:ea typeface="+mn-ea"/>
                <a:cs typeface="Arial" charset="0"/>
              </a:rPr>
              <a:t>property of accuracy and completeness.</a:t>
            </a:r>
          </a:p>
          <a:p>
            <a:r>
              <a:rPr lang="en-US" sz="1200" b="1" i="0" u="none" strike="noStrike" kern="1200" baseline="0" dirty="0">
                <a:solidFill>
                  <a:schemeClr val="tx1"/>
                </a:solidFill>
                <a:latin typeface="Arial" charset="0"/>
                <a:ea typeface="+mn-ea"/>
                <a:cs typeface="Arial" charset="0"/>
              </a:rPr>
              <a:t>Availability: </a:t>
            </a:r>
            <a:r>
              <a:rPr lang="en-US" sz="1200" b="0" i="0" u="none" strike="noStrike" kern="1200" baseline="0" dirty="0">
                <a:solidFill>
                  <a:schemeClr val="tx1"/>
                </a:solidFill>
                <a:latin typeface="Arial" charset="0"/>
                <a:ea typeface="+mn-ea"/>
                <a:cs typeface="Arial" charset="0"/>
              </a:rPr>
              <a:t>property of being accessible and usable on demand by an authorized entity.</a:t>
            </a:r>
          </a:p>
          <a:p>
            <a:r>
              <a:rPr lang="en-US" sz="1200" b="1" i="0" u="none" strike="noStrike" kern="1200" baseline="0" dirty="0">
                <a:solidFill>
                  <a:schemeClr val="tx1"/>
                </a:solidFill>
                <a:latin typeface="Arial" charset="0"/>
                <a:ea typeface="+mn-ea"/>
                <a:cs typeface="Arial" charset="0"/>
              </a:rPr>
              <a:t>Authenticity: </a:t>
            </a:r>
            <a:r>
              <a:rPr lang="en-US" sz="1200" b="0" i="0" u="none" strike="noStrike" kern="1200" baseline="0" dirty="0">
                <a:solidFill>
                  <a:schemeClr val="tx1"/>
                </a:solidFill>
                <a:latin typeface="Arial" charset="0"/>
                <a:ea typeface="+mn-ea"/>
                <a:cs typeface="Arial" charset="0"/>
              </a:rPr>
              <a:t>property that an entity is what it claims to be.</a:t>
            </a:r>
          </a:p>
          <a:p>
            <a:r>
              <a:rPr lang="en-US" sz="1200" b="1" i="0" u="none" strike="noStrike" kern="1200" baseline="0" dirty="0">
                <a:solidFill>
                  <a:schemeClr val="tx1"/>
                </a:solidFill>
                <a:latin typeface="Arial" charset="0"/>
                <a:ea typeface="+mn-ea"/>
                <a:cs typeface="Arial" charset="0"/>
              </a:rPr>
              <a:t>non-repudiation: </a:t>
            </a:r>
            <a:r>
              <a:rPr lang="en-US" sz="1200" b="0" i="0" u="none" strike="noStrike" kern="1200" baseline="0" dirty="0">
                <a:solidFill>
                  <a:schemeClr val="tx1"/>
                </a:solidFill>
                <a:latin typeface="Arial" charset="0"/>
                <a:ea typeface="+mn-ea"/>
                <a:cs typeface="Arial" charset="0"/>
              </a:rPr>
              <a:t>ability to prove the occurrence of a claimed </a:t>
            </a:r>
            <a:r>
              <a:rPr lang="en-US" sz="1200" b="0" i="1" u="none" strike="noStrike" kern="1200" baseline="0" dirty="0">
                <a:solidFill>
                  <a:schemeClr val="tx1"/>
                </a:solidFill>
                <a:latin typeface="Arial" charset="0"/>
                <a:ea typeface="+mn-ea"/>
                <a:cs typeface="Arial" charset="0"/>
              </a:rPr>
              <a:t>event </a:t>
            </a:r>
            <a:r>
              <a:rPr lang="en-US" sz="1200" b="0" i="0" u="none" strike="noStrike" kern="1200" baseline="0" dirty="0">
                <a:solidFill>
                  <a:schemeClr val="tx1"/>
                </a:solidFill>
                <a:latin typeface="Arial" charset="0"/>
                <a:ea typeface="+mn-ea"/>
                <a:cs typeface="Arial" charset="0"/>
              </a:rPr>
              <a:t>or action and its originating entities </a:t>
            </a:r>
          </a:p>
          <a:p>
            <a:r>
              <a:rPr lang="en-US" sz="1200" b="1" i="0" u="none" strike="noStrike" kern="1200" baseline="0" dirty="0">
                <a:solidFill>
                  <a:schemeClr val="tx1"/>
                </a:solidFill>
                <a:latin typeface="Arial" charset="0"/>
                <a:ea typeface="+mn-ea"/>
                <a:cs typeface="Arial" charset="0"/>
              </a:rPr>
              <a:t>Reliability: </a:t>
            </a:r>
            <a:r>
              <a:rPr lang="en-US" sz="1200" b="0" i="0" u="none" strike="noStrike" kern="1200" baseline="0" dirty="0">
                <a:solidFill>
                  <a:schemeClr val="tx1"/>
                </a:solidFill>
                <a:latin typeface="Arial" charset="0"/>
                <a:ea typeface="+mn-ea"/>
                <a:cs typeface="Arial" charset="0"/>
              </a:rPr>
              <a:t>property of consistent intended behavior and results</a:t>
            </a:r>
          </a:p>
          <a:p>
            <a:r>
              <a:rPr lang="en-US" sz="4000" b="1" dirty="0">
                <a:solidFill>
                  <a:schemeClr val="accent1">
                    <a:lumMod val="60000"/>
                    <a:lumOff val="40000"/>
                  </a:schemeClr>
                </a:solidFill>
              </a:rPr>
              <a:t>Accountability</a:t>
            </a:r>
            <a:r>
              <a:rPr lang="en-US" sz="4000" dirty="0">
                <a:solidFill>
                  <a:schemeClr val="accent1">
                    <a:lumMod val="60000"/>
                    <a:lumOff val="40000"/>
                  </a:schemeClr>
                </a:solidFill>
              </a:rPr>
              <a:t>: </a:t>
            </a:r>
            <a:r>
              <a:rPr lang="en-US" sz="1800" b="0" i="0" u="none" strike="noStrike" baseline="0" dirty="0">
                <a:latin typeface="NimbusRomNo9L-Regu"/>
              </a:rPr>
              <a:t>the ability to identify principals responsible for past actions</a:t>
            </a:r>
            <a:endParaRPr lang="en-US" sz="1200" b="0" i="0" u="none" strike="noStrike" kern="1200" baseline="0" dirty="0">
              <a:solidFill>
                <a:schemeClr val="tx1"/>
              </a:solidFill>
              <a:latin typeface="Arial" charset="0"/>
              <a:ea typeface="+mn-ea"/>
              <a:cs typeface="Arial" charset="0"/>
            </a:endParaRPr>
          </a:p>
          <a:p>
            <a:endParaRPr lang="en-US" dirty="0"/>
          </a:p>
        </p:txBody>
      </p:sp>
    </p:spTree>
    <p:extLst>
      <p:ext uri="{BB962C8B-B14F-4D97-AF65-F5344CB8AC3E}">
        <p14:creationId xmlns:p14="http://schemas.microsoft.com/office/powerpoint/2010/main" val="491626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8380588E-B01B-4A1A-931E-319A6281456E}" type="slidenum">
              <a:rPr lang="en-US" smtClean="0"/>
              <a:pPr/>
              <a:t>11</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71611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9FD2464E-0292-4D35-BB6F-3C966F9512B0}" type="slidenum">
              <a:rPr lang="en-US" smtClean="0"/>
              <a:pPr/>
              <a:t>12</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n-US" sz="1200" b="0" i="0" kern="1200" dirty="0">
              <a:solidFill>
                <a:schemeClr val="tx1"/>
              </a:solidFill>
              <a:effectLst/>
              <a:latin typeface="Arial" charset="0"/>
              <a:ea typeface="+mn-ea"/>
              <a:cs typeface="Arial" charset="0"/>
            </a:endParaRPr>
          </a:p>
          <a:p>
            <a:r>
              <a:rPr lang="en-US" sz="1200" b="1" i="0" u="none" strike="noStrike" kern="1200" baseline="0" dirty="0">
                <a:solidFill>
                  <a:schemeClr val="tx1"/>
                </a:solidFill>
                <a:latin typeface="Arial" charset="0"/>
                <a:ea typeface="+mn-ea"/>
                <a:cs typeface="Arial" charset="0"/>
              </a:rPr>
              <a:t>Confidentiality: </a:t>
            </a:r>
            <a:r>
              <a:rPr lang="en-US" sz="1200" b="0" i="0" u="none" strike="noStrike" kern="1200" baseline="0" dirty="0">
                <a:solidFill>
                  <a:schemeClr val="tx1"/>
                </a:solidFill>
                <a:latin typeface="Arial" charset="0"/>
                <a:ea typeface="+mn-ea"/>
                <a:cs typeface="Arial" charset="0"/>
              </a:rPr>
              <a:t>property that information is not made available or disclosed to unauthorized individuals, entities, or </a:t>
            </a:r>
            <a:r>
              <a:rPr lang="en-US" sz="1200" b="0" i="1" u="none" strike="noStrike" kern="1200" baseline="0" dirty="0">
                <a:solidFill>
                  <a:schemeClr val="tx1"/>
                </a:solidFill>
                <a:latin typeface="Arial" charset="0"/>
                <a:ea typeface="+mn-ea"/>
                <a:cs typeface="Arial" charset="0"/>
              </a:rPr>
              <a:t>processes.</a:t>
            </a:r>
          </a:p>
          <a:p>
            <a:r>
              <a:rPr lang="en-US" sz="1200" b="0" i="0" u="none" strike="noStrike" kern="1200" baseline="0" dirty="0">
                <a:solidFill>
                  <a:schemeClr val="tx1"/>
                </a:solidFill>
                <a:latin typeface="Arial" charset="0"/>
                <a:ea typeface="+mn-ea"/>
                <a:cs typeface="Arial" charset="0"/>
              </a:rPr>
              <a:t>- A</a:t>
            </a:r>
            <a:r>
              <a:rPr lang="en-US" sz="1200" b="0" i="1" u="none" strike="noStrike" kern="1200" baseline="0" dirty="0">
                <a:solidFill>
                  <a:schemeClr val="tx1"/>
                </a:solidFill>
                <a:latin typeface="Arial" charset="0"/>
                <a:ea typeface="+mn-ea"/>
                <a:cs typeface="Arial" charset="0"/>
              </a:rPr>
              <a:t> </a:t>
            </a:r>
            <a:r>
              <a:rPr lang="en-US" sz="1800" b="1" i="0" u="none" strike="noStrike" baseline="0" dirty="0">
                <a:solidFill>
                  <a:srgbClr val="211D1E"/>
                </a:solidFill>
                <a:latin typeface="Cambria" panose="02040503050406030204" pitchFamily="18" charset="0"/>
              </a:rPr>
              <a:t>process: </a:t>
            </a:r>
            <a:r>
              <a:rPr lang="en-US" sz="1800" b="0" i="0" u="none" strike="noStrike" baseline="0" dirty="0">
                <a:solidFill>
                  <a:srgbClr val="211D1E"/>
                </a:solidFill>
                <a:latin typeface="Cambria" panose="02040503050406030204" pitchFamily="18" charset="0"/>
              </a:rPr>
              <a:t>set of interrelated or interacting activities which transforms inputs into outputs. Example: change management process which is carried out by a manager.</a:t>
            </a:r>
          </a:p>
          <a:p>
            <a:r>
              <a:rPr lang="en-US" sz="1800" b="0" i="0" u="none" strike="noStrike" kern="1200" baseline="0" dirty="0">
                <a:solidFill>
                  <a:srgbClr val="211D1E"/>
                </a:solidFill>
                <a:latin typeface="Cambria" panose="02040503050406030204" pitchFamily="18" charset="0"/>
                <a:ea typeface="+mn-ea"/>
                <a:cs typeface="Arial" charset="0"/>
              </a:rPr>
              <a:t>- Examples of entities: users, groups, roles (as in </a:t>
            </a:r>
            <a:r>
              <a:rPr lang="en-US" sz="1800" b="0" i="0" u="none" strike="noStrike" kern="1200" baseline="0" dirty="0" err="1">
                <a:solidFill>
                  <a:srgbClr val="211D1E"/>
                </a:solidFill>
                <a:latin typeface="Cambria" panose="02040503050406030204" pitchFamily="18" charset="0"/>
                <a:ea typeface="+mn-ea"/>
                <a:cs typeface="Arial" charset="0"/>
              </a:rPr>
              <a:t>sql</a:t>
            </a:r>
            <a:r>
              <a:rPr lang="en-US" sz="1800" b="0" i="0" u="none" strike="noStrike" kern="1200" baseline="0" dirty="0">
                <a:solidFill>
                  <a:srgbClr val="211D1E"/>
                </a:solidFill>
                <a:latin typeface="Cambria" panose="02040503050406030204" pitchFamily="18" charset="0"/>
                <a:ea typeface="+mn-ea"/>
                <a:cs typeface="Arial" charset="0"/>
              </a:rPr>
              <a:t>), application processes, ….  </a:t>
            </a:r>
          </a:p>
          <a:p>
            <a:pPr algn="l"/>
            <a:r>
              <a:rPr lang="en-US" sz="1800" b="1" i="0" u="none" strike="noStrike" baseline="0" dirty="0">
                <a:latin typeface="TimesTenLTStd-Bold"/>
              </a:rPr>
              <a:t>Privacy: </a:t>
            </a:r>
            <a:r>
              <a:rPr lang="en-US" sz="1800" b="0" i="0" u="none" strike="noStrike" baseline="0" dirty="0">
                <a:latin typeface="TimesTenLTStd-Roman"/>
              </a:rPr>
              <a:t>Assures that individuals control or influence what information related to them may be collected and stored and by whom and to whom that information may be disclosed</a:t>
            </a:r>
            <a:endParaRPr lang="en-US" sz="1200" b="0" i="1" u="none" strike="noStrike" kern="1200" baseline="0" dirty="0">
              <a:solidFill>
                <a:schemeClr val="tx1"/>
              </a:solidFill>
              <a:latin typeface="Arial" charset="0"/>
              <a:ea typeface="+mn-ea"/>
              <a:cs typeface="Arial" charset="0"/>
            </a:endParaRPr>
          </a:p>
          <a:p>
            <a:endParaRPr lang="en-US" dirty="0"/>
          </a:p>
        </p:txBody>
      </p:sp>
    </p:spTree>
    <p:extLst>
      <p:ext uri="{BB962C8B-B14F-4D97-AF65-F5344CB8AC3E}">
        <p14:creationId xmlns:p14="http://schemas.microsoft.com/office/powerpoint/2010/main" val="88072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9FD2464E-0292-4D35-BB6F-3C966F9512B0}" type="slidenum">
              <a:rPr lang="en-US" smtClean="0"/>
              <a:pPr/>
              <a:t>13</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r>
              <a:rPr lang="en-US" sz="1200" b="1" i="0" u="none" strike="noStrike" kern="1200" baseline="0" dirty="0">
                <a:solidFill>
                  <a:schemeClr val="tx1"/>
                </a:solidFill>
                <a:latin typeface="Arial" charset="0"/>
                <a:ea typeface="+mn-ea"/>
                <a:cs typeface="Arial" charset="0"/>
              </a:rPr>
              <a:t>Integrity: </a:t>
            </a:r>
            <a:r>
              <a:rPr lang="en-US" sz="1200" b="0" i="0" u="none" strike="noStrike" kern="1200" baseline="0" dirty="0">
                <a:solidFill>
                  <a:schemeClr val="tx1"/>
                </a:solidFill>
                <a:latin typeface="Arial" charset="0"/>
                <a:ea typeface="+mn-ea"/>
                <a:cs typeface="Arial" charset="0"/>
              </a:rPr>
              <a:t>property of accuracy and completeness .</a:t>
            </a:r>
          </a:p>
          <a:p>
            <a:endParaRPr lang="en-US" sz="1200" b="0" i="0" u="none" strike="noStrike" kern="1200" baseline="0" dirty="0">
              <a:solidFill>
                <a:schemeClr val="tx1"/>
              </a:solidFill>
              <a:latin typeface="Arial" charset="0"/>
              <a:ea typeface="+mn-ea"/>
              <a:cs typeface="Arial" charset="0"/>
            </a:endParaRPr>
          </a:p>
          <a:p>
            <a:pPr algn="l"/>
            <a:r>
              <a:rPr lang="en-US" sz="1800" b="1" i="0" u="none" strike="noStrike" baseline="0" dirty="0">
                <a:latin typeface="TimesTenLTStd-Bold"/>
              </a:rPr>
              <a:t>Integrity: </a:t>
            </a:r>
            <a:r>
              <a:rPr lang="en-US" sz="1800" b="0" i="0" u="none" strike="noStrike" baseline="0" dirty="0">
                <a:latin typeface="TimesTenLTStd-Roman"/>
              </a:rPr>
              <a:t>This term covers two related concepts:</a:t>
            </a:r>
          </a:p>
          <a:p>
            <a:pPr algn="l"/>
            <a:r>
              <a:rPr lang="en-US" sz="1800" b="0" i="0" u="none" strike="noStrike" baseline="0" dirty="0">
                <a:latin typeface="TimesTenLTStd-Roman"/>
              </a:rPr>
              <a:t>—</a:t>
            </a:r>
            <a:r>
              <a:rPr lang="en-US" sz="1800" b="1" i="0" u="none" strike="noStrike" baseline="0" dirty="0">
                <a:latin typeface="TimesTenLTStd-Bold"/>
              </a:rPr>
              <a:t>Data integrity: </a:t>
            </a:r>
            <a:r>
              <a:rPr lang="en-US" sz="1800" b="0" i="0" u="none" strike="noStrike" baseline="0" dirty="0">
                <a:latin typeface="TimesTenLTStd-Roman"/>
              </a:rPr>
              <a:t>Assures that information and programs are changed only in a specified and authorized manner.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0" i="0" u="none" strike="noStrike" baseline="0" dirty="0">
                <a:latin typeface="TimesTenLTStd-Roman"/>
              </a:rPr>
              <a:t>	in other words, </a:t>
            </a:r>
            <a:r>
              <a:rPr lang="en-US" sz="1800" dirty="0">
                <a:cs typeface="Tahoma" pitchFamily="34" charset="0"/>
              </a:rPr>
              <a:t>ensuring information has not been altered by unauthorized or unknown means.</a:t>
            </a:r>
            <a:endParaRPr lang="en-US" sz="1800" b="0" i="0" u="none" strike="noStrike" baseline="0" dirty="0">
              <a:latin typeface="TimesTenLTStd-Roman"/>
            </a:endParaRPr>
          </a:p>
          <a:p>
            <a:pPr algn="l"/>
            <a:r>
              <a:rPr lang="en-US" sz="1800" b="0" i="0" u="none" strike="noStrike" baseline="0" dirty="0">
                <a:latin typeface="TimesTenLTStd-Roman"/>
              </a:rPr>
              <a:t>—</a:t>
            </a:r>
            <a:r>
              <a:rPr lang="en-US" sz="1800" b="1" i="0" u="none" strike="noStrike" baseline="0" dirty="0">
                <a:latin typeface="TimesTenLTStd-Bold"/>
              </a:rPr>
              <a:t>System integrity: </a:t>
            </a:r>
            <a:r>
              <a:rPr lang="en-US" sz="1800" b="0" i="0" u="none" strike="noStrike" baseline="0" dirty="0">
                <a:latin typeface="TimesTenLTStd-Roman"/>
              </a:rPr>
              <a:t>Assures that a system performs its intended function in an unimpaired manner, free from deliberate or inadvertent unauthorized manipulation of the system.</a:t>
            </a:r>
            <a:endParaRPr lang="en-US" sz="1200" b="0" i="0" u="none" strike="noStrike" kern="1200" baseline="0" dirty="0">
              <a:solidFill>
                <a:schemeClr val="tx1"/>
              </a:solidFill>
              <a:latin typeface="Arial" charset="0"/>
              <a:ea typeface="+mn-ea"/>
              <a:cs typeface="Arial" charset="0"/>
            </a:endParaRPr>
          </a:p>
        </p:txBody>
      </p:sp>
    </p:spTree>
    <p:extLst>
      <p:ext uri="{BB962C8B-B14F-4D97-AF65-F5344CB8AC3E}">
        <p14:creationId xmlns:p14="http://schemas.microsoft.com/office/powerpoint/2010/main" val="265480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9FD2464E-0292-4D35-BB6F-3C966F9512B0}" type="slidenum">
              <a:rPr lang="en-US" smtClean="0"/>
              <a:pPr/>
              <a:t>14</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endParaRPr lang="en-US" sz="1200" b="0" i="0" u="none" strike="noStrike" kern="1200" baseline="0" dirty="0">
              <a:solidFill>
                <a:schemeClr val="tx1"/>
              </a:solidFill>
              <a:latin typeface="Arial" charset="0"/>
              <a:ea typeface="+mn-ea"/>
              <a:cs typeface="Arial" charset="0"/>
            </a:endParaRPr>
          </a:p>
          <a:p>
            <a:r>
              <a:rPr lang="en-US" sz="1200" b="1" i="0" u="none" strike="noStrike" kern="1200" baseline="0" dirty="0">
                <a:solidFill>
                  <a:schemeClr val="tx1"/>
                </a:solidFill>
                <a:latin typeface="Arial" charset="0"/>
                <a:ea typeface="+mn-ea"/>
                <a:cs typeface="Arial" charset="0"/>
              </a:rPr>
              <a:t>Availability: </a:t>
            </a:r>
            <a:r>
              <a:rPr lang="en-US" sz="1200" b="0" i="0" u="none" strike="noStrike" kern="1200" baseline="0" dirty="0">
                <a:solidFill>
                  <a:schemeClr val="tx1"/>
                </a:solidFill>
                <a:latin typeface="Arial" charset="0"/>
                <a:ea typeface="+mn-ea"/>
                <a:cs typeface="Arial" charset="0"/>
              </a:rPr>
              <a:t>property of being accessible and usable on demand by an authorized entity.</a:t>
            </a:r>
          </a:p>
        </p:txBody>
      </p:sp>
    </p:spTree>
    <p:extLst>
      <p:ext uri="{BB962C8B-B14F-4D97-AF65-F5344CB8AC3E}">
        <p14:creationId xmlns:p14="http://schemas.microsoft.com/office/powerpoint/2010/main" val="212383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8E9ECF93-CE75-4AA3-9F4F-27E6CF447202}" type="slidenum">
              <a:rPr lang="en-US" smtClean="0"/>
              <a:pPr/>
              <a:t>15</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r>
              <a:rPr lang="en-US" dirty="0"/>
              <a:t>ISO 27000:</a:t>
            </a:r>
            <a:r>
              <a:rPr lang="en-US" baseline="0" dirty="0"/>
              <a:t> 2018:</a:t>
            </a:r>
          </a:p>
          <a:p>
            <a:pPr eaLnBrk="1" hangingPunct="1"/>
            <a:endParaRPr lang="en-US" baseline="0" dirty="0"/>
          </a:p>
          <a:p>
            <a:r>
              <a:rPr lang="en-US" sz="1200" b="1" i="0" u="none" strike="noStrike" kern="1200" baseline="0" dirty="0">
                <a:solidFill>
                  <a:schemeClr val="tx1"/>
                </a:solidFill>
                <a:latin typeface="Arial" charset="0"/>
                <a:ea typeface="+mn-ea"/>
                <a:cs typeface="Arial" charset="0"/>
              </a:rPr>
              <a:t>authenticity</a:t>
            </a:r>
            <a:endParaRPr lang="en-US" sz="1200" b="0" i="0" u="none" strike="noStrike" kern="1200" baseline="0" dirty="0">
              <a:solidFill>
                <a:schemeClr val="tx1"/>
              </a:solidFill>
              <a:latin typeface="Arial" charset="0"/>
              <a:ea typeface="+mn-ea"/>
              <a:cs typeface="Arial" charset="0"/>
            </a:endParaRPr>
          </a:p>
          <a:p>
            <a:r>
              <a:rPr lang="en-US" sz="1200" b="0" i="0" u="none" strike="noStrike" kern="1200" baseline="0" dirty="0">
                <a:solidFill>
                  <a:schemeClr val="tx1"/>
                </a:solidFill>
                <a:latin typeface="Arial" charset="0"/>
                <a:ea typeface="+mn-ea"/>
                <a:cs typeface="Arial" charset="0"/>
              </a:rPr>
              <a:t>property that an entity is what it claims to be</a:t>
            </a:r>
          </a:p>
          <a:p>
            <a:r>
              <a:rPr lang="ar-SY" sz="1200" b="0" i="0" u="none" strike="noStrike" kern="1200" baseline="0" dirty="0">
                <a:solidFill>
                  <a:schemeClr val="tx1"/>
                </a:solidFill>
                <a:latin typeface="Arial" charset="0"/>
                <a:ea typeface="+mn-ea"/>
                <a:cs typeface="Arial" charset="0"/>
              </a:rPr>
              <a:t>خاصية أن الكيان هو ما يدعي كونه</a:t>
            </a:r>
            <a:endParaRPr lang="en-US" sz="1200" b="0" i="0" u="none" strike="noStrike" kern="1200" baseline="0" dirty="0">
              <a:solidFill>
                <a:schemeClr val="tx1"/>
              </a:solidFill>
              <a:latin typeface="Arial" charset="0"/>
              <a:ea typeface="+mn-ea"/>
              <a:cs typeface="Arial" charset="0"/>
            </a:endParaRPr>
          </a:p>
          <a:p>
            <a:endParaRPr lang="en-US" sz="1200" b="0" i="0" u="none" strike="noStrike" kern="1200" baseline="0" dirty="0">
              <a:solidFill>
                <a:schemeClr val="tx1"/>
              </a:solidFill>
              <a:latin typeface="Arial" charset="0"/>
              <a:ea typeface="+mn-ea"/>
              <a:cs typeface="Arial" charset="0"/>
            </a:endParaRPr>
          </a:p>
          <a:p>
            <a:r>
              <a:rPr lang="en-US" sz="1200" b="1" i="0" u="none" strike="noStrike" kern="1200" baseline="0" dirty="0">
                <a:solidFill>
                  <a:schemeClr val="tx1"/>
                </a:solidFill>
                <a:latin typeface="Arial" charset="0"/>
                <a:ea typeface="+mn-ea"/>
                <a:cs typeface="Arial" charset="0"/>
              </a:rPr>
              <a:t>authentication</a:t>
            </a:r>
            <a:endParaRPr lang="en-US" sz="1200" b="0" i="0" u="none" strike="noStrike" kern="1200" baseline="0" dirty="0">
              <a:solidFill>
                <a:schemeClr val="tx1"/>
              </a:solidFill>
              <a:latin typeface="Arial" charset="0"/>
              <a:ea typeface="+mn-ea"/>
              <a:cs typeface="Arial" charset="0"/>
            </a:endParaRPr>
          </a:p>
          <a:p>
            <a:r>
              <a:rPr lang="en-US" sz="1200" b="0" i="0" u="none" strike="noStrike" kern="1200" baseline="0" dirty="0">
                <a:solidFill>
                  <a:schemeClr val="tx1"/>
                </a:solidFill>
                <a:latin typeface="Arial" charset="0"/>
                <a:ea typeface="+mn-ea"/>
                <a:cs typeface="Arial" charset="0"/>
              </a:rPr>
              <a:t>provision of assurance that a claimed characteristic of an entity is correct</a:t>
            </a:r>
          </a:p>
          <a:p>
            <a:r>
              <a:rPr lang="ar-SY" sz="1200" b="0" i="0" u="none" strike="noStrike" kern="1200" baseline="0" dirty="0">
                <a:solidFill>
                  <a:schemeClr val="tx1"/>
                </a:solidFill>
                <a:latin typeface="Arial" charset="0"/>
                <a:ea typeface="+mn-ea"/>
                <a:cs typeface="Arial" charset="0"/>
              </a:rPr>
              <a:t>تقديم ضمان بأن خاصية مزعومة لكيان هي صحيحة</a:t>
            </a:r>
            <a:endParaRPr lang="en-US" sz="1200" b="0" i="0" u="none" strike="noStrike" kern="1200" baseline="0" dirty="0">
              <a:solidFill>
                <a:schemeClr val="tx1"/>
              </a:solidFill>
              <a:latin typeface="Arial" charset="0"/>
              <a:ea typeface="+mn-ea"/>
              <a:cs typeface="Arial" charset="0"/>
            </a:endParaRPr>
          </a:p>
          <a:p>
            <a:endParaRPr lang="en-US" sz="1200" b="0" i="0" u="none" strike="noStrike" kern="1200" baseline="0" dirty="0">
              <a:solidFill>
                <a:schemeClr val="tx1"/>
              </a:solidFill>
              <a:latin typeface="Arial" charset="0"/>
              <a:ea typeface="+mn-ea"/>
              <a:cs typeface="Arial" charset="0"/>
            </a:endParaRPr>
          </a:p>
          <a:p>
            <a:endParaRPr lang="en-US" sz="1200" b="1" i="0" u="none" strike="noStrike" kern="1200" baseline="0" dirty="0">
              <a:solidFill>
                <a:schemeClr val="tx1"/>
              </a:solidFill>
              <a:latin typeface="Arial" charset="0"/>
              <a:ea typeface="+mn-ea"/>
              <a:cs typeface="Arial" charset="0"/>
            </a:endParaRPr>
          </a:p>
          <a:p>
            <a:endParaRPr lang="ar-SY" sz="1200" b="0" i="0" u="none" strike="noStrike" kern="1200" baseline="0" dirty="0">
              <a:solidFill>
                <a:schemeClr val="tx1"/>
              </a:solidFill>
              <a:latin typeface="Arial" charset="0"/>
              <a:ea typeface="+mn-ea"/>
              <a:cs typeface="Arial" charset="0"/>
            </a:endParaRPr>
          </a:p>
        </p:txBody>
      </p:sp>
    </p:spTree>
    <p:extLst>
      <p:ext uri="{BB962C8B-B14F-4D97-AF65-F5344CB8AC3E}">
        <p14:creationId xmlns:p14="http://schemas.microsoft.com/office/powerpoint/2010/main" val="4248611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70C463DF-8785-4887-83E6-EC66B843B927}" type="slidenum">
              <a:rPr lang="en-US" smtClean="0"/>
              <a:pPr/>
              <a:t>16</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6868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34E433-BC61-AE48-A59F-1186134F32BC}" type="slidenum">
              <a:rPr lang="en-AU"/>
              <a:pPr/>
              <a:t>17</a:t>
            </a:fld>
            <a:endParaRPr lang="en-AU" dirty="0"/>
          </a:p>
        </p:txBody>
      </p:sp>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p:txBody>
          <a:bodyPr/>
          <a:lstStyle/>
          <a:p>
            <a:r>
              <a:rPr lang="en-US" dirty="0">
                <a:latin typeface="Times New Roman" pitchFamily="-107" charset="0"/>
              </a:rPr>
              <a:t>Computer security is both fascinating and complex. Some of the reasons follow:</a:t>
            </a:r>
          </a:p>
          <a:p>
            <a:endParaRPr lang="en-US" dirty="0">
              <a:latin typeface="Times New Roman" pitchFamily="-107" charset="0"/>
            </a:endParaRPr>
          </a:p>
          <a:p>
            <a:r>
              <a:rPr lang="en-US" sz="1200" kern="1200" dirty="0">
                <a:solidFill>
                  <a:schemeClr val="tx1"/>
                </a:solidFill>
                <a:effectLst/>
                <a:latin typeface="Arial" pitchFamily="-107" charset="0"/>
                <a:ea typeface="+mn-ea"/>
                <a:cs typeface="+mn-cs"/>
              </a:rPr>
              <a:t> 1. Computer security is not as simple as it might first appear to the novice. The</a:t>
            </a:r>
          </a:p>
          <a:p>
            <a:r>
              <a:rPr lang="en-US" sz="1200" kern="1200" dirty="0">
                <a:solidFill>
                  <a:schemeClr val="tx1"/>
                </a:solidFill>
                <a:effectLst/>
                <a:latin typeface="Arial" pitchFamily="-107" charset="0"/>
                <a:ea typeface="+mn-ea"/>
                <a:cs typeface="+mn-cs"/>
              </a:rPr>
              <a:t>requirements seem to be straightforward; indeed, most of the major requirements</a:t>
            </a:r>
          </a:p>
          <a:p>
            <a:r>
              <a:rPr lang="en-US" sz="1200" kern="1200" dirty="0">
                <a:solidFill>
                  <a:schemeClr val="tx1"/>
                </a:solidFill>
                <a:effectLst/>
                <a:latin typeface="Arial" pitchFamily="-107" charset="0"/>
                <a:ea typeface="+mn-ea"/>
                <a:cs typeface="+mn-cs"/>
              </a:rPr>
              <a:t>for security services can be given self-explanatory one-word labels:</a:t>
            </a:r>
          </a:p>
          <a:p>
            <a:r>
              <a:rPr lang="en-US" sz="1200" kern="1200" dirty="0">
                <a:solidFill>
                  <a:schemeClr val="tx1"/>
                </a:solidFill>
                <a:effectLst/>
                <a:latin typeface="Arial" pitchFamily="-107" charset="0"/>
                <a:ea typeface="+mn-ea"/>
                <a:cs typeface="+mn-cs"/>
              </a:rPr>
              <a:t>confidentiality,</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authentication, nonrepudiation, and integrity. But the mechanisms</a:t>
            </a:r>
          </a:p>
          <a:p>
            <a:r>
              <a:rPr lang="en-US" sz="1200" kern="1200" dirty="0">
                <a:solidFill>
                  <a:schemeClr val="tx1"/>
                </a:solidFill>
                <a:effectLst/>
                <a:latin typeface="Arial" pitchFamily="-107" charset="0"/>
                <a:ea typeface="+mn-ea"/>
                <a:cs typeface="+mn-cs"/>
              </a:rPr>
              <a:t>used to meet those requirements can be quite complex, and understanding</a:t>
            </a:r>
          </a:p>
          <a:p>
            <a:r>
              <a:rPr lang="en-US" sz="1200" kern="1200" dirty="0">
                <a:solidFill>
                  <a:schemeClr val="tx1"/>
                </a:solidFill>
                <a:effectLst/>
                <a:latin typeface="Arial" pitchFamily="-107" charset="0"/>
                <a:ea typeface="+mn-ea"/>
                <a:cs typeface="+mn-cs"/>
              </a:rPr>
              <a:t>them may involve rather subtle reasoning.</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2. In developing a particular security mechanism or algorithm, one must always consider</a:t>
            </a:r>
          </a:p>
          <a:p>
            <a:r>
              <a:rPr lang="en-US" sz="1200" kern="1200" dirty="0">
                <a:solidFill>
                  <a:schemeClr val="tx1"/>
                </a:solidFill>
                <a:effectLst/>
                <a:latin typeface="Arial" pitchFamily="-107" charset="0"/>
                <a:ea typeface="+mn-ea"/>
                <a:cs typeface="+mn-cs"/>
              </a:rPr>
              <a:t>potential attacks on those security features. In many cases, successful attacks</a:t>
            </a:r>
          </a:p>
          <a:p>
            <a:r>
              <a:rPr lang="en-US" sz="1200" kern="1200" dirty="0">
                <a:solidFill>
                  <a:schemeClr val="tx1"/>
                </a:solidFill>
                <a:effectLst/>
                <a:latin typeface="Arial" pitchFamily="-107" charset="0"/>
                <a:ea typeface="+mn-ea"/>
                <a:cs typeface="+mn-cs"/>
              </a:rPr>
              <a:t>are designed by looking at the problem in a completely different way, therefore</a:t>
            </a:r>
          </a:p>
          <a:p>
            <a:r>
              <a:rPr lang="en-US" sz="1200" kern="1200" dirty="0">
                <a:solidFill>
                  <a:schemeClr val="tx1"/>
                </a:solidFill>
                <a:effectLst/>
                <a:latin typeface="Arial" pitchFamily="-107" charset="0"/>
                <a:ea typeface="+mn-ea"/>
                <a:cs typeface="+mn-cs"/>
              </a:rPr>
              <a:t>exploiting an unexpected weakness in the mechanism.</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3. Because of Point 2, the procedures used to provide particular services are often</a:t>
            </a:r>
          </a:p>
          <a:p>
            <a:r>
              <a:rPr lang="en-US" sz="1200" kern="1200" dirty="0">
                <a:solidFill>
                  <a:schemeClr val="tx1"/>
                </a:solidFill>
                <a:effectLst/>
                <a:latin typeface="Arial" pitchFamily="-107" charset="0"/>
                <a:ea typeface="+mn-ea"/>
                <a:cs typeface="+mn-cs"/>
              </a:rPr>
              <a:t>counterintuitive. Typically, a security mechanism is complex, and it is not obvious</a:t>
            </a:r>
          </a:p>
          <a:p>
            <a:r>
              <a:rPr lang="en-US" sz="1200" kern="1200" dirty="0">
                <a:solidFill>
                  <a:schemeClr val="tx1"/>
                </a:solidFill>
                <a:effectLst/>
                <a:latin typeface="Arial" pitchFamily="-107" charset="0"/>
                <a:ea typeface="+mn-ea"/>
                <a:cs typeface="+mn-cs"/>
              </a:rPr>
              <a:t>from the statement of a particular requirement that such elaborate measures are</a:t>
            </a:r>
          </a:p>
          <a:p>
            <a:r>
              <a:rPr lang="en-US" sz="1200" kern="1200" dirty="0">
                <a:solidFill>
                  <a:schemeClr val="tx1"/>
                </a:solidFill>
                <a:effectLst/>
                <a:latin typeface="Arial" pitchFamily="-107" charset="0"/>
                <a:ea typeface="+mn-ea"/>
                <a:cs typeface="+mn-cs"/>
              </a:rPr>
              <a:t>needed. Only when the various aspects of the threat are considered do elaborate</a:t>
            </a:r>
          </a:p>
          <a:p>
            <a:r>
              <a:rPr lang="en-US" sz="1200" kern="1200" dirty="0">
                <a:solidFill>
                  <a:schemeClr val="tx1"/>
                </a:solidFill>
                <a:effectLst/>
                <a:latin typeface="Arial" pitchFamily="-107" charset="0"/>
                <a:ea typeface="+mn-ea"/>
                <a:cs typeface="+mn-cs"/>
              </a:rPr>
              <a:t>security mechanisms make sense.</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4. Having designed various security mechanisms, it is necessary to decide where to</a:t>
            </a:r>
          </a:p>
          <a:p>
            <a:r>
              <a:rPr lang="en-US" sz="1200" kern="1200" dirty="0">
                <a:solidFill>
                  <a:schemeClr val="tx1"/>
                </a:solidFill>
                <a:effectLst/>
                <a:latin typeface="Arial" pitchFamily="-107" charset="0"/>
                <a:ea typeface="+mn-ea"/>
                <a:cs typeface="+mn-cs"/>
              </a:rPr>
              <a:t>use them. This is true both in terms of physical placement (e.g., at what points in</a:t>
            </a:r>
          </a:p>
          <a:p>
            <a:r>
              <a:rPr lang="en-US" sz="1200" kern="1200" dirty="0">
                <a:solidFill>
                  <a:schemeClr val="tx1"/>
                </a:solidFill>
                <a:effectLst/>
                <a:latin typeface="Arial" pitchFamily="-107" charset="0"/>
                <a:ea typeface="+mn-ea"/>
                <a:cs typeface="+mn-cs"/>
              </a:rPr>
              <a:t>a network are certain security mechanisms needed) and in a logical sense [e.g.,</a:t>
            </a:r>
          </a:p>
          <a:p>
            <a:r>
              <a:rPr lang="en-US" sz="1200" kern="1200" dirty="0">
                <a:solidFill>
                  <a:schemeClr val="tx1"/>
                </a:solidFill>
                <a:effectLst/>
                <a:latin typeface="Arial" pitchFamily="-107" charset="0"/>
                <a:ea typeface="+mn-ea"/>
                <a:cs typeface="+mn-cs"/>
              </a:rPr>
              <a:t>at what layer or layers of an architecture such as TCP/IP (Transmission Control</a:t>
            </a:r>
          </a:p>
          <a:p>
            <a:r>
              <a:rPr lang="en-US" sz="1200" kern="1200" dirty="0">
                <a:solidFill>
                  <a:schemeClr val="tx1"/>
                </a:solidFill>
                <a:effectLst/>
                <a:latin typeface="Arial" pitchFamily="-107" charset="0"/>
                <a:ea typeface="+mn-ea"/>
                <a:cs typeface="+mn-cs"/>
              </a:rPr>
              <a:t>Protocol/Internet Protocol) should mechanisms be placed].</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5. Security mechanisms typically involve more than a particular algorithm or</a:t>
            </a:r>
          </a:p>
          <a:p>
            <a:r>
              <a:rPr lang="en-US" sz="1200" kern="1200" dirty="0">
                <a:solidFill>
                  <a:schemeClr val="tx1"/>
                </a:solidFill>
                <a:effectLst/>
                <a:latin typeface="Arial" pitchFamily="-107" charset="0"/>
                <a:ea typeface="+mn-ea"/>
                <a:cs typeface="+mn-cs"/>
              </a:rPr>
              <a:t>protocol.</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They also require that participants be in possession of some secret</a:t>
            </a:r>
          </a:p>
          <a:p>
            <a:r>
              <a:rPr lang="en-US" sz="1200" kern="1200" dirty="0">
                <a:solidFill>
                  <a:schemeClr val="tx1"/>
                </a:solidFill>
                <a:effectLst/>
                <a:latin typeface="Arial" pitchFamily="-107" charset="0"/>
                <a:ea typeface="+mn-ea"/>
                <a:cs typeface="+mn-cs"/>
              </a:rPr>
              <a:t>information (e.g., an encryption key), which raises questions about the creation,</a:t>
            </a:r>
          </a:p>
          <a:p>
            <a:r>
              <a:rPr lang="en-US" sz="1200" kern="1200" dirty="0">
                <a:solidFill>
                  <a:schemeClr val="tx1"/>
                </a:solidFill>
                <a:effectLst/>
                <a:latin typeface="Arial" pitchFamily="-107" charset="0"/>
                <a:ea typeface="+mn-ea"/>
                <a:cs typeface="+mn-cs"/>
              </a:rPr>
              <a:t>distribution, and protection of that secret information. There may also be a reliance</a:t>
            </a:r>
          </a:p>
          <a:p>
            <a:r>
              <a:rPr lang="en-US" sz="1200" kern="1200" dirty="0">
                <a:solidFill>
                  <a:schemeClr val="tx1"/>
                </a:solidFill>
                <a:effectLst/>
                <a:latin typeface="Arial" pitchFamily="-107" charset="0"/>
                <a:ea typeface="+mn-ea"/>
                <a:cs typeface="+mn-cs"/>
              </a:rPr>
              <a:t>on communications protocols whose behavior may complicate the task of</a:t>
            </a:r>
          </a:p>
          <a:p>
            <a:r>
              <a:rPr lang="en-US" sz="1200" kern="1200" dirty="0">
                <a:solidFill>
                  <a:schemeClr val="tx1"/>
                </a:solidFill>
                <a:effectLst/>
                <a:latin typeface="Arial" pitchFamily="-107" charset="0"/>
                <a:ea typeface="+mn-ea"/>
                <a:cs typeface="+mn-cs"/>
              </a:rPr>
              <a:t> developing the security mechanism. For example, if the proper functioning of the</a:t>
            </a:r>
          </a:p>
          <a:p>
            <a:r>
              <a:rPr lang="en-US" sz="1200" kern="1200" dirty="0">
                <a:solidFill>
                  <a:schemeClr val="tx1"/>
                </a:solidFill>
                <a:effectLst/>
                <a:latin typeface="Arial" pitchFamily="-107" charset="0"/>
                <a:ea typeface="+mn-ea"/>
                <a:cs typeface="+mn-cs"/>
              </a:rPr>
              <a:t>security mechanism requires setting time limits on the transit time of a message</a:t>
            </a:r>
          </a:p>
          <a:p>
            <a:r>
              <a:rPr lang="en-US" sz="1200" kern="1200" dirty="0">
                <a:solidFill>
                  <a:schemeClr val="tx1"/>
                </a:solidFill>
                <a:effectLst/>
                <a:latin typeface="Arial" pitchFamily="-107" charset="0"/>
                <a:ea typeface="+mn-ea"/>
                <a:cs typeface="+mn-cs"/>
              </a:rPr>
              <a:t>from sender to receiver, then any protocol or network that introduces variable,</a:t>
            </a:r>
          </a:p>
          <a:p>
            <a:r>
              <a:rPr lang="en-US" sz="1200" kern="1200" dirty="0">
                <a:solidFill>
                  <a:schemeClr val="tx1"/>
                </a:solidFill>
                <a:effectLst/>
                <a:latin typeface="Arial" pitchFamily="-107" charset="0"/>
                <a:ea typeface="+mn-ea"/>
                <a:cs typeface="+mn-cs"/>
              </a:rPr>
              <a:t>unpredictable delays may render such time limits meaningless.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6.  Computer security is essentially a battle of wits between a perpetrator who tries</a:t>
            </a:r>
          </a:p>
          <a:p>
            <a:r>
              <a:rPr lang="en-US" sz="1200" kern="1200" dirty="0">
                <a:solidFill>
                  <a:schemeClr val="tx1"/>
                </a:solidFill>
                <a:effectLst/>
                <a:latin typeface="Arial" pitchFamily="-107" charset="0"/>
                <a:ea typeface="+mn-ea"/>
                <a:cs typeface="+mn-cs"/>
              </a:rPr>
              <a:t>to find holes, and the designer or administrator who tries to close them. The great</a:t>
            </a:r>
          </a:p>
          <a:p>
            <a:r>
              <a:rPr lang="en-US" sz="1200" kern="1200" dirty="0">
                <a:solidFill>
                  <a:schemeClr val="tx1"/>
                </a:solidFill>
                <a:effectLst/>
                <a:latin typeface="Arial" pitchFamily="-107" charset="0"/>
                <a:ea typeface="+mn-ea"/>
                <a:cs typeface="+mn-cs"/>
              </a:rPr>
              <a:t>advantage that the attacker has is that he or she need only find a single weakness,</a:t>
            </a:r>
          </a:p>
          <a:p>
            <a:r>
              <a:rPr lang="en-US" sz="1200" kern="1200" dirty="0">
                <a:solidFill>
                  <a:schemeClr val="tx1"/>
                </a:solidFill>
                <a:effectLst/>
                <a:latin typeface="Arial" pitchFamily="-107" charset="0"/>
                <a:ea typeface="+mn-ea"/>
                <a:cs typeface="+mn-cs"/>
              </a:rPr>
              <a:t>while the designer must find and eliminate all weaknesses to achieve perfect</a:t>
            </a:r>
          </a:p>
          <a:p>
            <a:r>
              <a:rPr lang="en-US" sz="1200" kern="1200" dirty="0">
                <a:solidFill>
                  <a:schemeClr val="tx1"/>
                </a:solidFill>
                <a:effectLst/>
                <a:latin typeface="Arial" pitchFamily="-107" charset="0"/>
                <a:ea typeface="+mn-ea"/>
                <a:cs typeface="+mn-cs"/>
              </a:rPr>
              <a:t>security.</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7.  There is a natural tendency on the part of users and system managers to perceive</a:t>
            </a:r>
          </a:p>
          <a:p>
            <a:r>
              <a:rPr lang="en-US" sz="1200" kern="1200" dirty="0">
                <a:solidFill>
                  <a:schemeClr val="tx1"/>
                </a:solidFill>
                <a:effectLst/>
                <a:latin typeface="Arial" pitchFamily="-107" charset="0"/>
                <a:ea typeface="+mn-ea"/>
                <a:cs typeface="+mn-cs"/>
              </a:rPr>
              <a:t>little benefit from security investment until a security failure occurs.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8.  Security requires regular, even constant monitoring, and this is difficult in today’s</a:t>
            </a:r>
          </a:p>
          <a:p>
            <a:r>
              <a:rPr lang="en-US" sz="1200" kern="1200" dirty="0">
                <a:solidFill>
                  <a:schemeClr val="tx1"/>
                </a:solidFill>
                <a:effectLst/>
                <a:latin typeface="Arial" pitchFamily="-107" charset="0"/>
                <a:ea typeface="+mn-ea"/>
                <a:cs typeface="+mn-cs"/>
              </a:rPr>
              <a:t>short-term, overloaded environment.</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9.  Security is still too often an afterthought to be incorporated into a system after</a:t>
            </a:r>
          </a:p>
          <a:p>
            <a:r>
              <a:rPr lang="en-US" sz="1200" kern="1200" dirty="0">
                <a:solidFill>
                  <a:schemeClr val="tx1"/>
                </a:solidFill>
                <a:effectLst/>
                <a:latin typeface="Arial" pitchFamily="-107" charset="0"/>
                <a:ea typeface="+mn-ea"/>
                <a:cs typeface="+mn-cs"/>
              </a:rPr>
              <a:t>the design is complete, rather than being an integral part of the design process.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10.  Many users and even security administrators view strong security as an impediment</a:t>
            </a:r>
          </a:p>
          <a:p>
            <a:r>
              <a:rPr lang="en-US" sz="1200" kern="1200" dirty="0">
                <a:solidFill>
                  <a:schemeClr val="tx1"/>
                </a:solidFill>
                <a:effectLst/>
                <a:latin typeface="Arial" pitchFamily="-107" charset="0"/>
                <a:ea typeface="+mn-ea"/>
                <a:cs typeface="+mn-cs"/>
              </a:rPr>
              <a:t>to efficient and user-friendly operation of an information system or use</a:t>
            </a:r>
          </a:p>
          <a:p>
            <a:r>
              <a:rPr lang="en-US" sz="1200" kern="1200" dirty="0">
                <a:solidFill>
                  <a:schemeClr val="tx1"/>
                </a:solidFill>
                <a:effectLst/>
                <a:latin typeface="Arial" pitchFamily="-107" charset="0"/>
                <a:ea typeface="+mn-ea"/>
                <a:cs typeface="+mn-cs"/>
              </a:rPr>
              <a:t>of information.</a:t>
            </a:r>
          </a:p>
          <a:p>
            <a:endParaRPr lang="en-US" sz="1200" kern="1200" dirty="0">
              <a:solidFill>
                <a:schemeClr val="tx1"/>
              </a:solidFill>
              <a:effectLst/>
              <a:latin typeface="Arial" pitchFamily="-107" charset="0"/>
              <a:ea typeface="+mn-ea"/>
              <a:cs typeface="+mn-cs"/>
            </a:endParaRPr>
          </a:p>
          <a:p>
            <a:endParaRPr lang="en-US" dirty="0">
              <a:latin typeface="Times New Roman" pitchFamily="-107" charset="0"/>
            </a:endParaRPr>
          </a:p>
        </p:txBody>
      </p:sp>
    </p:spTree>
    <p:extLst>
      <p:ext uri="{BB962C8B-B14F-4D97-AF65-F5344CB8AC3E}">
        <p14:creationId xmlns:p14="http://schemas.microsoft.com/office/powerpoint/2010/main" val="1390157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8380588E-B01B-4A1A-931E-319A6281456E}" type="slidenum">
              <a:rPr lang="en-US" smtClean="0"/>
              <a:pPr/>
              <a:t>18</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53690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72A47ADC-3536-4F85-AF47-785A8875A226}" type="slidenum">
              <a:rPr lang="en-US" smtClean="0"/>
              <a:pPr/>
              <a:t>19</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buFontTx/>
              <a:buChar char="•"/>
            </a:pPr>
            <a:r>
              <a:rPr lang="en-US"/>
              <a:t>Vulnerabilities: </a:t>
            </a:r>
            <a:r>
              <a:rPr lang="en-US">
                <a:latin typeface="Times New Roman" pitchFamily="18" charset="0"/>
                <a:cs typeface="Times New Roman" pitchFamily="18" charset="0"/>
              </a:rPr>
              <a:t>is a weakness in system design or implementation and can be in hardware or software.</a:t>
            </a:r>
            <a:endParaRPr lang="en-US"/>
          </a:p>
          <a:p>
            <a:pPr eaLnBrk="1" hangingPunct="1"/>
            <a:r>
              <a:rPr lang="en-US"/>
              <a:t>	hardware</a:t>
            </a:r>
          </a:p>
          <a:p>
            <a:pPr eaLnBrk="1" hangingPunct="1"/>
            <a:r>
              <a:rPr lang="en-US"/>
              <a:t>		accidental: fires, floods, mice</a:t>
            </a:r>
          </a:p>
          <a:p>
            <a:pPr eaLnBrk="1" hangingPunct="1"/>
            <a:r>
              <a:rPr lang="en-US"/>
              <a:t>		malicious: fires, theft</a:t>
            </a:r>
          </a:p>
          <a:p>
            <a:pPr eaLnBrk="1" hangingPunct="1"/>
            <a:r>
              <a:rPr lang="en-US"/>
              <a:t>	software:</a:t>
            </a:r>
          </a:p>
          <a:p>
            <a:pPr eaLnBrk="1" hangingPunct="1"/>
            <a:r>
              <a:rPr lang="en-US"/>
              <a:t>		accidental: Bugs (buffer overflows), bad design (fails to an insecure state)</a:t>
            </a:r>
          </a:p>
          <a:p>
            <a:pPr eaLnBrk="1" hangingPunct="1"/>
            <a:r>
              <a:rPr lang="en-US"/>
              <a:t>		Malicious: deletion, spyware, Trojans, </a:t>
            </a:r>
          </a:p>
          <a:p>
            <a:pPr lvl="1" eaLnBrk="1" hangingPunct="1"/>
            <a:r>
              <a:rPr lang="en-US" sz="2400">
                <a:solidFill>
                  <a:srgbClr val="FFFF00"/>
                </a:solidFill>
                <a:latin typeface="Tahoma" pitchFamily="34" charset="0"/>
                <a:cs typeface="Tahoma" pitchFamily="34" charset="0"/>
              </a:rPr>
              <a:t>is an indication of potential undesirable event </a:t>
            </a:r>
          </a:p>
          <a:p>
            <a:pPr eaLnBrk="1" hangingPunct="1"/>
            <a:endParaRPr lang="en-US" sz="2400"/>
          </a:p>
          <a:p>
            <a:pPr eaLnBrk="1" hangingPunct="1"/>
            <a:r>
              <a:rPr lang="en-US" sz="2400"/>
              <a:t>A Threat </a:t>
            </a:r>
            <a:r>
              <a:rPr lang="en-US" sz="2400">
                <a:latin typeface="Tahoma" pitchFamily="34" charset="0"/>
                <a:cs typeface="Tahoma" pitchFamily="34" charset="0"/>
              </a:rPr>
              <a:t>is something that can potentially cause damage to the network or computer system.</a:t>
            </a:r>
          </a:p>
          <a:p>
            <a:pPr eaLnBrk="1" hangingPunct="1"/>
            <a:r>
              <a:rPr lang="en-US" sz="2400"/>
              <a:t>It is an indication of a potential undesirable event. It refers to a situation in which either a person could do something undesirable (e.g., initiating a denial-of-service attack against an organization's email server) or a natural occurrence could cause an undesirable outcome (a fire damaging an organization's information technology hardware).</a:t>
            </a:r>
          </a:p>
        </p:txBody>
      </p:sp>
    </p:spTree>
    <p:extLst>
      <p:ext uri="{BB962C8B-B14F-4D97-AF65-F5344CB8AC3E}">
        <p14:creationId xmlns:p14="http://schemas.microsoft.com/office/powerpoint/2010/main" val="3117407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11F47E3F-5739-4EE0-AB20-DF9091DB8A20}" type="slidenum">
              <a:rPr lang="en-US" smtClean="0"/>
              <a:pPr/>
              <a:t>20</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620479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21B3FF3-6804-48BB-93D4-06EF13A5156A}" type="slidenum">
              <a:rPr lang="en-US" smtClean="0"/>
              <a:pPr/>
              <a:t>21</a:t>
            </a:fld>
            <a:endParaRPr 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a:t>Risk</a:t>
            </a:r>
            <a:r>
              <a:rPr lang="en-US" baseline="0" dirty="0"/>
              <a:t>: </a:t>
            </a:r>
            <a:r>
              <a:rPr lang="en-US" sz="1200" dirty="0">
                <a:solidFill>
                  <a:srgbClr val="FFFF00"/>
                </a:solidFill>
                <a:cs typeface="Tahoma" pitchFamily="34" charset="0"/>
              </a:rPr>
              <a:t>is the possibility of suffering harm or loss</a:t>
            </a:r>
            <a:endParaRPr lang="en-US" dirty="0"/>
          </a:p>
          <a:p>
            <a:pPr eaLnBrk="1" hangingPunct="1"/>
            <a:r>
              <a:rPr lang="en-US" dirty="0"/>
              <a:t>Risk: the expected loss due to harmful future events,</a:t>
            </a:r>
          </a:p>
        </p:txBody>
      </p:sp>
    </p:spTree>
    <p:extLst>
      <p:ext uri="{BB962C8B-B14F-4D97-AF65-F5344CB8AC3E}">
        <p14:creationId xmlns:p14="http://schemas.microsoft.com/office/powerpoint/2010/main" val="430282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E5CA675E-E25B-4D99-AAFE-3A0734B91359}" type="slidenum">
              <a:rPr lang="en-US" smtClean="0"/>
              <a:pPr/>
              <a:t>22</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r>
              <a:rPr lang="en-US">
                <a:solidFill>
                  <a:schemeClr val="accent1"/>
                </a:solidFill>
                <a:latin typeface="Times New Roman" pitchFamily="18" charset="0"/>
                <a:cs typeface="Times New Roman" pitchFamily="18" charset="0"/>
              </a:rPr>
              <a:t>A </a:t>
            </a:r>
            <a:r>
              <a:rPr lang="en-US" b="1" i="1">
                <a:solidFill>
                  <a:schemeClr val="accent1"/>
                </a:solidFill>
                <a:latin typeface="Times New Roman" pitchFamily="18" charset="0"/>
                <a:cs typeface="Times New Roman" pitchFamily="18" charset="0"/>
              </a:rPr>
              <a:t>hacker</a:t>
            </a:r>
            <a:r>
              <a:rPr lang="en-US">
                <a:latin typeface="Times New Roman" pitchFamily="18" charset="0"/>
                <a:cs typeface="Times New Roman" pitchFamily="18" charset="0"/>
              </a:rPr>
              <a:t>:</a:t>
            </a:r>
          </a:p>
          <a:p>
            <a:pPr lvl="1" eaLnBrk="1" hangingPunct="1"/>
            <a:r>
              <a:rPr lang="en-US">
                <a:solidFill>
                  <a:srgbClr val="FFFF00"/>
                </a:solidFill>
                <a:latin typeface="Times New Roman" pitchFamily="18" charset="0"/>
                <a:cs typeface="Times New Roman" pitchFamily="18" charset="0"/>
              </a:rPr>
              <a:t>A person who have advanced knowledge of operating systems and  programming languages</a:t>
            </a:r>
          </a:p>
          <a:p>
            <a:pPr lvl="1" eaLnBrk="1" hangingPunct="1"/>
            <a:r>
              <a:rPr lang="en-US">
                <a:latin typeface="Times New Roman" pitchFamily="18" charset="0"/>
                <a:cs typeface="Times New Roman" pitchFamily="18" charset="0"/>
              </a:rPr>
              <a:t>Might discover holes within systems and the reasons for such holes</a:t>
            </a:r>
          </a:p>
          <a:p>
            <a:pPr lvl="1" eaLnBrk="1" hangingPunct="1"/>
            <a:r>
              <a:rPr lang="en-US">
                <a:solidFill>
                  <a:srgbClr val="FFFF00"/>
                </a:solidFill>
                <a:latin typeface="Times New Roman" pitchFamily="18" charset="0"/>
                <a:cs typeface="Times New Roman" pitchFamily="18" charset="0"/>
              </a:rPr>
              <a:t>Share what they  discover but never intentionally damage data</a:t>
            </a:r>
          </a:p>
          <a:p>
            <a:pPr eaLnBrk="1" hangingPunct="1"/>
            <a:r>
              <a:rPr lang="en-US">
                <a:solidFill>
                  <a:schemeClr val="accent1"/>
                </a:solidFill>
                <a:latin typeface="Times New Roman" pitchFamily="18" charset="0"/>
                <a:cs typeface="Times New Roman" pitchFamily="18" charset="0"/>
              </a:rPr>
              <a:t> A </a:t>
            </a:r>
            <a:r>
              <a:rPr lang="en-US" b="1" i="1">
                <a:solidFill>
                  <a:schemeClr val="accent1"/>
                </a:solidFill>
                <a:latin typeface="Times New Roman" pitchFamily="18" charset="0"/>
                <a:cs typeface="Times New Roman" pitchFamily="18" charset="0"/>
              </a:rPr>
              <a:t>cracker</a:t>
            </a:r>
            <a:r>
              <a:rPr lang="en-US">
                <a:latin typeface="Times New Roman" pitchFamily="18" charset="0"/>
                <a:cs typeface="Times New Roman" pitchFamily="18" charset="0"/>
              </a:rPr>
              <a:t>:</a:t>
            </a:r>
          </a:p>
          <a:p>
            <a:pPr lvl="1" eaLnBrk="1" hangingPunct="1"/>
            <a:r>
              <a:rPr lang="en-US">
                <a:latin typeface="Times New Roman" pitchFamily="18" charset="0"/>
                <a:cs typeface="Times New Roman" pitchFamily="18" charset="0"/>
              </a:rPr>
              <a:t>The one who breaks into or violates the system integrity of remote machines with the malicious intent, i.e., gaining unauthorized access</a:t>
            </a:r>
          </a:p>
          <a:p>
            <a:pPr lvl="1" eaLnBrk="1" hangingPunct="1"/>
            <a:r>
              <a:rPr lang="en-US">
                <a:solidFill>
                  <a:srgbClr val="FFFF00"/>
                </a:solidFill>
                <a:latin typeface="Times New Roman" pitchFamily="18" charset="0"/>
                <a:cs typeface="Times New Roman" pitchFamily="18" charset="0"/>
              </a:rPr>
              <a:t>Might destroy vital data, deny legitimate users services</a:t>
            </a:r>
          </a:p>
        </p:txBody>
      </p:sp>
    </p:spTree>
    <p:extLst>
      <p:ext uri="{BB962C8B-B14F-4D97-AF65-F5344CB8AC3E}">
        <p14:creationId xmlns:p14="http://schemas.microsoft.com/office/powerpoint/2010/main" val="1883720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DFE718C3-4DDC-4994-A271-7AD765B2860D}" type="slidenum">
              <a:rPr lang="en-US" smtClean="0"/>
              <a:pPr/>
              <a:t>23</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37380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FF96FA84-C992-43C0-B909-D69841840B98}" type="slidenum">
              <a:rPr lang="en-US" smtClean="0"/>
              <a:pPr/>
              <a:t>24</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r>
              <a:rPr lang="en-US" dirty="0"/>
              <a:t>Spurious info </a:t>
            </a:r>
            <a:r>
              <a:rPr lang="ar-SY" dirty="0"/>
              <a:t>معلومات زائفة</a:t>
            </a:r>
            <a:endParaRPr lang="en-US" dirty="0"/>
          </a:p>
        </p:txBody>
      </p:sp>
    </p:spTree>
    <p:extLst>
      <p:ext uri="{BB962C8B-B14F-4D97-AF65-F5344CB8AC3E}">
        <p14:creationId xmlns:p14="http://schemas.microsoft.com/office/powerpoint/2010/main" val="22757993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54ABAAC9-1D10-4E76-AC22-886DFBC53187}" type="slidenum">
              <a:rPr lang="en-US" smtClean="0"/>
              <a:pPr/>
              <a:t>26</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91705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Arial" charset="0"/>
              </a:rPr>
              <a:t>Figure 1.2, based on [CCPS12a], shows the relationship among some of these terms.</a:t>
            </a:r>
          </a:p>
          <a:p>
            <a:endParaRPr lang="en-US" i="1" dirty="0">
              <a:latin typeface="Times New Roman" pitchFamily="-107" charset="0"/>
            </a:endParaRPr>
          </a:p>
          <a:p>
            <a:r>
              <a:rPr lang="en-US" sz="1200" b="0" i="0" u="none" strike="noStrike" kern="1200" baseline="0" dirty="0">
                <a:solidFill>
                  <a:schemeClr val="tx1"/>
                </a:solidFill>
                <a:latin typeface="Arial" pitchFamily="-107" charset="0"/>
                <a:ea typeface="+mn-ea"/>
                <a:cs typeface="Arial" charset="0"/>
              </a:rPr>
              <a:t> We start with the concept of a system resource , or asset , that users and owners wish to protect.</a:t>
            </a:r>
            <a:endParaRPr lang="en-US" i="0" dirty="0">
              <a:latin typeface="Times New Roman" pitchFamily="-107" charset="0"/>
            </a:endParaRPr>
          </a:p>
          <a:p>
            <a:endParaRPr lang="en-US" dirty="0"/>
          </a:p>
          <a:p>
            <a:r>
              <a:rPr lang="en-US" sz="1200" b="1" i="0" kern="1200" dirty="0">
                <a:solidFill>
                  <a:schemeClr val="tx1"/>
                </a:solidFill>
                <a:effectLst/>
                <a:latin typeface="Arial" charset="0"/>
                <a:ea typeface="+mn-ea"/>
                <a:cs typeface="Arial" charset="0"/>
              </a:rPr>
              <a:t>Adversary (threat agent): </a:t>
            </a:r>
            <a:r>
              <a:rPr lang="en-US" sz="1200" b="0" i="0" kern="1200" dirty="0">
                <a:solidFill>
                  <a:schemeClr val="tx1"/>
                </a:solidFill>
                <a:effectLst/>
                <a:latin typeface="Arial" charset="0"/>
                <a:ea typeface="+mn-ea"/>
                <a:cs typeface="Arial" charset="0"/>
              </a:rPr>
              <a:t>Individual, group, organization, or government that conducts or has the intent to conduct detrimental activities.</a:t>
            </a:r>
            <a:r>
              <a:rPr lang="en-US" dirty="0"/>
              <a:t> </a:t>
            </a:r>
          </a:p>
          <a:p>
            <a:r>
              <a:rPr lang="en-US" sz="1200" b="1" i="0" kern="1200" dirty="0">
                <a:solidFill>
                  <a:schemeClr val="tx1"/>
                </a:solidFill>
                <a:effectLst/>
                <a:latin typeface="Arial" charset="0"/>
                <a:ea typeface="+mn-ea"/>
                <a:cs typeface="Arial" charset="0"/>
              </a:rPr>
              <a:t>Countermeasure: </a:t>
            </a:r>
            <a:r>
              <a:rPr lang="en-US" sz="1200" b="0" i="0" kern="1200" dirty="0">
                <a:solidFill>
                  <a:schemeClr val="tx1"/>
                </a:solidFill>
                <a:effectLst/>
                <a:latin typeface="Arial" charset="0"/>
                <a:ea typeface="+mn-ea"/>
                <a:cs typeface="Arial" charset="0"/>
              </a:rPr>
              <a:t>A device or techniques that has as its objective the impairment of the operational effectiveness of undesirable</a:t>
            </a:r>
          </a:p>
          <a:p>
            <a:r>
              <a:rPr lang="en-US" sz="1200" b="0" i="0" kern="1200" dirty="0">
                <a:solidFill>
                  <a:schemeClr val="tx1"/>
                </a:solidFill>
                <a:effectLst/>
                <a:latin typeface="Arial" charset="0"/>
                <a:ea typeface="+mn-ea"/>
                <a:cs typeface="Arial" charset="0"/>
              </a:rPr>
              <a:t>or adversarial activity, or the prevention of espionage, sabotage, theft, or unauthorized access to or use of</a:t>
            </a:r>
          </a:p>
          <a:p>
            <a:r>
              <a:rPr lang="en-US" sz="1200" b="0" i="0" kern="1200" dirty="0">
                <a:solidFill>
                  <a:schemeClr val="tx1"/>
                </a:solidFill>
                <a:effectLst/>
                <a:latin typeface="Arial" charset="0"/>
                <a:ea typeface="+mn-ea"/>
                <a:cs typeface="Arial" charset="0"/>
              </a:rPr>
              <a:t>sensitive information or information systems.</a:t>
            </a:r>
            <a:r>
              <a:rPr lang="en-US" dirty="0"/>
              <a:t> </a:t>
            </a:r>
          </a:p>
          <a:p>
            <a:r>
              <a:rPr lang="en-US" sz="1200" b="1" i="0" kern="1200" dirty="0">
                <a:solidFill>
                  <a:schemeClr val="tx1"/>
                </a:solidFill>
                <a:effectLst/>
                <a:latin typeface="Arial" charset="0"/>
                <a:ea typeface="+mn-ea"/>
                <a:cs typeface="Arial" charset="0"/>
              </a:rPr>
              <a:t>System Resource (Asset): </a:t>
            </a:r>
            <a:r>
              <a:rPr lang="en-US" sz="1200" b="0" i="0" kern="1200" dirty="0">
                <a:solidFill>
                  <a:schemeClr val="tx1"/>
                </a:solidFill>
                <a:effectLst/>
                <a:latin typeface="Arial" charset="0"/>
                <a:ea typeface="+mn-ea"/>
                <a:cs typeface="Arial" charset="0"/>
              </a:rPr>
              <a:t>A major application, general support system, high impact program, physical plant, mission critical system, personnel, equipment, or a logically related group of systems</a:t>
            </a:r>
            <a:r>
              <a:rPr lang="en-US" dirty="0"/>
              <a:t>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pPr>
              <a:defRPr/>
            </a:pPr>
            <a:fld id="{26D4D28E-1551-41D0-8B78-C10CA7836A95}" type="slidenum">
              <a:rPr lang="en-US" smtClean="0"/>
              <a:pPr>
                <a:defRPr/>
              </a:pPr>
              <a:t>27</a:t>
            </a:fld>
            <a:endParaRPr lang="en-US"/>
          </a:p>
        </p:txBody>
      </p:sp>
    </p:spTree>
    <p:extLst>
      <p:ext uri="{BB962C8B-B14F-4D97-AF65-F5344CB8AC3E}">
        <p14:creationId xmlns:p14="http://schemas.microsoft.com/office/powerpoint/2010/main" val="1929617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1A3DAD2C-9198-4D4B-AC5A-8F8C3AAA6E94}" type="slidenum">
              <a:rPr lang="en-US" smtClean="0"/>
              <a:pPr/>
              <a:t>28</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r>
              <a:rPr lang="en-US" b="1" dirty="0"/>
              <a:t>Information security</a:t>
            </a:r>
            <a:r>
              <a:rPr lang="en-US" dirty="0"/>
              <a:t>: </a:t>
            </a:r>
          </a:p>
          <a:p>
            <a:pPr lvl="1" eaLnBrk="1" hangingPunct="1">
              <a:buFontTx/>
              <a:buChar char="•"/>
            </a:pPr>
            <a:r>
              <a:rPr lang="en-US" dirty="0"/>
              <a:t>Is more than setting up a firewall, running an anti-virus software, using passwords to control access to databases, or discovering vulnerabilities in your system software.</a:t>
            </a:r>
          </a:p>
          <a:p>
            <a:pPr lvl="1" eaLnBrk="1" hangingPunct="1">
              <a:buFontTx/>
              <a:buChar char="•"/>
            </a:pPr>
            <a:r>
              <a:rPr lang="en-US" dirty="0"/>
              <a:t>Is about:</a:t>
            </a:r>
          </a:p>
          <a:p>
            <a:pPr lvl="2" eaLnBrk="1" hangingPunct="1">
              <a:buFontTx/>
              <a:buChar char="•"/>
            </a:pPr>
            <a:r>
              <a:rPr lang="en-US" sz="1400" i="1" dirty="0"/>
              <a:t>what  </a:t>
            </a:r>
            <a:r>
              <a:rPr lang="en-US" sz="1400" dirty="0"/>
              <a:t>needs to be protected,</a:t>
            </a:r>
            <a:r>
              <a:rPr lang="en-US" sz="1400" i="1" dirty="0"/>
              <a:t> i.e.</a:t>
            </a:r>
            <a:r>
              <a:rPr lang="en-US" sz="1400" dirty="0"/>
              <a:t>, assets such as PCs, software, applications, etc. </a:t>
            </a:r>
          </a:p>
          <a:p>
            <a:pPr lvl="2" eaLnBrk="1" hangingPunct="1">
              <a:buFontTx/>
              <a:buChar char="•"/>
            </a:pPr>
            <a:r>
              <a:rPr lang="en-US" sz="1400" i="1" dirty="0"/>
              <a:t>Why </a:t>
            </a:r>
            <a:r>
              <a:rPr lang="en-US" sz="1400" dirty="0"/>
              <a:t>assets need protection</a:t>
            </a:r>
            <a:r>
              <a:rPr lang="en-US" sz="1400" i="1" dirty="0"/>
              <a:t>, i.e., s</a:t>
            </a:r>
            <a:r>
              <a:rPr lang="en-US" sz="1400" dirty="0"/>
              <a:t>ecurity requirements such as Confidentiality, Integrity, and Availability (C.I.A.) </a:t>
            </a:r>
          </a:p>
          <a:p>
            <a:pPr lvl="2" eaLnBrk="1" hangingPunct="1">
              <a:buFontTx/>
              <a:buChar char="•"/>
            </a:pPr>
            <a:r>
              <a:rPr lang="en-US" sz="1400" i="1" dirty="0"/>
              <a:t>what</a:t>
            </a:r>
            <a:r>
              <a:rPr lang="en-US" sz="1400" dirty="0"/>
              <a:t> </a:t>
            </a:r>
            <a:r>
              <a:rPr lang="en-US" sz="1400" baseline="0" dirty="0"/>
              <a:t> do </a:t>
            </a:r>
            <a:r>
              <a:rPr lang="en-US" sz="1400" dirty="0"/>
              <a:t>we need to protect from? (e.g., threats, vulnerabilities, risks),</a:t>
            </a:r>
          </a:p>
          <a:p>
            <a:pPr lvl="2" eaLnBrk="1" hangingPunct="1">
              <a:buFontTx/>
              <a:buChar char="•"/>
            </a:pPr>
            <a:r>
              <a:rPr lang="en-US" sz="1400" i="1" dirty="0"/>
              <a:t>how</a:t>
            </a:r>
            <a:r>
              <a:rPr lang="en-US" sz="1400" dirty="0"/>
              <a:t> to protect assets, i.e., what </a:t>
            </a:r>
            <a:r>
              <a:rPr lang="en-US" sz="1400" b="1" i="1" dirty="0"/>
              <a:t>security measures</a:t>
            </a:r>
            <a:r>
              <a:rPr lang="en-US" sz="1400" dirty="0"/>
              <a:t> we need to protect assets</a:t>
            </a:r>
          </a:p>
          <a:p>
            <a:pPr lvl="3" eaLnBrk="1" hangingPunct="1">
              <a:buFontTx/>
              <a:buChar char="•"/>
            </a:pPr>
            <a:r>
              <a:rPr lang="en-US" sz="1400" dirty="0"/>
              <a:t>Security measures include techniques for:</a:t>
            </a:r>
          </a:p>
          <a:p>
            <a:pPr lvl="4" eaLnBrk="1" hangingPunct="1">
              <a:buFontTx/>
              <a:buChar char="•"/>
            </a:pPr>
            <a:r>
              <a:rPr lang="en-US" sz="1400" dirty="0"/>
              <a:t>Prevention: techniques, to prevent occurrence of threats, such as encryption, firewalls, etc.</a:t>
            </a:r>
          </a:p>
          <a:p>
            <a:pPr lvl="4" eaLnBrk="1" hangingPunct="1">
              <a:buFontTx/>
              <a:buChar char="•"/>
            </a:pPr>
            <a:r>
              <a:rPr lang="en-US" sz="1400" dirty="0"/>
              <a:t>Detection: techniques, to discover illegal actions, or attempted illegal access, such as IDSs (Intrusion Detection Systems), monitoring tools, etc. </a:t>
            </a:r>
          </a:p>
          <a:p>
            <a:pPr lvl="4" eaLnBrk="1" hangingPunct="1">
              <a:buFontTx/>
              <a:buChar char="•"/>
            </a:pPr>
            <a:r>
              <a:rPr lang="en-US" sz="1400" dirty="0"/>
              <a:t>Reaction or recovery: techniques to minimizes the damages and restore the CIA of damages assets (</a:t>
            </a:r>
            <a:r>
              <a:rPr lang="en-US" sz="1400" dirty="0" err="1"/>
              <a:t>eg</a:t>
            </a:r>
            <a:r>
              <a:rPr lang="en-US" sz="1400" dirty="0"/>
              <a:t>, backup of systems).</a:t>
            </a:r>
          </a:p>
          <a:p>
            <a:pPr lvl="3" eaLnBrk="1" hangingPunct="1">
              <a:buFontTx/>
              <a:buChar char="•"/>
            </a:pPr>
            <a:r>
              <a:rPr lang="en-US" sz="1400" dirty="0"/>
              <a:t>Security measures are an implementation of a </a:t>
            </a:r>
            <a:r>
              <a:rPr lang="en-US" sz="1400" b="1" i="1" dirty="0"/>
              <a:t>security policy.</a:t>
            </a:r>
          </a:p>
        </p:txBody>
      </p:sp>
    </p:spTree>
    <p:extLst>
      <p:ext uri="{BB962C8B-B14F-4D97-AF65-F5344CB8AC3E}">
        <p14:creationId xmlns:p14="http://schemas.microsoft.com/office/powerpoint/2010/main" val="17420079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8E4AA33B-0F2E-438E-82D5-1670F5AA7801}" type="slidenum">
              <a:rPr lang="en-US" smtClean="0"/>
              <a:pPr/>
              <a:t>29</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b="1" i="0" u="none" strike="noStrike" kern="1200" baseline="0" dirty="0">
                <a:solidFill>
                  <a:schemeClr val="tx1"/>
                </a:solidFill>
                <a:latin typeface="Arial" charset="0"/>
                <a:ea typeface="+mn-ea"/>
                <a:cs typeface="Arial" charset="0"/>
              </a:rPr>
              <a:t>Policy: </a:t>
            </a:r>
            <a:r>
              <a:rPr lang="en-US" sz="1200" b="0" i="0" u="none" strike="noStrike" kern="1200" baseline="0" dirty="0">
                <a:solidFill>
                  <a:schemeClr val="tx1"/>
                </a:solidFill>
                <a:latin typeface="Arial" charset="0"/>
                <a:ea typeface="+mn-ea"/>
                <a:cs typeface="Arial" charset="0"/>
              </a:rPr>
              <a:t>intentions and direction of an </a:t>
            </a:r>
            <a:r>
              <a:rPr lang="en-US" sz="1200" b="0" i="1" u="none" strike="noStrike" kern="1200" baseline="0" dirty="0">
                <a:solidFill>
                  <a:schemeClr val="tx1"/>
                </a:solidFill>
                <a:latin typeface="Arial" charset="0"/>
                <a:ea typeface="+mn-ea"/>
                <a:cs typeface="Arial" charset="0"/>
              </a:rPr>
              <a:t>organization</a:t>
            </a:r>
            <a:r>
              <a:rPr lang="en-US" sz="1200" b="0" i="0" u="none" strike="noStrike" kern="1200" baseline="0" dirty="0">
                <a:solidFill>
                  <a:schemeClr val="tx1"/>
                </a:solidFill>
                <a:latin typeface="Arial" charset="0"/>
                <a:ea typeface="+mn-ea"/>
                <a:cs typeface="Arial" charset="0"/>
              </a:rPr>
              <a:t>, as formally expressed by its </a:t>
            </a:r>
            <a:r>
              <a:rPr lang="en-US" sz="1200" b="0" i="1" u="none" strike="noStrike" kern="1200" baseline="0" dirty="0">
                <a:solidFill>
                  <a:schemeClr val="tx1"/>
                </a:solidFill>
                <a:latin typeface="Arial" charset="0"/>
                <a:ea typeface="+mn-ea"/>
                <a:cs typeface="Arial" charset="0"/>
              </a:rPr>
              <a:t>top management </a:t>
            </a:r>
            <a:endParaRPr lang="en-US" dirty="0"/>
          </a:p>
        </p:txBody>
      </p:sp>
    </p:spTree>
    <p:extLst>
      <p:ext uri="{BB962C8B-B14F-4D97-AF65-F5344CB8AC3E}">
        <p14:creationId xmlns:p14="http://schemas.microsoft.com/office/powerpoint/2010/main" val="13431717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8E4AA33B-0F2E-438E-82D5-1670F5AA7801}" type="slidenum">
              <a:rPr lang="en-US" smtClean="0"/>
              <a:pPr/>
              <a:t>30</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7661805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Y" sz="1200" b="1" kern="1200" dirty="0">
                <a:solidFill>
                  <a:schemeClr val="tx1"/>
                </a:solidFill>
                <a:effectLst/>
                <a:latin typeface="Arial" charset="0"/>
                <a:ea typeface="+mn-ea"/>
                <a:cs typeface="Arial" charset="0"/>
              </a:rPr>
              <a:t>نظام المعلومات في المشفى</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يعتمد نظام المعلومات في المشفى عمارة ثلاثية الطبقات </a:t>
            </a:r>
            <a:r>
              <a:rPr lang="en-US" sz="1200" kern="1200" dirty="0">
                <a:solidFill>
                  <a:schemeClr val="tx1"/>
                </a:solidFill>
                <a:effectLst/>
                <a:latin typeface="Arial" charset="0"/>
                <a:ea typeface="+mn-ea"/>
                <a:cs typeface="Arial" charset="0"/>
              </a:rPr>
              <a:t>(three-tier architecture)</a:t>
            </a:r>
            <a:r>
              <a:rPr lang="ar-SY" sz="1200" kern="1200" dirty="0">
                <a:solidFill>
                  <a:schemeClr val="tx1"/>
                </a:solidFill>
                <a:effectLst/>
                <a:latin typeface="Arial" charset="0"/>
                <a:ea typeface="+mn-ea"/>
                <a:cs typeface="Arial" charset="0"/>
              </a:rPr>
              <a:t>: طبقة العرض وتتمثل بالواجهة التي يستخدمها مستثمرو النظام لإنجاز وظائفهم، وطبقة التطبيق التي تعالج طلبات المستخدمين/الزبائن وتخاطب طبقة البيانات للإجابة على طلبات المستخدمين وترسل لهم نتائج المعالجة، وطبقة البيانات التي تحتوي على </a:t>
            </a:r>
            <a:r>
              <a:rPr lang="ar-SY" sz="1200" b="1" kern="1200" dirty="0">
                <a:solidFill>
                  <a:schemeClr val="tx1"/>
                </a:solidFill>
                <a:effectLst/>
                <a:latin typeface="Arial" charset="0"/>
                <a:ea typeface="+mn-ea"/>
                <a:cs typeface="Arial" charset="0"/>
              </a:rPr>
              <a:t>بيانات شخصية عامة</a:t>
            </a:r>
            <a:r>
              <a:rPr lang="ar-SY" sz="1200" kern="1200" dirty="0">
                <a:solidFill>
                  <a:schemeClr val="tx1"/>
                </a:solidFill>
                <a:effectLst/>
                <a:latin typeface="Arial" charset="0"/>
                <a:ea typeface="+mn-ea"/>
                <a:cs typeface="Arial" charset="0"/>
              </a:rPr>
              <a:t> للمرضى مثل الاسم والعنوان وتاريخ الميلاد وتخزن ضمن الجدول </a:t>
            </a:r>
            <a:r>
              <a:rPr lang="en-US" sz="1200" kern="1200" dirty="0" err="1">
                <a:solidFill>
                  <a:schemeClr val="tx1"/>
                </a:solidFill>
                <a:effectLst/>
                <a:latin typeface="Arial" charset="0"/>
                <a:ea typeface="+mn-ea"/>
                <a:cs typeface="Arial" charset="0"/>
              </a:rPr>
              <a:t>pnt_info</a:t>
            </a:r>
            <a:r>
              <a:rPr lang="ar-SY" sz="1200" kern="1200" dirty="0">
                <a:solidFill>
                  <a:schemeClr val="tx1"/>
                </a:solidFill>
                <a:effectLst/>
                <a:latin typeface="Arial" charset="0"/>
                <a:ea typeface="+mn-ea"/>
                <a:cs typeface="Arial" charset="0"/>
              </a:rPr>
              <a:t> ، و</a:t>
            </a:r>
            <a:r>
              <a:rPr lang="ar-SY" sz="1200" b="1" kern="1200" dirty="0">
                <a:solidFill>
                  <a:schemeClr val="tx1"/>
                </a:solidFill>
                <a:effectLst/>
                <a:latin typeface="Arial" charset="0"/>
                <a:ea typeface="+mn-ea"/>
                <a:cs typeface="Arial" charset="0"/>
              </a:rPr>
              <a:t>بيانات شخصية صحية</a:t>
            </a:r>
            <a:r>
              <a:rPr lang="ar-SY" sz="1200" kern="1200" dirty="0">
                <a:solidFill>
                  <a:schemeClr val="tx1"/>
                </a:solidFill>
                <a:effectLst/>
                <a:latin typeface="Arial" charset="0"/>
                <a:ea typeface="+mn-ea"/>
                <a:cs typeface="Arial" charset="0"/>
              </a:rPr>
              <a:t> ترتبط بالتشخيص والعلاج وتحفظ ضمن الجدول </a:t>
            </a:r>
            <a:r>
              <a:rPr lang="en-US" sz="1200" kern="1200" dirty="0" err="1">
                <a:solidFill>
                  <a:schemeClr val="tx1"/>
                </a:solidFill>
                <a:effectLst/>
                <a:latin typeface="Arial" charset="0"/>
                <a:ea typeface="+mn-ea"/>
                <a:cs typeface="Arial" charset="0"/>
              </a:rPr>
              <a:t>pnt_records</a:t>
            </a:r>
            <a:r>
              <a:rPr lang="ar-SY" sz="1200" kern="1200" dirty="0">
                <a:solidFill>
                  <a:schemeClr val="tx1"/>
                </a:solidFill>
                <a:effectLst/>
                <a:latin typeface="Arial" charset="0"/>
                <a:ea typeface="+mn-ea"/>
                <a:cs typeface="Arial" charset="0"/>
              </a:rPr>
              <a:t>. مستخدمو النظام هم مدير النظام وموظف القبول، والطبيب، والمريض.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يُسمح </a:t>
            </a:r>
            <a:r>
              <a:rPr lang="ar-SY" sz="1200" b="1" kern="1200" dirty="0">
                <a:solidFill>
                  <a:schemeClr val="tx1"/>
                </a:solidFill>
                <a:effectLst/>
                <a:latin typeface="Arial" charset="0"/>
                <a:ea typeface="+mn-ea"/>
                <a:cs typeface="Arial" charset="0"/>
              </a:rPr>
              <a:t>لمدير النظام</a:t>
            </a:r>
            <a:r>
              <a:rPr lang="ar-SY" sz="1200" kern="1200" dirty="0">
                <a:solidFill>
                  <a:schemeClr val="tx1"/>
                </a:solidFill>
                <a:effectLst/>
                <a:latin typeface="Arial" charset="0"/>
                <a:ea typeface="+mn-ea"/>
                <a:cs typeface="Arial" charset="0"/>
              </a:rPr>
              <a:t> بإدارة (إنشاء، إلغاء، تعديل، منح صالحيات، تدقيق/مراجعة عمليات...) حسابات المستخدمين من أطباء وموظفي القبول ومرضى للدخول إلى نظام المعلومات.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يستطيع </a:t>
            </a:r>
            <a:r>
              <a:rPr lang="ar-SY" sz="1200" b="1" kern="1200" dirty="0">
                <a:solidFill>
                  <a:schemeClr val="tx1"/>
                </a:solidFill>
                <a:effectLst/>
                <a:latin typeface="Arial" charset="0"/>
                <a:ea typeface="+mn-ea"/>
                <a:cs typeface="Arial" charset="0"/>
              </a:rPr>
              <a:t>موظف القبول</a:t>
            </a:r>
            <a:r>
              <a:rPr lang="ar-SY" sz="1200" kern="1200" dirty="0">
                <a:solidFill>
                  <a:schemeClr val="tx1"/>
                </a:solidFill>
                <a:effectLst/>
                <a:latin typeface="Arial" charset="0"/>
                <a:ea typeface="+mn-ea"/>
                <a:cs typeface="Arial" charset="0"/>
              </a:rPr>
              <a:t> فتح حساب للمريض لدى الدخول لأول مرة إلى المشفى، وقراءة وتعديل البيانات الشخصية العامة للمريض، وتسجيل معلومات عن مراجعات المريض وحالات القبول في المشفى والمغادرة.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يمكن </a:t>
            </a:r>
            <a:r>
              <a:rPr lang="ar-SY" sz="1200" b="1" kern="1200" dirty="0">
                <a:solidFill>
                  <a:schemeClr val="tx1"/>
                </a:solidFill>
                <a:effectLst/>
                <a:latin typeface="Arial" charset="0"/>
                <a:ea typeface="+mn-ea"/>
                <a:cs typeface="Arial" charset="0"/>
              </a:rPr>
              <a:t>للطبيب </a:t>
            </a:r>
            <a:r>
              <a:rPr lang="ar-SY" sz="1200" kern="1200" dirty="0">
                <a:solidFill>
                  <a:schemeClr val="tx1"/>
                </a:solidFill>
                <a:effectLst/>
                <a:latin typeface="Arial" charset="0"/>
                <a:ea typeface="+mn-ea"/>
                <a:cs typeface="Arial" charset="0"/>
              </a:rPr>
              <a:t>المعالج أن يطلع على كامل بيانات المريض وتعديل البيانات الصحية (إضافة تشخيص، إضافة علاج، تعديل علاج، ...).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يُسمح </a:t>
            </a:r>
            <a:r>
              <a:rPr lang="ar-SY" sz="1200" b="1" kern="1200" dirty="0">
                <a:solidFill>
                  <a:schemeClr val="tx1"/>
                </a:solidFill>
                <a:effectLst/>
                <a:latin typeface="Arial" charset="0"/>
                <a:ea typeface="+mn-ea"/>
                <a:cs typeface="Arial" charset="0"/>
              </a:rPr>
              <a:t>للمريض </a:t>
            </a:r>
            <a:r>
              <a:rPr lang="en-US" sz="1200" kern="1200" dirty="0">
                <a:solidFill>
                  <a:schemeClr val="tx1"/>
                </a:solidFill>
                <a:effectLst/>
                <a:latin typeface="Arial" charset="0"/>
                <a:ea typeface="+mn-ea"/>
                <a:cs typeface="Arial" charset="0"/>
              </a:rPr>
              <a:t>patient</a:t>
            </a:r>
            <a:r>
              <a:rPr lang="en-US" sz="1200" b="1" kern="1200" dirty="0">
                <a:solidFill>
                  <a:schemeClr val="tx1"/>
                </a:solidFill>
                <a:effectLst/>
                <a:latin typeface="Arial" charset="0"/>
                <a:ea typeface="+mn-ea"/>
                <a:cs typeface="Arial" charset="0"/>
              </a:rPr>
              <a:t> </a:t>
            </a:r>
            <a:r>
              <a:rPr lang="ar-SY" sz="1200" kern="1200" dirty="0">
                <a:solidFill>
                  <a:schemeClr val="tx1"/>
                </a:solidFill>
                <a:effectLst/>
                <a:latin typeface="Arial" charset="0"/>
                <a:ea typeface="+mn-ea"/>
                <a:cs typeface="Arial" charset="0"/>
              </a:rPr>
              <a:t>بالاطلاع على كامل بياناته الشخصية، وتعديل بياناته الشخصية العامة. و</a:t>
            </a:r>
            <a:r>
              <a:rPr lang="ar-SY" sz="1200" u="sng" kern="1200" dirty="0">
                <a:solidFill>
                  <a:schemeClr val="tx1"/>
                </a:solidFill>
                <a:effectLst/>
                <a:latin typeface="Arial" charset="0"/>
                <a:ea typeface="+mn-ea"/>
                <a:cs typeface="Arial" charset="0"/>
              </a:rPr>
              <a:t>يحق للمريض فقط الدخول إلى النظام من خارج شبكة المشفى</a:t>
            </a:r>
            <a:r>
              <a:rPr lang="ar-SY" sz="1200" kern="1200" dirty="0">
                <a:solidFill>
                  <a:schemeClr val="tx1"/>
                </a:solidFill>
                <a:effectLst/>
                <a:latin typeface="Arial" charset="0"/>
                <a:ea typeface="+mn-ea"/>
                <a:cs typeface="Arial" charset="0"/>
              </a:rPr>
              <a:t>.</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يَنفذ كل من المريض ومدير النظام والطبيب والموظف إلى النظام عبر الويب بعد تسجيل الدخول </a:t>
            </a:r>
            <a:r>
              <a:rPr lang="en-US" sz="1200" kern="1200" dirty="0">
                <a:solidFill>
                  <a:schemeClr val="tx1"/>
                </a:solidFill>
                <a:effectLst/>
                <a:latin typeface="Arial" charset="0"/>
                <a:ea typeface="+mn-ea"/>
                <a:cs typeface="Arial" charset="0"/>
              </a:rPr>
              <a:t>(login) </a:t>
            </a:r>
            <a:r>
              <a:rPr lang="ar-SY" sz="1200" kern="1200" dirty="0">
                <a:solidFill>
                  <a:schemeClr val="tx1"/>
                </a:solidFill>
                <a:effectLst/>
                <a:latin typeface="Arial" charset="0"/>
                <a:ea typeface="+mn-ea"/>
                <a:cs typeface="Arial" charset="0"/>
              </a:rPr>
              <a:t>بالاعتماد على اسم مستخدم (معرف) وكلمة مرور، وذلك من خلال واجهة ويب، وتتاح لهم واجهة تستعرض العمليات التي يسمح لكل منهم القيام بها.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يمكن للمستخدم بعد تسجيل الدخول إلى النظام من القيام بالعمليات التي يحتاجها (قراءة، كتابة،...) من خلال </a:t>
            </a:r>
            <a:r>
              <a:rPr lang="ar-SY" sz="1200" b="1" kern="1200" dirty="0">
                <a:solidFill>
                  <a:schemeClr val="tx1"/>
                </a:solidFill>
                <a:effectLst/>
                <a:latin typeface="Arial" charset="0"/>
                <a:ea typeface="+mn-ea"/>
                <a:cs typeface="Arial" charset="0"/>
              </a:rPr>
              <a:t>طلب استعلام</a:t>
            </a:r>
            <a:r>
              <a:rPr lang="ar-SY" sz="1200" kern="1200" dirty="0">
                <a:solidFill>
                  <a:schemeClr val="tx1"/>
                </a:solidFill>
                <a:effectLst/>
                <a:latin typeface="Arial" charset="0"/>
                <a:ea typeface="+mn-ea"/>
                <a:cs typeface="Arial" charset="0"/>
              </a:rPr>
              <a:t> </a:t>
            </a:r>
            <a:r>
              <a:rPr lang="en-US" sz="1200" kern="1200" dirty="0" err="1">
                <a:solidFill>
                  <a:schemeClr val="tx1"/>
                </a:solidFill>
                <a:effectLst/>
                <a:latin typeface="Arial" charset="0"/>
                <a:ea typeface="+mn-ea"/>
                <a:cs typeface="Arial" charset="0"/>
              </a:rPr>
              <a:t>query_request</a:t>
            </a:r>
            <a:r>
              <a:rPr lang="ar-SY" sz="1200" kern="1200" dirty="0">
                <a:solidFill>
                  <a:schemeClr val="tx1"/>
                </a:solidFill>
                <a:effectLst/>
                <a:latin typeface="Arial" charset="0"/>
                <a:ea typeface="+mn-ea"/>
                <a:cs typeface="Arial" charset="0"/>
              </a:rPr>
              <a:t> يحتوي على معرف المستخدم ونوع العملية (قراءة، تعديل، إضافة، حذف،....) واسم المريض ومعرفه إن كان متاحاً. وفي حال كانت العملية من النوع تعديل بيانات أو إضافة بيانات جديدة فسيحتوي طلب الاستعلام على البيانات المراد تعديلها أو إضافتها. ويعيد النظام إلى المستخدم نتيجة المعالجة ضمن </a:t>
            </a:r>
            <a:r>
              <a:rPr lang="ar-SY" sz="1200" b="1" kern="1200" dirty="0">
                <a:solidFill>
                  <a:schemeClr val="tx1"/>
                </a:solidFill>
                <a:effectLst/>
                <a:latin typeface="Arial" charset="0"/>
                <a:ea typeface="+mn-ea"/>
                <a:cs typeface="Arial" charset="0"/>
              </a:rPr>
              <a:t>جواب استعلام</a:t>
            </a:r>
            <a:r>
              <a:rPr lang="ar-SY" sz="1200" kern="1200" dirty="0">
                <a:solidFill>
                  <a:schemeClr val="tx1"/>
                </a:solidFill>
                <a:effectLst/>
                <a:latin typeface="Arial" charset="0"/>
                <a:ea typeface="+mn-ea"/>
                <a:cs typeface="Arial" charset="0"/>
              </a:rPr>
              <a:t> </a:t>
            </a:r>
            <a:r>
              <a:rPr lang="en-US" sz="1200" kern="1200" dirty="0">
                <a:solidFill>
                  <a:schemeClr val="tx1"/>
                </a:solidFill>
                <a:effectLst/>
                <a:latin typeface="Arial" charset="0"/>
                <a:ea typeface="+mn-ea"/>
                <a:cs typeface="Arial" charset="0"/>
              </a:rPr>
              <a:t>reply</a:t>
            </a:r>
            <a:r>
              <a:rPr lang="ar-SY" sz="1200" kern="1200" dirty="0">
                <a:solidFill>
                  <a:schemeClr val="tx1"/>
                </a:solidFill>
                <a:effectLst/>
                <a:latin typeface="Arial" charset="0"/>
                <a:ea typeface="+mn-ea"/>
                <a:cs typeface="Arial" charset="0"/>
              </a:rPr>
              <a:t>_ </a:t>
            </a:r>
            <a:r>
              <a:rPr lang="en-US" sz="1200" kern="1200" dirty="0">
                <a:solidFill>
                  <a:schemeClr val="tx1"/>
                </a:solidFill>
                <a:effectLst/>
                <a:latin typeface="Arial" charset="0"/>
                <a:ea typeface="+mn-ea"/>
                <a:cs typeface="Arial" charset="0"/>
              </a:rPr>
              <a:t>query</a:t>
            </a:r>
            <a:r>
              <a:rPr lang="ar-SY" sz="1200" kern="1200" dirty="0">
                <a:solidFill>
                  <a:schemeClr val="tx1"/>
                </a:solidFill>
                <a:effectLst/>
                <a:latin typeface="Arial" charset="0"/>
                <a:ea typeface="+mn-ea"/>
                <a:cs typeface="Arial" charset="0"/>
              </a:rPr>
              <a:t> يحتوي على اسم المريض ومعرفه ونتيجة معالجة طلب الاستعلام.</a:t>
            </a:r>
            <a:endParaRPr lang="en-US" sz="1200" kern="1200" dirty="0">
              <a:solidFill>
                <a:schemeClr val="tx1"/>
              </a:solidFill>
              <a:effectLst/>
              <a:latin typeface="Arial" charset="0"/>
              <a:ea typeface="+mn-ea"/>
              <a:cs typeface="Arial" charset="0"/>
            </a:endParaRPr>
          </a:p>
          <a:p>
            <a:pPr algn="r" rtl="1"/>
            <a:r>
              <a:rPr lang="ar-SY" sz="1200" b="1" kern="1200" dirty="0">
                <a:solidFill>
                  <a:schemeClr val="tx1"/>
                </a:solidFill>
                <a:effectLst/>
                <a:latin typeface="Arial" charset="0"/>
                <a:ea typeface="+mn-ea"/>
                <a:cs typeface="Arial" charset="0"/>
              </a:rPr>
              <a:t>المتطلبات الأمنية للنظام:</a:t>
            </a:r>
            <a:r>
              <a:rPr lang="ar-SY" sz="1200" kern="1200" dirty="0">
                <a:solidFill>
                  <a:schemeClr val="tx1"/>
                </a:solidFill>
                <a:effectLst/>
                <a:latin typeface="Arial" charset="0"/>
                <a:ea typeface="+mn-ea"/>
                <a:cs typeface="Arial" charset="0"/>
              </a:rPr>
              <a:t> تريد إدارة المشفى من نظام المعلومات تحقيق المتطلبات التالية: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1) يجب أن يسمح نظام المعلومات للكادرين الطبي والإداري وللمريض فقط بالنفاذ إلى بيانات المريض حسب الحاجة والصلاحيات آنفة الذكر.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2) يجب أن تكون بيانات المرضى (الشخصية العامة، والصحية) متاحة بشكل دائم لمستخدمي النظام وفق الصلاحيات الممنوحة لهم.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3) يجب أن يسمح النظام بمراجعة العمليات التي تجرى على بيانات المرضى.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4) يجب أن يؤخذ بعين الاعتبار أهمية وحساسية البيانات الصحية للمرضى لذلك سيسمح فقط للطبيب المعالج بتعديل بيانات المريض الصحية بطريقة لا تسمح له انكار إجراء أي تعديل (إضافة، حذف، تحديث).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5) يجب على المشفى التقيد بقوانين الخصوصية.</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6) يسمح لوزارة الصحة بالقيام بعمليات إحصائية على قواعد المعطيات.</a:t>
            </a:r>
            <a:endParaRPr lang="ar-SY" dirty="0"/>
          </a:p>
        </p:txBody>
      </p:sp>
      <p:sp>
        <p:nvSpPr>
          <p:cNvPr id="4" name="Slide Number Placeholder 3"/>
          <p:cNvSpPr>
            <a:spLocks noGrp="1"/>
          </p:cNvSpPr>
          <p:nvPr>
            <p:ph type="sldNum" sz="quarter" idx="10"/>
          </p:nvPr>
        </p:nvSpPr>
        <p:spPr/>
        <p:txBody>
          <a:bodyPr/>
          <a:lstStyle/>
          <a:p>
            <a:pPr>
              <a:defRPr/>
            </a:pPr>
            <a:fld id="{26D4D28E-1551-41D0-8B78-C10CA7836A95}" type="slidenum">
              <a:rPr lang="en-US" smtClean="0"/>
              <a:pPr>
                <a:defRPr/>
              </a:pPr>
              <a:t>34</a:t>
            </a:fld>
            <a:endParaRPr lang="en-US"/>
          </a:p>
        </p:txBody>
      </p:sp>
    </p:spTree>
    <p:extLst>
      <p:ext uri="{BB962C8B-B14F-4D97-AF65-F5344CB8AC3E}">
        <p14:creationId xmlns:p14="http://schemas.microsoft.com/office/powerpoint/2010/main" val="26152752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Y" sz="1200" kern="1200" dirty="0">
                <a:solidFill>
                  <a:schemeClr val="tx1"/>
                </a:solidFill>
                <a:effectLst/>
                <a:latin typeface="Arial" charset="0"/>
                <a:ea typeface="+mn-ea"/>
                <a:cs typeface="Arial" charset="0"/>
              </a:rPr>
              <a:t>إدارة الحسابات المصرفية عبر الشبكة</a:t>
            </a:r>
            <a:endParaRPr lang="en-US" sz="1200" kern="1200" dirty="0">
              <a:solidFill>
                <a:schemeClr val="tx1"/>
              </a:solidFill>
              <a:effectLst/>
              <a:latin typeface="Arial" charset="0"/>
              <a:ea typeface="+mn-ea"/>
              <a:cs typeface="Arial" charset="0"/>
            </a:endParaRPr>
          </a:p>
          <a:p>
            <a:pPr algn="r" rtl="1"/>
            <a:r>
              <a:rPr lang="en-US" sz="1200" kern="1200" dirty="0">
                <a:solidFill>
                  <a:schemeClr val="tx1"/>
                </a:solidFill>
                <a:effectLst/>
                <a:latin typeface="Arial" charset="0"/>
                <a:ea typeface="+mn-ea"/>
                <a:cs typeface="Arial" charset="0"/>
              </a:rPr>
              <a:t>	</a:t>
            </a:r>
          </a:p>
          <a:p>
            <a:pPr algn="r" rtl="1"/>
            <a:r>
              <a:rPr lang="ar-SY" sz="1200" kern="1200" dirty="0">
                <a:solidFill>
                  <a:schemeClr val="tx1"/>
                </a:solidFill>
                <a:effectLst/>
                <a:latin typeface="Arial" charset="0"/>
                <a:ea typeface="+mn-ea"/>
                <a:cs typeface="Arial" charset="0"/>
              </a:rPr>
              <a:t>تعد عمليات السحب عن طريق الصرافات الآلية </a:t>
            </a:r>
            <a:r>
              <a:rPr lang="en-US" sz="1200" kern="1200" dirty="0">
                <a:solidFill>
                  <a:schemeClr val="tx1"/>
                </a:solidFill>
                <a:effectLst/>
                <a:latin typeface="Arial" charset="0"/>
                <a:ea typeface="+mn-ea"/>
                <a:cs typeface="Arial" charset="0"/>
              </a:rPr>
              <a:t>(ATM)</a:t>
            </a:r>
            <a:r>
              <a:rPr lang="ar-SY" sz="1200" kern="1200" dirty="0">
                <a:solidFill>
                  <a:schemeClr val="tx1"/>
                </a:solidFill>
                <a:effectLst/>
                <a:latin typeface="Arial" charset="0"/>
                <a:ea typeface="+mn-ea"/>
                <a:cs typeface="Arial" charset="0"/>
              </a:rPr>
              <a:t> والتحويل الداخلي من الخدمات الأساسية المقدمة لأصحاب الحسابات المصرفية.  تود إدارة المصرف </a:t>
            </a:r>
            <a:r>
              <a:rPr lang="en-US" sz="1200" kern="1200" dirty="0">
                <a:solidFill>
                  <a:schemeClr val="tx1"/>
                </a:solidFill>
                <a:effectLst/>
                <a:latin typeface="Arial" charset="0"/>
                <a:ea typeface="+mn-ea"/>
                <a:cs typeface="Arial" charset="0"/>
              </a:rPr>
              <a:t>XYZ </a:t>
            </a:r>
            <a:r>
              <a:rPr lang="ar-SY" sz="1200" kern="1200" dirty="0">
                <a:solidFill>
                  <a:schemeClr val="tx1"/>
                </a:solidFill>
                <a:effectLst/>
                <a:latin typeface="Arial" charset="0"/>
                <a:ea typeface="+mn-ea"/>
                <a:cs typeface="Arial" charset="0"/>
              </a:rPr>
              <a:t>أتمتة خدماتها المقدمة للزبائن مالكي الحسابات المصرفية. يجب أن يسمح النظام المؤتمت لإدارة المصرف بتقديم الخدمات بطريقة آمنة. يقدم الشكل التالي الشبكة الداخلية للمصرف والصرافات الموزعة جغرافيا في مناطق مختلفة وترتبط بشبكة المصرف الداخلية عن طريق الانتنرت.</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تود إدارة المصرف التقيد بالأنظمة والقوانين التي تحمي الخصوصية.</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 </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المطلوب:</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1. حلل النظام (الجزء المتعلق بالتهديدات والثغرات والمتطلبات الأمنية)</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2. صمم النظام (الجزء المتعلق بالآليات الأمنية)</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3. نفذ النظام (الجزء المتعلق بالأدوات الخاصة بتنفيذ الآليات)</a:t>
            </a:r>
            <a:endParaRPr lang="en-US" sz="1200" kern="1200" dirty="0">
              <a:solidFill>
                <a:schemeClr val="tx1"/>
              </a:solidFill>
              <a:effectLst/>
              <a:latin typeface="Arial" charset="0"/>
              <a:ea typeface="+mn-ea"/>
              <a:cs typeface="Arial" charset="0"/>
            </a:endParaRPr>
          </a:p>
          <a:p>
            <a:pPr algn="r" rtl="1"/>
            <a:r>
              <a:rPr lang="ar-SY" sz="1200" kern="1200" dirty="0">
                <a:solidFill>
                  <a:schemeClr val="tx1"/>
                </a:solidFill>
                <a:effectLst/>
                <a:latin typeface="Arial" charset="0"/>
                <a:ea typeface="+mn-ea"/>
                <a:cs typeface="Arial" charset="0"/>
              </a:rPr>
              <a:t>4. اختبر النظام (الجزء المتعلق بالسرية والسلامة والإتاحة)</a:t>
            </a:r>
            <a:endParaRPr lang="en-US" sz="1200" kern="1200" dirty="0">
              <a:solidFill>
                <a:schemeClr val="tx1"/>
              </a:solidFill>
              <a:effectLst/>
              <a:latin typeface="Arial" charset="0"/>
              <a:ea typeface="+mn-ea"/>
              <a:cs typeface="Arial" charset="0"/>
            </a:endParaRPr>
          </a:p>
          <a:p>
            <a:endParaRPr lang="ar-SY" dirty="0"/>
          </a:p>
        </p:txBody>
      </p:sp>
      <p:sp>
        <p:nvSpPr>
          <p:cNvPr id="4" name="Slide Number Placeholder 3"/>
          <p:cNvSpPr>
            <a:spLocks noGrp="1"/>
          </p:cNvSpPr>
          <p:nvPr>
            <p:ph type="sldNum" sz="quarter" idx="10"/>
          </p:nvPr>
        </p:nvSpPr>
        <p:spPr/>
        <p:txBody>
          <a:bodyPr/>
          <a:lstStyle/>
          <a:p>
            <a:pPr>
              <a:defRPr/>
            </a:pPr>
            <a:fld id="{26D4D28E-1551-41D0-8B78-C10CA7836A95}" type="slidenum">
              <a:rPr lang="en-US" smtClean="0"/>
              <a:pPr>
                <a:defRPr/>
              </a:pPr>
              <a:t>35</a:t>
            </a:fld>
            <a:endParaRPr lang="en-US"/>
          </a:p>
        </p:txBody>
      </p:sp>
    </p:spTree>
    <p:extLst>
      <p:ext uri="{BB962C8B-B14F-4D97-AF65-F5344CB8AC3E}">
        <p14:creationId xmlns:p14="http://schemas.microsoft.com/office/powerpoint/2010/main" val="1372866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6350"/>
            <a:ext cx="9140825" cy="6851650"/>
            <a:chOff x="0" y="4"/>
            <a:chExt cx="5758" cy="4316"/>
          </a:xfrm>
        </p:grpSpPr>
        <p:grpSp>
          <p:nvGrpSpPr>
            <p:cNvPr id="5" name="Group 3"/>
            <p:cNvGrpSpPr>
              <a:grpSpLocks/>
            </p:cNvGrpSpPr>
            <p:nvPr/>
          </p:nvGrpSpPr>
          <p:grpSpPr bwMode="auto">
            <a:xfrm>
              <a:off x="0" y="1161"/>
              <a:ext cx="5758" cy="3159"/>
              <a:chOff x="0" y="1161"/>
              <a:chExt cx="5758" cy="3159"/>
            </a:xfrm>
          </p:grpSpPr>
          <p:sp>
            <p:nvSpPr>
              <p:cNvPr id="16" name="Freeform 4"/>
              <p:cNvSpPr>
                <a:spLocks/>
              </p:cNvSpPr>
              <p:nvPr/>
            </p:nvSpPr>
            <p:spPr bwMode="hidden">
              <a:xfrm>
                <a:off x="558" y="1161"/>
                <a:ext cx="5200" cy="3159"/>
              </a:xfrm>
              <a:custGeom>
                <a:avLst/>
                <a:gdLst/>
                <a:ahLst/>
                <a:cxnLst>
                  <a:cxn ang="0">
                    <a:pos x="0" y="3159"/>
                  </a:cxn>
                  <a:cxn ang="0">
                    <a:pos x="5184" y="3159"/>
                  </a:cxn>
                  <a:cxn ang="0">
                    <a:pos x="5184" y="0"/>
                  </a:cxn>
                  <a:cxn ang="0">
                    <a:pos x="0" y="0"/>
                  </a:cxn>
                  <a:cxn ang="0">
                    <a:pos x="0" y="3159"/>
                  </a:cxn>
                  <a:cxn ang="0">
                    <a:pos x="0" y="3159"/>
                  </a:cxn>
                </a:cxnLst>
                <a:rect l="0" t="0" r="r" b="b"/>
                <a:pathLst>
                  <a:path w="5184" h="3159">
                    <a:moveTo>
                      <a:pt x="0" y="3159"/>
                    </a:moveTo>
                    <a:lnTo>
                      <a:pt x="5184" y="3159"/>
                    </a:lnTo>
                    <a:lnTo>
                      <a:pt x="5184" y="0"/>
                    </a:lnTo>
                    <a:lnTo>
                      <a:pt x="0" y="0"/>
                    </a:lnTo>
                    <a:lnTo>
                      <a:pt x="0" y="3159"/>
                    </a:lnTo>
                    <a:lnTo>
                      <a:pt x="0" y="3159"/>
                    </a:lnTo>
                    <a:close/>
                  </a:path>
                </a:pathLst>
              </a:custGeom>
              <a:gradFill rotWithShape="0">
                <a:gsLst>
                  <a:gs pos="0">
                    <a:schemeClr val="bg1"/>
                  </a:gs>
                  <a:gs pos="100000">
                    <a:schemeClr val="bg2"/>
                  </a:gs>
                </a:gsLst>
                <a:lin ang="0" scaled="1"/>
              </a:gradFill>
              <a:ln w="9525">
                <a:noFill/>
                <a:round/>
                <a:headEnd/>
                <a:tailEnd/>
              </a:ln>
            </p:spPr>
            <p:txBody>
              <a:bodyPr/>
              <a:lstStyle/>
              <a:p>
                <a:pPr>
                  <a:defRPr/>
                </a:pPr>
                <a:endParaRPr lang="en-US"/>
              </a:p>
            </p:txBody>
          </p:sp>
          <p:sp>
            <p:nvSpPr>
              <p:cNvPr id="17" name="Freeform 5"/>
              <p:cNvSpPr>
                <a:spLocks/>
              </p:cNvSpPr>
              <p:nvPr/>
            </p:nvSpPr>
            <p:spPr bwMode="hidden">
              <a:xfrm>
                <a:off x="0" y="1161"/>
                <a:ext cx="558" cy="3159"/>
              </a:xfrm>
              <a:custGeom>
                <a:avLst/>
                <a:gdLst/>
                <a:ahLst/>
                <a:cxnLst>
                  <a:cxn ang="0">
                    <a:pos x="0" y="0"/>
                  </a:cxn>
                  <a:cxn ang="0">
                    <a:pos x="0" y="3159"/>
                  </a:cxn>
                  <a:cxn ang="0">
                    <a:pos x="556" y="3159"/>
                  </a:cxn>
                  <a:cxn ang="0">
                    <a:pos x="556" y="0"/>
                  </a:cxn>
                  <a:cxn ang="0">
                    <a:pos x="0" y="0"/>
                  </a:cxn>
                  <a:cxn ang="0">
                    <a:pos x="0" y="0"/>
                  </a:cxn>
                </a:cxnLst>
                <a:rect l="0" t="0" r="r" b="b"/>
                <a:pathLst>
                  <a:path w="556" h="3159">
                    <a:moveTo>
                      <a:pt x="0" y="0"/>
                    </a:moveTo>
                    <a:lnTo>
                      <a:pt x="0" y="3159"/>
                    </a:lnTo>
                    <a:lnTo>
                      <a:pt x="556" y="3159"/>
                    </a:lnTo>
                    <a:lnTo>
                      <a:pt x="556" y="0"/>
                    </a:lnTo>
                    <a:lnTo>
                      <a:pt x="0" y="0"/>
                    </a:lnTo>
                    <a:lnTo>
                      <a:pt x="0" y="0"/>
                    </a:lnTo>
                    <a:close/>
                  </a:path>
                </a:pathLst>
              </a:custGeom>
              <a:gradFill rotWithShape="0">
                <a:gsLst>
                  <a:gs pos="0">
                    <a:schemeClr val="bg1"/>
                  </a:gs>
                  <a:gs pos="100000">
                    <a:schemeClr val="bg2"/>
                  </a:gs>
                </a:gsLst>
                <a:lin ang="5400000" scaled="1"/>
              </a:gradFill>
              <a:ln w="9525">
                <a:noFill/>
                <a:round/>
                <a:headEnd/>
                <a:tailEnd/>
              </a:ln>
            </p:spPr>
            <p:txBody>
              <a:bodyPr/>
              <a:lstStyle/>
              <a:p>
                <a:pPr>
                  <a:defRPr/>
                </a:pPr>
                <a:endParaRPr lang="en-US"/>
              </a:p>
            </p:txBody>
          </p:sp>
        </p:grpSp>
        <p:sp>
          <p:nvSpPr>
            <p:cNvPr id="6" name="Freeform 6"/>
            <p:cNvSpPr>
              <a:spLocks/>
            </p:cNvSpPr>
            <p:nvPr/>
          </p:nvSpPr>
          <p:spPr bwMode="ltGray">
            <a:xfrm>
              <a:off x="552" y="951"/>
              <a:ext cx="12" cy="420"/>
            </a:xfrm>
            <a:custGeom>
              <a:avLst/>
              <a:gdLst/>
              <a:ahLst/>
              <a:cxnLst>
                <a:cxn ang="0">
                  <a:pos x="0" y="0"/>
                </a:cxn>
                <a:cxn ang="0">
                  <a:pos x="0" y="420"/>
                </a:cxn>
                <a:cxn ang="0">
                  <a:pos x="12" y="420"/>
                </a:cxn>
                <a:cxn ang="0">
                  <a:pos x="12" y="0"/>
                </a:cxn>
                <a:cxn ang="0">
                  <a:pos x="0" y="0"/>
                </a:cxn>
                <a:cxn ang="0">
                  <a:pos x="0" y="0"/>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w="9525">
              <a:noFill/>
              <a:round/>
              <a:headEnd/>
              <a:tailEnd/>
            </a:ln>
          </p:spPr>
          <p:txBody>
            <a:bodyPr/>
            <a:lstStyle/>
            <a:p>
              <a:pPr>
                <a:defRPr/>
              </a:pPr>
              <a:endParaRPr lang="en-US"/>
            </a:p>
          </p:txBody>
        </p:sp>
        <p:sp>
          <p:nvSpPr>
            <p:cNvPr id="7" name="Freeform 7"/>
            <p:cNvSpPr>
              <a:spLocks/>
            </p:cNvSpPr>
            <p:nvPr/>
          </p:nvSpPr>
          <p:spPr bwMode="ltGray">
            <a:xfrm>
              <a:off x="767" y="1155"/>
              <a:ext cx="252" cy="12"/>
            </a:xfrm>
            <a:custGeom>
              <a:avLst/>
              <a:gdLst/>
              <a:ahLst/>
              <a:cxnLst>
                <a:cxn ang="0">
                  <a:pos x="251" y="0"/>
                </a:cxn>
                <a:cxn ang="0">
                  <a:pos x="0" y="0"/>
                </a:cxn>
                <a:cxn ang="0">
                  <a:pos x="0" y="12"/>
                </a:cxn>
                <a:cxn ang="0">
                  <a:pos x="251" y="12"/>
                </a:cxn>
                <a:cxn ang="0">
                  <a:pos x="251" y="0"/>
                </a:cxn>
                <a:cxn ang="0">
                  <a:pos x="251" y="0"/>
                </a:cxn>
              </a:cxnLst>
              <a:rect l="0" t="0" r="r" b="b"/>
              <a:pathLst>
                <a:path w="251" h="12">
                  <a:moveTo>
                    <a:pt x="251" y="0"/>
                  </a:moveTo>
                  <a:lnTo>
                    <a:pt x="0" y="0"/>
                  </a:lnTo>
                  <a:lnTo>
                    <a:pt x="0" y="12"/>
                  </a:lnTo>
                  <a:lnTo>
                    <a:pt x="251" y="12"/>
                  </a:lnTo>
                  <a:lnTo>
                    <a:pt x="251" y="0"/>
                  </a:lnTo>
                  <a:lnTo>
                    <a:pt x="251" y="0"/>
                  </a:lnTo>
                  <a:close/>
                </a:path>
              </a:pathLst>
            </a:custGeom>
            <a:gradFill rotWithShape="0">
              <a:gsLst>
                <a:gs pos="0">
                  <a:schemeClr val="accent2"/>
                </a:gs>
                <a:gs pos="100000">
                  <a:schemeClr val="bg2"/>
                </a:gs>
              </a:gsLst>
              <a:lin ang="0" scaled="1"/>
            </a:gradFill>
            <a:ln w="9525">
              <a:noFill/>
              <a:round/>
              <a:headEnd/>
              <a:tailEnd/>
            </a:ln>
          </p:spPr>
          <p:txBody>
            <a:bodyPr/>
            <a:lstStyle/>
            <a:p>
              <a:pPr>
                <a:defRPr/>
              </a:pPr>
              <a:endParaRPr lang="en-US"/>
            </a:p>
          </p:txBody>
        </p:sp>
        <p:sp>
          <p:nvSpPr>
            <p:cNvPr id="8" name="Freeform 8"/>
            <p:cNvSpPr>
              <a:spLocks/>
            </p:cNvSpPr>
            <p:nvPr/>
          </p:nvSpPr>
          <p:spPr bwMode="ltGray">
            <a:xfrm>
              <a:off x="0" y="1155"/>
              <a:ext cx="351" cy="12"/>
            </a:xfrm>
            <a:custGeom>
              <a:avLst/>
              <a:gdLst/>
              <a:ahLst/>
              <a:cxnLst>
                <a:cxn ang="0">
                  <a:pos x="0" y="0"/>
                </a:cxn>
                <a:cxn ang="0">
                  <a:pos x="0" y="12"/>
                </a:cxn>
                <a:cxn ang="0">
                  <a:pos x="251" y="12"/>
                </a:cxn>
                <a:cxn ang="0">
                  <a:pos x="251" y="0"/>
                </a:cxn>
                <a:cxn ang="0">
                  <a:pos x="0" y="0"/>
                </a:cxn>
                <a:cxn ang="0">
                  <a:pos x="0" y="0"/>
                </a:cxn>
              </a:cxnLst>
              <a:rect l="0" t="0" r="r" b="b"/>
              <a:pathLst>
                <a:path w="251" h="12">
                  <a:moveTo>
                    <a:pt x="0" y="0"/>
                  </a:moveTo>
                  <a:lnTo>
                    <a:pt x="0" y="12"/>
                  </a:lnTo>
                  <a:lnTo>
                    <a:pt x="251" y="12"/>
                  </a:lnTo>
                  <a:lnTo>
                    <a:pt x="251" y="0"/>
                  </a:lnTo>
                  <a:lnTo>
                    <a:pt x="0" y="0"/>
                  </a:lnTo>
                  <a:lnTo>
                    <a:pt x="0" y="0"/>
                  </a:lnTo>
                  <a:close/>
                </a:path>
              </a:pathLst>
            </a:custGeom>
            <a:gradFill rotWithShape="0">
              <a:gsLst>
                <a:gs pos="0">
                  <a:schemeClr val="bg2"/>
                </a:gs>
                <a:gs pos="100000">
                  <a:schemeClr val="accent2"/>
                </a:gs>
              </a:gsLst>
              <a:lin ang="0" scaled="1"/>
            </a:gradFill>
            <a:ln w="9525">
              <a:noFill/>
              <a:round/>
              <a:headEnd/>
              <a:tailEnd/>
            </a:ln>
          </p:spPr>
          <p:txBody>
            <a:bodyPr/>
            <a:lstStyle/>
            <a:p>
              <a:pPr>
                <a:defRPr/>
              </a:pPr>
              <a:endParaRPr lang="en-US"/>
            </a:p>
          </p:txBody>
        </p:sp>
        <p:grpSp>
          <p:nvGrpSpPr>
            <p:cNvPr id="9" name="Group 9"/>
            <p:cNvGrpSpPr>
              <a:grpSpLocks/>
            </p:cNvGrpSpPr>
            <p:nvPr/>
          </p:nvGrpSpPr>
          <p:grpSpPr bwMode="auto">
            <a:xfrm>
              <a:off x="348" y="4"/>
              <a:ext cx="5410" cy="4316"/>
              <a:chOff x="348" y="4"/>
              <a:chExt cx="5410" cy="4316"/>
            </a:xfrm>
          </p:grpSpPr>
          <p:sp>
            <p:nvSpPr>
              <p:cNvPr id="10" name="Freeform 10"/>
              <p:cNvSpPr>
                <a:spLocks/>
              </p:cNvSpPr>
              <p:nvPr/>
            </p:nvSpPr>
            <p:spPr bwMode="ltGray">
              <a:xfrm>
                <a:off x="552" y="4"/>
                <a:ext cx="12" cy="695"/>
              </a:xfrm>
              <a:custGeom>
                <a:avLst/>
                <a:gdLst/>
                <a:ahLst/>
                <a:cxnLst>
                  <a:cxn ang="0">
                    <a:pos x="12" y="0"/>
                  </a:cxn>
                  <a:cxn ang="0">
                    <a:pos x="0" y="0"/>
                  </a:cxn>
                  <a:cxn ang="0">
                    <a:pos x="0" y="695"/>
                  </a:cxn>
                  <a:cxn ang="0">
                    <a:pos x="12" y="695"/>
                  </a:cxn>
                  <a:cxn ang="0">
                    <a:pos x="12" y="0"/>
                  </a:cxn>
                  <a:cxn ang="0">
                    <a:pos x="12" y="0"/>
                  </a:cxn>
                </a:cxnLst>
                <a:rect l="0" t="0" r="r" b="b"/>
                <a:pathLst>
                  <a:path w="12" h="695">
                    <a:moveTo>
                      <a:pt x="12" y="0"/>
                    </a:moveTo>
                    <a:lnTo>
                      <a:pt x="0" y="0"/>
                    </a:lnTo>
                    <a:lnTo>
                      <a:pt x="0" y="695"/>
                    </a:lnTo>
                    <a:lnTo>
                      <a:pt x="12" y="695"/>
                    </a:lnTo>
                    <a:lnTo>
                      <a:pt x="12" y="0"/>
                    </a:lnTo>
                    <a:lnTo>
                      <a:pt x="12" y="0"/>
                    </a:lnTo>
                    <a:close/>
                  </a:path>
                </a:pathLst>
              </a:custGeom>
              <a:gradFill rotWithShape="0">
                <a:gsLst>
                  <a:gs pos="0">
                    <a:schemeClr val="bg1"/>
                  </a:gs>
                  <a:gs pos="100000">
                    <a:schemeClr val="bg2"/>
                  </a:gs>
                </a:gsLst>
                <a:lin ang="5400000" scaled="1"/>
              </a:gradFill>
              <a:ln w="9525">
                <a:noFill/>
                <a:round/>
                <a:headEnd/>
                <a:tailEnd/>
              </a:ln>
            </p:spPr>
            <p:txBody>
              <a:bodyPr/>
              <a:lstStyle/>
              <a:p>
                <a:pPr>
                  <a:defRPr/>
                </a:pPr>
                <a:endParaRPr lang="en-US"/>
              </a:p>
            </p:txBody>
          </p:sp>
          <p:sp>
            <p:nvSpPr>
              <p:cNvPr id="11" name="Freeform 11"/>
              <p:cNvSpPr>
                <a:spLocks/>
              </p:cNvSpPr>
              <p:nvPr/>
            </p:nvSpPr>
            <p:spPr bwMode="ltGray">
              <a:xfrm>
                <a:off x="552" y="1623"/>
                <a:ext cx="12" cy="2697"/>
              </a:xfrm>
              <a:custGeom>
                <a:avLst/>
                <a:gdLst/>
                <a:ahLst/>
                <a:cxnLst>
                  <a:cxn ang="0">
                    <a:pos x="0" y="2697"/>
                  </a:cxn>
                  <a:cxn ang="0">
                    <a:pos x="12" y="2697"/>
                  </a:cxn>
                  <a:cxn ang="0">
                    <a:pos x="12" y="0"/>
                  </a:cxn>
                  <a:cxn ang="0">
                    <a:pos x="0" y="0"/>
                  </a:cxn>
                  <a:cxn ang="0">
                    <a:pos x="0" y="2697"/>
                  </a:cxn>
                  <a:cxn ang="0">
                    <a:pos x="0" y="2697"/>
                  </a:cxn>
                </a:cxnLst>
                <a:rect l="0" t="0" r="r" b="b"/>
                <a:pathLst>
                  <a:path w="12" h="2697">
                    <a:moveTo>
                      <a:pt x="0" y="2697"/>
                    </a:moveTo>
                    <a:lnTo>
                      <a:pt x="12" y="2697"/>
                    </a:lnTo>
                    <a:lnTo>
                      <a:pt x="12" y="0"/>
                    </a:lnTo>
                    <a:lnTo>
                      <a:pt x="0" y="0"/>
                    </a:lnTo>
                    <a:lnTo>
                      <a:pt x="0" y="2697"/>
                    </a:lnTo>
                    <a:lnTo>
                      <a:pt x="0" y="2697"/>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a:p>
            </p:txBody>
          </p:sp>
          <p:sp>
            <p:nvSpPr>
              <p:cNvPr id="12" name="Freeform 12"/>
              <p:cNvSpPr>
                <a:spLocks/>
              </p:cNvSpPr>
              <p:nvPr/>
            </p:nvSpPr>
            <p:spPr bwMode="ltGray">
              <a:xfrm>
                <a:off x="1019" y="1155"/>
                <a:ext cx="4739" cy="12"/>
              </a:xfrm>
              <a:custGeom>
                <a:avLst/>
                <a:gdLst/>
                <a:ahLst/>
                <a:cxnLst>
                  <a:cxn ang="0">
                    <a:pos x="4724" y="0"/>
                  </a:cxn>
                  <a:cxn ang="0">
                    <a:pos x="0" y="0"/>
                  </a:cxn>
                  <a:cxn ang="0">
                    <a:pos x="0" y="12"/>
                  </a:cxn>
                  <a:cxn ang="0">
                    <a:pos x="4724" y="12"/>
                  </a:cxn>
                  <a:cxn ang="0">
                    <a:pos x="4724" y="0"/>
                  </a:cxn>
                  <a:cxn ang="0">
                    <a:pos x="4724" y="0"/>
                  </a:cxn>
                </a:cxnLst>
                <a:rect l="0" t="0" r="r" b="b"/>
                <a:pathLst>
                  <a:path w="4724" h="12">
                    <a:moveTo>
                      <a:pt x="4724" y="0"/>
                    </a:moveTo>
                    <a:lnTo>
                      <a:pt x="0" y="0"/>
                    </a:lnTo>
                    <a:lnTo>
                      <a:pt x="0" y="12"/>
                    </a:lnTo>
                    <a:lnTo>
                      <a:pt x="4724" y="12"/>
                    </a:lnTo>
                    <a:lnTo>
                      <a:pt x="4724" y="0"/>
                    </a:lnTo>
                    <a:lnTo>
                      <a:pt x="4724" y="0"/>
                    </a:lnTo>
                    <a:close/>
                  </a:path>
                </a:pathLst>
              </a:custGeom>
              <a:gradFill rotWithShape="0">
                <a:gsLst>
                  <a:gs pos="0">
                    <a:schemeClr val="bg2"/>
                  </a:gs>
                  <a:gs pos="100000">
                    <a:schemeClr val="bg1"/>
                  </a:gs>
                </a:gsLst>
                <a:lin ang="0" scaled="1"/>
              </a:gradFill>
              <a:ln w="9525">
                <a:noFill/>
                <a:round/>
                <a:headEnd/>
                <a:tailEnd/>
              </a:ln>
            </p:spPr>
            <p:txBody>
              <a:bodyPr/>
              <a:lstStyle/>
              <a:p>
                <a:pPr>
                  <a:defRPr/>
                </a:pPr>
                <a:endParaRPr lang="en-US"/>
              </a:p>
            </p:txBody>
          </p:sp>
          <p:sp>
            <p:nvSpPr>
              <p:cNvPr id="13" name="Freeform 13"/>
              <p:cNvSpPr>
                <a:spLocks/>
              </p:cNvSpPr>
              <p:nvPr/>
            </p:nvSpPr>
            <p:spPr bwMode="ltGray">
              <a:xfrm>
                <a:off x="552" y="1371"/>
                <a:ext cx="12" cy="252"/>
              </a:xfrm>
              <a:custGeom>
                <a:avLst/>
                <a:gdLst/>
                <a:ahLst/>
                <a:cxnLst>
                  <a:cxn ang="0">
                    <a:pos x="0" y="252"/>
                  </a:cxn>
                  <a:cxn ang="0">
                    <a:pos x="12" y="252"/>
                  </a:cxn>
                  <a:cxn ang="0">
                    <a:pos x="12" y="0"/>
                  </a:cxn>
                  <a:cxn ang="0">
                    <a:pos x="0" y="0"/>
                  </a:cxn>
                  <a:cxn ang="0">
                    <a:pos x="0" y="252"/>
                  </a:cxn>
                  <a:cxn ang="0">
                    <a:pos x="0" y="252"/>
                  </a:cxn>
                </a:cxnLst>
                <a:rect l="0" t="0" r="r" b="b"/>
                <a:pathLst>
                  <a:path w="12" h="252">
                    <a:moveTo>
                      <a:pt x="0" y="252"/>
                    </a:moveTo>
                    <a:lnTo>
                      <a:pt x="12" y="252"/>
                    </a:lnTo>
                    <a:lnTo>
                      <a:pt x="12" y="0"/>
                    </a:lnTo>
                    <a:lnTo>
                      <a:pt x="0" y="0"/>
                    </a:lnTo>
                    <a:lnTo>
                      <a:pt x="0" y="252"/>
                    </a:lnTo>
                    <a:lnTo>
                      <a:pt x="0" y="252"/>
                    </a:lnTo>
                    <a:close/>
                  </a:path>
                </a:pathLst>
              </a:custGeom>
              <a:gradFill rotWithShape="0">
                <a:gsLst>
                  <a:gs pos="0">
                    <a:schemeClr val="accent2"/>
                  </a:gs>
                  <a:gs pos="100000">
                    <a:schemeClr val="bg2"/>
                  </a:gs>
                </a:gsLst>
                <a:lin ang="5400000" scaled="1"/>
              </a:gradFill>
              <a:ln w="9525">
                <a:noFill/>
                <a:round/>
                <a:headEnd/>
                <a:tailEnd/>
              </a:ln>
            </p:spPr>
            <p:txBody>
              <a:bodyPr/>
              <a:lstStyle/>
              <a:p>
                <a:pPr>
                  <a:defRPr/>
                </a:pPr>
                <a:endParaRPr lang="en-US"/>
              </a:p>
            </p:txBody>
          </p:sp>
          <p:sp>
            <p:nvSpPr>
              <p:cNvPr id="14" name="Freeform 14"/>
              <p:cNvSpPr>
                <a:spLocks/>
              </p:cNvSpPr>
              <p:nvPr/>
            </p:nvSpPr>
            <p:spPr bwMode="ltGray">
              <a:xfrm>
                <a:off x="552" y="699"/>
                <a:ext cx="12" cy="252"/>
              </a:xfrm>
              <a:custGeom>
                <a:avLst/>
                <a:gdLst/>
                <a:ahLst/>
                <a:cxnLst>
                  <a:cxn ang="0">
                    <a:pos x="12" y="0"/>
                  </a:cxn>
                  <a:cxn ang="0">
                    <a:pos x="0" y="0"/>
                  </a:cxn>
                  <a:cxn ang="0">
                    <a:pos x="0" y="252"/>
                  </a:cxn>
                  <a:cxn ang="0">
                    <a:pos x="12" y="252"/>
                  </a:cxn>
                  <a:cxn ang="0">
                    <a:pos x="12" y="0"/>
                  </a:cxn>
                  <a:cxn ang="0">
                    <a:pos x="12" y="0"/>
                  </a:cxn>
                </a:cxnLst>
                <a:rect l="0" t="0" r="r" b="b"/>
                <a:pathLst>
                  <a:path w="12" h="252">
                    <a:moveTo>
                      <a:pt x="12" y="0"/>
                    </a:moveTo>
                    <a:lnTo>
                      <a:pt x="0" y="0"/>
                    </a:lnTo>
                    <a:lnTo>
                      <a:pt x="0" y="252"/>
                    </a:lnTo>
                    <a:lnTo>
                      <a:pt x="12" y="252"/>
                    </a:lnTo>
                    <a:lnTo>
                      <a:pt x="12" y="0"/>
                    </a:lnTo>
                    <a:lnTo>
                      <a:pt x="12" y="0"/>
                    </a:lnTo>
                    <a:close/>
                  </a:path>
                </a:pathLst>
              </a:custGeom>
              <a:gradFill rotWithShape="0">
                <a:gsLst>
                  <a:gs pos="0">
                    <a:schemeClr val="bg2"/>
                  </a:gs>
                  <a:gs pos="100000">
                    <a:schemeClr val="accent2"/>
                  </a:gs>
                </a:gsLst>
                <a:lin ang="5400000" scaled="1"/>
              </a:gradFill>
              <a:ln w="9525">
                <a:noFill/>
                <a:round/>
                <a:headEnd/>
                <a:tailEnd/>
              </a:ln>
            </p:spPr>
            <p:txBody>
              <a:bodyPr/>
              <a:lstStyle/>
              <a:p>
                <a:pPr>
                  <a:defRPr/>
                </a:pPr>
                <a:endParaRPr lang="en-US"/>
              </a:p>
            </p:txBody>
          </p:sp>
          <p:sp>
            <p:nvSpPr>
              <p:cNvPr id="15" name="Freeform 15"/>
              <p:cNvSpPr>
                <a:spLocks/>
              </p:cNvSpPr>
              <p:nvPr/>
            </p:nvSpPr>
            <p:spPr bwMode="ltGray">
              <a:xfrm>
                <a:off x="348" y="1155"/>
                <a:ext cx="419" cy="12"/>
              </a:xfrm>
              <a:custGeom>
                <a:avLst/>
                <a:gdLst/>
                <a:ahLst/>
                <a:cxnLst>
                  <a:cxn ang="0">
                    <a:pos x="0" y="0"/>
                  </a:cxn>
                  <a:cxn ang="0">
                    <a:pos x="0" y="12"/>
                  </a:cxn>
                  <a:cxn ang="0">
                    <a:pos x="418" y="12"/>
                  </a:cxn>
                  <a:cxn ang="0">
                    <a:pos x="418" y="0"/>
                  </a:cxn>
                  <a:cxn ang="0">
                    <a:pos x="0" y="0"/>
                  </a:cxn>
                  <a:cxn ang="0">
                    <a:pos x="0" y="0"/>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w="9525">
                <a:noFill/>
                <a:round/>
                <a:headEnd/>
                <a:tailEnd/>
              </a:ln>
            </p:spPr>
            <p:txBody>
              <a:bodyPr/>
              <a:lstStyle/>
              <a:p>
                <a:pPr>
                  <a:defRPr/>
                </a:pPr>
                <a:endParaRPr lang="en-US"/>
              </a:p>
            </p:txBody>
          </p:sp>
        </p:grpSp>
      </p:grpSp>
      <p:sp>
        <p:nvSpPr>
          <p:cNvPr id="47120" name="Rectangle 16"/>
          <p:cNvSpPr>
            <a:spLocks noGrp="1" noChangeArrowheads="1"/>
          </p:cNvSpPr>
          <p:nvPr>
            <p:ph type="ctrTitle" sz="quarter"/>
          </p:nvPr>
        </p:nvSpPr>
        <p:spPr>
          <a:xfrm>
            <a:off x="1066800" y="1997075"/>
            <a:ext cx="7086600" cy="1431925"/>
          </a:xfrm>
        </p:spPr>
        <p:txBody>
          <a:bodyPr anchor="b"/>
          <a:lstStyle>
            <a:lvl1pPr>
              <a:defRPr/>
            </a:lvl1pPr>
          </a:lstStyle>
          <a:p>
            <a:r>
              <a:rPr lang="en-US"/>
              <a:t>Click to edit Master title style</a:t>
            </a:r>
          </a:p>
        </p:txBody>
      </p:sp>
      <p:sp>
        <p:nvSpPr>
          <p:cNvPr id="47121" name="Rectangle 17"/>
          <p:cNvSpPr>
            <a:spLocks noGrp="1" noChangeArrowheads="1"/>
          </p:cNvSpPr>
          <p:nvPr>
            <p:ph type="subTitle" sz="quarter" idx="1"/>
          </p:nvPr>
        </p:nvSpPr>
        <p:spPr>
          <a:xfrm>
            <a:off x="1066800" y="3886200"/>
            <a:ext cx="6400800" cy="1752600"/>
          </a:xfrm>
        </p:spPr>
        <p:txBody>
          <a:bodyPr/>
          <a:lstStyle>
            <a:lvl1pPr marL="0" indent="0">
              <a:buFont typeface="Wingdings" pitchFamily="2" charset="2"/>
              <a:buNone/>
              <a:defRPr/>
            </a:lvl1pPr>
          </a:lstStyle>
          <a:p>
            <a:r>
              <a:rPr lang="en-US"/>
              <a:t>Click to edit Master subtitle style</a:t>
            </a:r>
          </a:p>
        </p:txBody>
      </p:sp>
      <p:sp>
        <p:nvSpPr>
          <p:cNvPr id="18" name="Rectangle 18"/>
          <p:cNvSpPr>
            <a:spLocks noGrp="1" noChangeArrowheads="1"/>
          </p:cNvSpPr>
          <p:nvPr>
            <p:ph type="dt" sz="quarter" idx="10"/>
          </p:nvPr>
        </p:nvSpPr>
        <p:spPr>
          <a:xfrm>
            <a:off x="1066800" y="6248400"/>
            <a:ext cx="1905000" cy="457200"/>
          </a:xfrm>
        </p:spPr>
        <p:txBody>
          <a:bodyPr/>
          <a:lstStyle>
            <a:lvl1pPr>
              <a:defRPr/>
            </a:lvl1pPr>
          </a:lstStyle>
          <a:p>
            <a:pPr>
              <a:defRPr/>
            </a:pPr>
            <a:endParaRPr lang="en-US"/>
          </a:p>
        </p:txBody>
      </p:sp>
      <p:sp>
        <p:nvSpPr>
          <p:cNvPr id="19" name="Rectangle 19"/>
          <p:cNvSpPr>
            <a:spLocks noGrp="1" noChangeArrowheads="1"/>
          </p:cNvSpPr>
          <p:nvPr>
            <p:ph type="ftr" sz="quarter" idx="11"/>
          </p:nvPr>
        </p:nvSpPr>
        <p:spPr>
          <a:xfrm>
            <a:off x="3352800" y="6248400"/>
            <a:ext cx="2895600" cy="457200"/>
          </a:xfrm>
        </p:spPr>
        <p:txBody>
          <a:bodyPr/>
          <a:lstStyle>
            <a:lvl1pPr>
              <a:defRPr/>
            </a:lvl1pPr>
          </a:lstStyle>
          <a:p>
            <a:pPr>
              <a:defRPr/>
            </a:pPr>
            <a:endParaRPr lang="en-US"/>
          </a:p>
        </p:txBody>
      </p:sp>
      <p:sp>
        <p:nvSpPr>
          <p:cNvPr id="20" name="Rectangle 20"/>
          <p:cNvSpPr>
            <a:spLocks noGrp="1" noChangeArrowheads="1"/>
          </p:cNvSpPr>
          <p:nvPr>
            <p:ph type="sldNum" sz="quarter" idx="12"/>
          </p:nvPr>
        </p:nvSpPr>
        <p:spPr>
          <a:xfrm>
            <a:off x="6705600" y="6248400"/>
            <a:ext cx="1905000" cy="457200"/>
          </a:xfrm>
        </p:spPr>
        <p:txBody>
          <a:bodyPr/>
          <a:lstStyle>
            <a:lvl1pPr>
              <a:defRPr/>
            </a:lvl1pPr>
          </a:lstStyle>
          <a:p>
            <a:pPr>
              <a:defRPr/>
            </a:pPr>
            <a:fld id="{D8FC57C0-3EFD-44DD-AA95-2B5E400A9F7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800">
                <a:solidFill>
                  <a:srgbClr val="FFFF00"/>
                </a:solidFill>
                <a:latin typeface="+mn-lt"/>
              </a:defRPr>
            </a:lvl1pPr>
            <a:lvl2pPr>
              <a:defRPr sz="2600"/>
            </a:lvl2pPr>
            <a:lvl3pPr>
              <a:defRPr>
                <a:solidFill>
                  <a:schemeClr val="accent1">
                    <a:lumMod val="40000"/>
                    <a:lumOff val="60000"/>
                  </a:schemeClr>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dt" sz="half" idx="10"/>
          </p:nvPr>
        </p:nvSpPr>
        <p:spPr/>
        <p:txBody>
          <a:bodyPr/>
          <a:lstStyle>
            <a:lvl1pPr>
              <a:defRPr/>
            </a:lvl1pPr>
          </a:lstStyle>
          <a:p>
            <a:pPr>
              <a:defRPr/>
            </a:pPr>
            <a:endParaRPr lang="en-US"/>
          </a:p>
        </p:txBody>
      </p:sp>
      <p:sp>
        <p:nvSpPr>
          <p:cNvPr id="5" name="Rectangle 4"/>
          <p:cNvSpPr>
            <a:spLocks noGrp="1" noChangeArrowheads="1"/>
          </p:cNvSpPr>
          <p:nvPr>
            <p:ph type="ftr" sz="quarter" idx="11"/>
          </p:nvPr>
        </p:nvSpPr>
        <p:spPr>
          <a:xfrm>
            <a:off x="3429000" y="6291263"/>
            <a:ext cx="3555460" cy="457200"/>
          </a:xfrm>
        </p:spPr>
        <p:txBody>
          <a:bodyPr/>
          <a:lstStyle>
            <a:lvl1pPr>
              <a:defRPr/>
            </a:lvl1pPr>
          </a:lstStyle>
          <a:p>
            <a:pPr>
              <a:defRPr/>
            </a:pPr>
            <a:endParaRPr lang="en-US" dirty="0"/>
          </a:p>
        </p:txBody>
      </p:sp>
      <p:sp>
        <p:nvSpPr>
          <p:cNvPr id="6" name="Rectangle 5"/>
          <p:cNvSpPr>
            <a:spLocks noGrp="1" noChangeArrowheads="1"/>
          </p:cNvSpPr>
          <p:nvPr>
            <p:ph type="sldNum" sz="quarter" idx="12"/>
          </p:nvPr>
        </p:nvSpPr>
        <p:spPr>
          <a:xfrm>
            <a:off x="7199313" y="6291263"/>
            <a:ext cx="1905000" cy="457200"/>
          </a:xfrm>
        </p:spPr>
        <p:txBody>
          <a:bodyPr anchor="ctr"/>
          <a:lstStyle>
            <a:lvl1pPr>
              <a:defRPr/>
            </a:lvl1pPr>
          </a:lstStyle>
          <a:p>
            <a:pPr>
              <a:defRPr/>
            </a:pPr>
            <a:fld id="{0E2F858B-2218-4DCA-9707-121426E7122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7"/>
          <p:cNvSpPr>
            <a:spLocks noGrp="1" noChangeArrowheads="1"/>
          </p:cNvSpPr>
          <p:nvPr>
            <p:ph type="dt" sz="half" idx="10"/>
          </p:nvPr>
        </p:nvSpPr>
        <p:spPr>
          <a:ln/>
        </p:spPr>
        <p:txBody>
          <a:bodyPr/>
          <a:lstStyle>
            <a:lvl1pPr>
              <a:defRPr/>
            </a:lvl1pPr>
          </a:lstStyle>
          <a:p>
            <a:pPr>
              <a:defRPr/>
            </a:pPr>
            <a:endParaRPr lang="en-US"/>
          </a:p>
        </p:txBody>
      </p:sp>
      <p:sp>
        <p:nvSpPr>
          <p:cNvPr id="5" name="Rectangle 18"/>
          <p:cNvSpPr>
            <a:spLocks noGrp="1" noChangeArrowheads="1"/>
          </p:cNvSpPr>
          <p:nvPr>
            <p:ph type="ftr" sz="quarter" idx="11"/>
          </p:nvPr>
        </p:nvSpPr>
        <p:spPr>
          <a:ln/>
        </p:spPr>
        <p:txBody>
          <a:bodyPr/>
          <a:lstStyle>
            <a:lvl1pPr>
              <a:defRPr/>
            </a:lvl1pPr>
          </a:lstStyle>
          <a:p>
            <a:pPr>
              <a:defRPr/>
            </a:pPr>
            <a:endParaRPr lang="en-US"/>
          </a:p>
        </p:txBody>
      </p:sp>
      <p:sp>
        <p:nvSpPr>
          <p:cNvPr id="6" name="Rectangle 19"/>
          <p:cNvSpPr>
            <a:spLocks noGrp="1" noChangeArrowheads="1"/>
          </p:cNvSpPr>
          <p:nvPr>
            <p:ph type="sldNum" sz="quarter" idx="12"/>
          </p:nvPr>
        </p:nvSpPr>
        <p:spPr>
          <a:ln/>
        </p:spPr>
        <p:txBody>
          <a:bodyPr/>
          <a:lstStyle>
            <a:lvl1pPr>
              <a:defRPr/>
            </a:lvl1pPr>
          </a:lstStyle>
          <a:p>
            <a:pPr>
              <a:defRPr/>
            </a:pPr>
            <a:fld id="{1FE6566B-02C9-473F-A09E-FE2F7E9D978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6113" y="1444625"/>
            <a:ext cx="4171950"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70463" y="1444625"/>
            <a:ext cx="4173537"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7"/>
          <p:cNvSpPr>
            <a:spLocks noGrp="1" noChangeArrowheads="1"/>
          </p:cNvSpPr>
          <p:nvPr>
            <p:ph type="dt" sz="half" idx="10"/>
          </p:nvPr>
        </p:nvSpPr>
        <p:spPr>
          <a:ln/>
        </p:spPr>
        <p:txBody>
          <a:bodyPr/>
          <a:lstStyle>
            <a:lvl1pPr>
              <a:defRPr/>
            </a:lvl1pPr>
          </a:lstStyle>
          <a:p>
            <a:pPr>
              <a:defRPr/>
            </a:pPr>
            <a:endParaRPr lang="en-US"/>
          </a:p>
        </p:txBody>
      </p:sp>
      <p:sp>
        <p:nvSpPr>
          <p:cNvPr id="6" name="Rectangle 18"/>
          <p:cNvSpPr>
            <a:spLocks noGrp="1" noChangeArrowheads="1"/>
          </p:cNvSpPr>
          <p:nvPr>
            <p:ph type="ftr" sz="quarter" idx="11"/>
          </p:nvPr>
        </p:nvSpPr>
        <p:spPr>
          <a:ln/>
        </p:spPr>
        <p:txBody>
          <a:bodyPr/>
          <a:lstStyle>
            <a:lvl1pPr>
              <a:defRPr/>
            </a:lvl1pPr>
          </a:lstStyle>
          <a:p>
            <a:pPr>
              <a:defRPr/>
            </a:pPr>
            <a:endParaRPr lang="en-US"/>
          </a:p>
        </p:txBody>
      </p:sp>
      <p:sp>
        <p:nvSpPr>
          <p:cNvPr id="7" name="Rectangle 19"/>
          <p:cNvSpPr>
            <a:spLocks noGrp="1" noChangeArrowheads="1"/>
          </p:cNvSpPr>
          <p:nvPr>
            <p:ph type="sldNum" sz="quarter" idx="12"/>
          </p:nvPr>
        </p:nvSpPr>
        <p:spPr>
          <a:ln/>
        </p:spPr>
        <p:txBody>
          <a:bodyPr/>
          <a:lstStyle>
            <a:lvl1pPr>
              <a:defRPr/>
            </a:lvl1pPr>
          </a:lstStyle>
          <a:p>
            <a:pPr>
              <a:defRPr/>
            </a:pPr>
            <a:fld id="{40D96D4C-5701-4E2D-B3A2-3AF29E4360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7"/>
          <p:cNvSpPr>
            <a:spLocks noGrp="1" noChangeArrowheads="1"/>
          </p:cNvSpPr>
          <p:nvPr>
            <p:ph type="dt" sz="half" idx="10"/>
          </p:nvPr>
        </p:nvSpPr>
        <p:spPr>
          <a:ln/>
        </p:spPr>
        <p:txBody>
          <a:bodyPr/>
          <a:lstStyle>
            <a:lvl1pPr>
              <a:defRPr/>
            </a:lvl1pPr>
          </a:lstStyle>
          <a:p>
            <a:pPr>
              <a:defRPr/>
            </a:pPr>
            <a:endParaRPr lang="en-US"/>
          </a:p>
        </p:txBody>
      </p:sp>
      <p:sp>
        <p:nvSpPr>
          <p:cNvPr id="8" name="Rectangle 18"/>
          <p:cNvSpPr>
            <a:spLocks noGrp="1" noChangeArrowheads="1"/>
          </p:cNvSpPr>
          <p:nvPr>
            <p:ph type="ftr" sz="quarter" idx="11"/>
          </p:nvPr>
        </p:nvSpPr>
        <p:spPr>
          <a:ln/>
        </p:spPr>
        <p:txBody>
          <a:bodyPr/>
          <a:lstStyle>
            <a:lvl1pPr>
              <a:defRPr/>
            </a:lvl1pPr>
          </a:lstStyle>
          <a:p>
            <a:pPr>
              <a:defRPr/>
            </a:pPr>
            <a:endParaRPr lang="en-US"/>
          </a:p>
        </p:txBody>
      </p:sp>
      <p:sp>
        <p:nvSpPr>
          <p:cNvPr id="9" name="Rectangle 19"/>
          <p:cNvSpPr>
            <a:spLocks noGrp="1" noChangeArrowheads="1"/>
          </p:cNvSpPr>
          <p:nvPr>
            <p:ph type="sldNum" sz="quarter" idx="12"/>
          </p:nvPr>
        </p:nvSpPr>
        <p:spPr>
          <a:ln/>
        </p:spPr>
        <p:txBody>
          <a:bodyPr/>
          <a:lstStyle>
            <a:lvl1pPr>
              <a:defRPr/>
            </a:lvl1pPr>
          </a:lstStyle>
          <a:p>
            <a:pPr>
              <a:defRPr/>
            </a:pPr>
            <a:fld id="{DBBB2701-170A-423D-A46E-46B1B63F21A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7"/>
          <p:cNvSpPr>
            <a:spLocks noGrp="1" noChangeArrowheads="1"/>
          </p:cNvSpPr>
          <p:nvPr>
            <p:ph type="dt" sz="half" idx="10"/>
          </p:nvPr>
        </p:nvSpPr>
        <p:spPr>
          <a:ln/>
        </p:spPr>
        <p:txBody>
          <a:bodyPr/>
          <a:lstStyle>
            <a:lvl1pPr>
              <a:defRPr/>
            </a:lvl1pPr>
          </a:lstStyle>
          <a:p>
            <a:pPr>
              <a:defRPr/>
            </a:pPr>
            <a:endParaRPr lang="en-US"/>
          </a:p>
        </p:txBody>
      </p:sp>
      <p:sp>
        <p:nvSpPr>
          <p:cNvPr id="4" name="Rectangle 18"/>
          <p:cNvSpPr>
            <a:spLocks noGrp="1" noChangeArrowheads="1"/>
          </p:cNvSpPr>
          <p:nvPr>
            <p:ph type="ftr" sz="quarter" idx="11"/>
          </p:nvPr>
        </p:nvSpPr>
        <p:spPr>
          <a:ln/>
        </p:spPr>
        <p:txBody>
          <a:bodyPr/>
          <a:lstStyle>
            <a:lvl1pPr>
              <a:defRPr/>
            </a:lvl1pPr>
          </a:lstStyle>
          <a:p>
            <a:pPr>
              <a:defRPr/>
            </a:pPr>
            <a:endParaRPr lang="en-US"/>
          </a:p>
        </p:txBody>
      </p:sp>
      <p:sp>
        <p:nvSpPr>
          <p:cNvPr id="5" name="Rectangle 19"/>
          <p:cNvSpPr>
            <a:spLocks noGrp="1" noChangeArrowheads="1"/>
          </p:cNvSpPr>
          <p:nvPr>
            <p:ph type="sldNum" sz="quarter" idx="12"/>
          </p:nvPr>
        </p:nvSpPr>
        <p:spPr>
          <a:ln/>
        </p:spPr>
        <p:txBody>
          <a:bodyPr/>
          <a:lstStyle>
            <a:lvl1pPr>
              <a:defRPr/>
            </a:lvl1pPr>
          </a:lstStyle>
          <a:p>
            <a:pPr>
              <a:defRPr/>
            </a:pPr>
            <a:fld id="{D66DD518-6551-4FBC-BDA2-A8FF484494B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7"/>
          <p:cNvSpPr>
            <a:spLocks noGrp="1" noChangeArrowheads="1"/>
          </p:cNvSpPr>
          <p:nvPr>
            <p:ph type="dt" sz="half" idx="10"/>
          </p:nvPr>
        </p:nvSpPr>
        <p:spPr>
          <a:ln/>
        </p:spPr>
        <p:txBody>
          <a:bodyPr/>
          <a:lstStyle>
            <a:lvl1pPr>
              <a:defRPr/>
            </a:lvl1pPr>
          </a:lstStyle>
          <a:p>
            <a:pPr>
              <a:defRPr/>
            </a:pPr>
            <a:endParaRPr lang="en-US"/>
          </a:p>
        </p:txBody>
      </p:sp>
      <p:sp>
        <p:nvSpPr>
          <p:cNvPr id="3" name="Rectangle 18"/>
          <p:cNvSpPr>
            <a:spLocks noGrp="1" noChangeArrowheads="1"/>
          </p:cNvSpPr>
          <p:nvPr>
            <p:ph type="ftr" sz="quarter" idx="11"/>
          </p:nvPr>
        </p:nvSpPr>
        <p:spPr>
          <a:ln/>
        </p:spPr>
        <p:txBody>
          <a:bodyPr/>
          <a:lstStyle>
            <a:lvl1pPr>
              <a:defRPr/>
            </a:lvl1pPr>
          </a:lstStyle>
          <a:p>
            <a:pPr>
              <a:defRPr/>
            </a:pPr>
            <a:endParaRPr lang="en-US"/>
          </a:p>
        </p:txBody>
      </p:sp>
      <p:sp>
        <p:nvSpPr>
          <p:cNvPr id="4" name="Rectangle 19"/>
          <p:cNvSpPr>
            <a:spLocks noGrp="1" noChangeArrowheads="1"/>
          </p:cNvSpPr>
          <p:nvPr>
            <p:ph type="sldNum" sz="quarter" idx="12"/>
          </p:nvPr>
        </p:nvSpPr>
        <p:spPr>
          <a:ln/>
        </p:spPr>
        <p:txBody>
          <a:bodyPr/>
          <a:lstStyle>
            <a:lvl1pPr>
              <a:defRPr/>
            </a:lvl1pPr>
          </a:lstStyle>
          <a:p>
            <a:pPr>
              <a:defRPr/>
            </a:pPr>
            <a:fld id="{CD3C7CF7-17E6-422F-8A75-EB5DE54D04B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7"/>
          <p:cNvSpPr>
            <a:spLocks noGrp="1" noChangeArrowheads="1"/>
          </p:cNvSpPr>
          <p:nvPr>
            <p:ph type="dt" sz="half" idx="10"/>
          </p:nvPr>
        </p:nvSpPr>
        <p:spPr>
          <a:ln/>
        </p:spPr>
        <p:txBody>
          <a:bodyPr/>
          <a:lstStyle>
            <a:lvl1pPr>
              <a:defRPr/>
            </a:lvl1pPr>
          </a:lstStyle>
          <a:p>
            <a:pPr>
              <a:defRPr/>
            </a:pPr>
            <a:endParaRPr lang="en-US"/>
          </a:p>
        </p:txBody>
      </p:sp>
      <p:sp>
        <p:nvSpPr>
          <p:cNvPr id="6" name="Rectangle 18"/>
          <p:cNvSpPr>
            <a:spLocks noGrp="1" noChangeArrowheads="1"/>
          </p:cNvSpPr>
          <p:nvPr>
            <p:ph type="ftr" sz="quarter" idx="11"/>
          </p:nvPr>
        </p:nvSpPr>
        <p:spPr>
          <a:ln/>
        </p:spPr>
        <p:txBody>
          <a:bodyPr/>
          <a:lstStyle>
            <a:lvl1pPr>
              <a:defRPr/>
            </a:lvl1pPr>
          </a:lstStyle>
          <a:p>
            <a:pPr>
              <a:defRPr/>
            </a:pPr>
            <a:endParaRPr lang="en-US"/>
          </a:p>
        </p:txBody>
      </p:sp>
      <p:sp>
        <p:nvSpPr>
          <p:cNvPr id="7" name="Rectangle 19"/>
          <p:cNvSpPr>
            <a:spLocks noGrp="1" noChangeArrowheads="1"/>
          </p:cNvSpPr>
          <p:nvPr>
            <p:ph type="sldNum" sz="quarter" idx="12"/>
          </p:nvPr>
        </p:nvSpPr>
        <p:spPr>
          <a:ln/>
        </p:spPr>
        <p:txBody>
          <a:bodyPr/>
          <a:lstStyle>
            <a:lvl1pPr>
              <a:defRPr/>
            </a:lvl1pPr>
          </a:lstStyle>
          <a:p>
            <a:pPr>
              <a:defRPr/>
            </a:pPr>
            <a:fld id="{A3D4529D-3BB8-4C72-85BD-25C443B6A67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7"/>
          <p:cNvSpPr>
            <a:spLocks noGrp="1" noChangeArrowheads="1"/>
          </p:cNvSpPr>
          <p:nvPr>
            <p:ph type="dt" sz="half" idx="10"/>
          </p:nvPr>
        </p:nvSpPr>
        <p:spPr>
          <a:ln/>
        </p:spPr>
        <p:txBody>
          <a:bodyPr/>
          <a:lstStyle>
            <a:lvl1pPr>
              <a:defRPr/>
            </a:lvl1pPr>
          </a:lstStyle>
          <a:p>
            <a:pPr>
              <a:defRPr/>
            </a:pPr>
            <a:endParaRPr lang="en-US"/>
          </a:p>
        </p:txBody>
      </p:sp>
      <p:sp>
        <p:nvSpPr>
          <p:cNvPr id="6" name="Rectangle 18"/>
          <p:cNvSpPr>
            <a:spLocks noGrp="1" noChangeArrowheads="1"/>
          </p:cNvSpPr>
          <p:nvPr>
            <p:ph type="ftr" sz="quarter" idx="11"/>
          </p:nvPr>
        </p:nvSpPr>
        <p:spPr>
          <a:ln/>
        </p:spPr>
        <p:txBody>
          <a:bodyPr/>
          <a:lstStyle>
            <a:lvl1pPr>
              <a:defRPr/>
            </a:lvl1pPr>
          </a:lstStyle>
          <a:p>
            <a:pPr>
              <a:defRPr/>
            </a:pPr>
            <a:endParaRPr lang="en-US"/>
          </a:p>
        </p:txBody>
      </p:sp>
      <p:sp>
        <p:nvSpPr>
          <p:cNvPr id="7" name="Rectangle 19"/>
          <p:cNvSpPr>
            <a:spLocks noGrp="1" noChangeArrowheads="1"/>
          </p:cNvSpPr>
          <p:nvPr>
            <p:ph type="sldNum" sz="quarter" idx="12"/>
          </p:nvPr>
        </p:nvSpPr>
        <p:spPr>
          <a:ln/>
        </p:spPr>
        <p:txBody>
          <a:bodyPr/>
          <a:lstStyle>
            <a:lvl1pPr>
              <a:defRPr/>
            </a:lvl1pPr>
          </a:lstStyle>
          <a:p>
            <a:pPr>
              <a:defRPr/>
            </a:pPr>
            <a:fld id="{3B021D01-2137-48A7-8529-F470E42B327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7"/>
          <p:cNvSpPr>
            <a:spLocks noGrp="1" noChangeArrowheads="1"/>
          </p:cNvSpPr>
          <p:nvPr>
            <p:ph type="dt" sz="half" idx="10"/>
          </p:nvPr>
        </p:nvSpPr>
        <p:spPr>
          <a:ln/>
        </p:spPr>
        <p:txBody>
          <a:bodyPr/>
          <a:lstStyle>
            <a:lvl1pPr>
              <a:defRPr/>
            </a:lvl1pPr>
          </a:lstStyle>
          <a:p>
            <a:pPr>
              <a:defRPr/>
            </a:pPr>
            <a:endParaRPr lang="en-US"/>
          </a:p>
        </p:txBody>
      </p:sp>
      <p:sp>
        <p:nvSpPr>
          <p:cNvPr id="5" name="Rectangle 18"/>
          <p:cNvSpPr>
            <a:spLocks noGrp="1" noChangeArrowheads="1"/>
          </p:cNvSpPr>
          <p:nvPr>
            <p:ph type="ftr" sz="quarter" idx="11"/>
          </p:nvPr>
        </p:nvSpPr>
        <p:spPr>
          <a:ln/>
        </p:spPr>
        <p:txBody>
          <a:bodyPr/>
          <a:lstStyle>
            <a:lvl1pPr>
              <a:defRPr/>
            </a:lvl1pPr>
          </a:lstStyle>
          <a:p>
            <a:pPr>
              <a:defRPr/>
            </a:pPr>
            <a:endParaRPr lang="en-US"/>
          </a:p>
        </p:txBody>
      </p:sp>
      <p:sp>
        <p:nvSpPr>
          <p:cNvPr id="6" name="Rectangle 19"/>
          <p:cNvSpPr>
            <a:spLocks noGrp="1" noChangeArrowheads="1"/>
          </p:cNvSpPr>
          <p:nvPr>
            <p:ph type="sldNum" sz="quarter" idx="12"/>
          </p:nvPr>
        </p:nvSpPr>
        <p:spPr>
          <a:ln/>
        </p:spPr>
        <p:txBody>
          <a:bodyPr/>
          <a:lstStyle>
            <a:lvl1pPr>
              <a:defRPr/>
            </a:lvl1pPr>
          </a:lstStyle>
          <a:p>
            <a:pPr>
              <a:defRPr/>
            </a:pPr>
            <a:fld id="{10378361-EC13-4DDC-A36B-5B8EE627E23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19925" y="0"/>
            <a:ext cx="2124075" cy="6315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6113" y="0"/>
            <a:ext cx="6221412" cy="6315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7"/>
          <p:cNvSpPr>
            <a:spLocks noGrp="1" noChangeArrowheads="1"/>
          </p:cNvSpPr>
          <p:nvPr>
            <p:ph type="dt" sz="half" idx="10"/>
          </p:nvPr>
        </p:nvSpPr>
        <p:spPr>
          <a:ln/>
        </p:spPr>
        <p:txBody>
          <a:bodyPr/>
          <a:lstStyle>
            <a:lvl1pPr>
              <a:defRPr/>
            </a:lvl1pPr>
          </a:lstStyle>
          <a:p>
            <a:pPr>
              <a:defRPr/>
            </a:pPr>
            <a:endParaRPr lang="en-US"/>
          </a:p>
        </p:txBody>
      </p:sp>
      <p:sp>
        <p:nvSpPr>
          <p:cNvPr id="5" name="Rectangle 18"/>
          <p:cNvSpPr>
            <a:spLocks noGrp="1" noChangeArrowheads="1"/>
          </p:cNvSpPr>
          <p:nvPr>
            <p:ph type="ftr" sz="quarter" idx="11"/>
          </p:nvPr>
        </p:nvSpPr>
        <p:spPr>
          <a:ln/>
        </p:spPr>
        <p:txBody>
          <a:bodyPr/>
          <a:lstStyle>
            <a:lvl1pPr>
              <a:defRPr/>
            </a:lvl1pPr>
          </a:lstStyle>
          <a:p>
            <a:pPr>
              <a:defRPr/>
            </a:pPr>
            <a:endParaRPr lang="en-US"/>
          </a:p>
        </p:txBody>
      </p:sp>
      <p:sp>
        <p:nvSpPr>
          <p:cNvPr id="6" name="Rectangle 19"/>
          <p:cNvSpPr>
            <a:spLocks noGrp="1" noChangeArrowheads="1"/>
          </p:cNvSpPr>
          <p:nvPr>
            <p:ph type="sldNum" sz="quarter" idx="12"/>
          </p:nvPr>
        </p:nvSpPr>
        <p:spPr>
          <a:ln/>
        </p:spPr>
        <p:txBody>
          <a:bodyPr/>
          <a:lstStyle>
            <a:lvl1pPr>
              <a:defRPr/>
            </a:lvl1pPr>
          </a:lstStyle>
          <a:p>
            <a:pPr>
              <a:defRPr/>
            </a:pPr>
            <a:fld id="{CB437342-A259-4FBA-8BC4-2DCA57404E8A}"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5DF91A-7C92-3743-8A2E-356816C55239}" type="slidenum">
              <a:rPr lang="en-US" smtClean="0"/>
              <a:pPr/>
              <a:t>‹#›</a:t>
            </a:fld>
            <a:endParaRPr lang="en-US" dirty="0"/>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9848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3" name="Freeform 3"/>
          <p:cNvSpPr>
            <a:spLocks/>
          </p:cNvSpPr>
          <p:nvPr userDrawn="1"/>
        </p:nvSpPr>
        <p:spPr bwMode="hidden">
          <a:xfrm>
            <a:off x="638175" y="1431925"/>
            <a:ext cx="8502650" cy="5426075"/>
          </a:xfrm>
          <a:custGeom>
            <a:avLst/>
            <a:gdLst/>
            <a:ahLst/>
            <a:cxnLst>
              <a:cxn ang="0">
                <a:pos x="0" y="3159"/>
              </a:cxn>
              <a:cxn ang="0">
                <a:pos x="5184" y="3159"/>
              </a:cxn>
              <a:cxn ang="0">
                <a:pos x="5184" y="0"/>
              </a:cxn>
              <a:cxn ang="0">
                <a:pos x="0" y="0"/>
              </a:cxn>
              <a:cxn ang="0">
                <a:pos x="0" y="3159"/>
              </a:cxn>
              <a:cxn ang="0">
                <a:pos x="0" y="3159"/>
              </a:cxn>
            </a:cxnLst>
            <a:rect l="0" t="0" r="r" b="b"/>
            <a:pathLst>
              <a:path w="5184" h="3159">
                <a:moveTo>
                  <a:pt x="0" y="3159"/>
                </a:moveTo>
                <a:lnTo>
                  <a:pt x="5184" y="3159"/>
                </a:lnTo>
                <a:lnTo>
                  <a:pt x="5184" y="0"/>
                </a:lnTo>
                <a:lnTo>
                  <a:pt x="0" y="0"/>
                </a:lnTo>
                <a:lnTo>
                  <a:pt x="0" y="3159"/>
                </a:lnTo>
                <a:lnTo>
                  <a:pt x="0" y="3159"/>
                </a:lnTo>
                <a:close/>
              </a:path>
            </a:pathLst>
          </a:custGeom>
          <a:gradFill rotWithShape="0">
            <a:gsLst>
              <a:gs pos="0">
                <a:schemeClr val="bg1"/>
              </a:gs>
              <a:gs pos="100000">
                <a:schemeClr val="bg2"/>
              </a:gs>
            </a:gsLst>
            <a:lin ang="0" scaled="1"/>
          </a:gradFill>
          <a:ln w="9525">
            <a:noFill/>
            <a:round/>
            <a:headEnd/>
            <a:tailEnd/>
          </a:ln>
        </p:spPr>
        <p:txBody>
          <a:bodyPr/>
          <a:lstStyle/>
          <a:p>
            <a:pPr>
              <a:defRPr/>
            </a:pPr>
            <a:endParaRPr lang="en-US"/>
          </a:p>
        </p:txBody>
      </p:sp>
      <p:sp>
        <p:nvSpPr>
          <p:cNvPr id="46084" name="Freeform 4"/>
          <p:cNvSpPr>
            <a:spLocks/>
          </p:cNvSpPr>
          <p:nvPr userDrawn="1"/>
        </p:nvSpPr>
        <p:spPr bwMode="hidden">
          <a:xfrm>
            <a:off x="0" y="1358900"/>
            <a:ext cx="581025" cy="5499100"/>
          </a:xfrm>
          <a:custGeom>
            <a:avLst/>
            <a:gdLst/>
            <a:ahLst/>
            <a:cxnLst>
              <a:cxn ang="0">
                <a:pos x="0" y="0"/>
              </a:cxn>
              <a:cxn ang="0">
                <a:pos x="0" y="3159"/>
              </a:cxn>
              <a:cxn ang="0">
                <a:pos x="556" y="3159"/>
              </a:cxn>
              <a:cxn ang="0">
                <a:pos x="556" y="0"/>
              </a:cxn>
              <a:cxn ang="0">
                <a:pos x="0" y="0"/>
              </a:cxn>
              <a:cxn ang="0">
                <a:pos x="0" y="0"/>
              </a:cxn>
            </a:cxnLst>
            <a:rect l="0" t="0" r="r" b="b"/>
            <a:pathLst>
              <a:path w="556" h="3159">
                <a:moveTo>
                  <a:pt x="0" y="0"/>
                </a:moveTo>
                <a:lnTo>
                  <a:pt x="0" y="3159"/>
                </a:lnTo>
                <a:lnTo>
                  <a:pt x="556" y="3159"/>
                </a:lnTo>
                <a:lnTo>
                  <a:pt x="556" y="0"/>
                </a:lnTo>
                <a:lnTo>
                  <a:pt x="0" y="0"/>
                </a:lnTo>
                <a:lnTo>
                  <a:pt x="0" y="0"/>
                </a:lnTo>
                <a:close/>
              </a:path>
            </a:pathLst>
          </a:custGeom>
          <a:gradFill rotWithShape="0">
            <a:gsLst>
              <a:gs pos="0">
                <a:schemeClr val="bg1"/>
              </a:gs>
              <a:gs pos="100000">
                <a:schemeClr val="bg2"/>
              </a:gs>
            </a:gsLst>
            <a:lin ang="5400000" scaled="1"/>
          </a:gradFill>
          <a:ln w="9525">
            <a:noFill/>
            <a:round/>
            <a:headEnd/>
            <a:tailEnd/>
          </a:ln>
        </p:spPr>
        <p:txBody>
          <a:bodyPr/>
          <a:lstStyle/>
          <a:p>
            <a:pPr>
              <a:defRPr/>
            </a:pPr>
            <a:endParaRPr lang="en-US"/>
          </a:p>
        </p:txBody>
      </p:sp>
      <p:sp>
        <p:nvSpPr>
          <p:cNvPr id="46086" name="Freeform 6"/>
          <p:cNvSpPr>
            <a:spLocks/>
          </p:cNvSpPr>
          <p:nvPr userDrawn="1"/>
        </p:nvSpPr>
        <p:spPr bwMode="ltGray">
          <a:xfrm>
            <a:off x="584200" y="63500"/>
            <a:ext cx="19050" cy="1103313"/>
          </a:xfrm>
          <a:custGeom>
            <a:avLst/>
            <a:gdLst/>
            <a:ahLst/>
            <a:cxnLst>
              <a:cxn ang="0">
                <a:pos x="12" y="0"/>
              </a:cxn>
              <a:cxn ang="0">
                <a:pos x="0" y="0"/>
              </a:cxn>
              <a:cxn ang="0">
                <a:pos x="0" y="695"/>
              </a:cxn>
              <a:cxn ang="0">
                <a:pos x="12" y="695"/>
              </a:cxn>
              <a:cxn ang="0">
                <a:pos x="12" y="0"/>
              </a:cxn>
              <a:cxn ang="0">
                <a:pos x="12" y="0"/>
              </a:cxn>
            </a:cxnLst>
            <a:rect l="0" t="0" r="r" b="b"/>
            <a:pathLst>
              <a:path w="12" h="695">
                <a:moveTo>
                  <a:pt x="12" y="0"/>
                </a:moveTo>
                <a:lnTo>
                  <a:pt x="0" y="0"/>
                </a:lnTo>
                <a:lnTo>
                  <a:pt x="0" y="695"/>
                </a:lnTo>
                <a:lnTo>
                  <a:pt x="12" y="695"/>
                </a:lnTo>
                <a:lnTo>
                  <a:pt x="12" y="0"/>
                </a:lnTo>
                <a:lnTo>
                  <a:pt x="12" y="0"/>
                </a:lnTo>
                <a:close/>
              </a:path>
            </a:pathLst>
          </a:custGeom>
          <a:gradFill rotWithShape="0">
            <a:gsLst>
              <a:gs pos="0">
                <a:schemeClr val="bg1"/>
              </a:gs>
              <a:gs pos="100000">
                <a:schemeClr val="bg2"/>
              </a:gs>
            </a:gsLst>
            <a:lin ang="5400000" scaled="1"/>
          </a:gradFill>
          <a:ln w="9525">
            <a:noFill/>
            <a:round/>
            <a:headEnd/>
            <a:tailEnd/>
          </a:ln>
        </p:spPr>
        <p:txBody>
          <a:bodyPr/>
          <a:lstStyle/>
          <a:p>
            <a:pPr>
              <a:defRPr/>
            </a:pPr>
            <a:endParaRPr lang="en-US"/>
          </a:p>
        </p:txBody>
      </p:sp>
      <p:sp>
        <p:nvSpPr>
          <p:cNvPr id="46087" name="Freeform 7"/>
          <p:cNvSpPr>
            <a:spLocks/>
          </p:cNvSpPr>
          <p:nvPr userDrawn="1"/>
        </p:nvSpPr>
        <p:spPr bwMode="ltGray">
          <a:xfrm>
            <a:off x="579438" y="2590800"/>
            <a:ext cx="19050" cy="4281488"/>
          </a:xfrm>
          <a:custGeom>
            <a:avLst/>
            <a:gdLst/>
            <a:ahLst/>
            <a:cxnLst>
              <a:cxn ang="0">
                <a:pos x="0" y="2697"/>
              </a:cxn>
              <a:cxn ang="0">
                <a:pos x="12" y="2697"/>
              </a:cxn>
              <a:cxn ang="0">
                <a:pos x="12" y="0"/>
              </a:cxn>
              <a:cxn ang="0">
                <a:pos x="0" y="0"/>
              </a:cxn>
              <a:cxn ang="0">
                <a:pos x="0" y="2697"/>
              </a:cxn>
              <a:cxn ang="0">
                <a:pos x="0" y="2697"/>
              </a:cxn>
            </a:cxnLst>
            <a:rect l="0" t="0" r="r" b="b"/>
            <a:pathLst>
              <a:path w="12" h="2697">
                <a:moveTo>
                  <a:pt x="0" y="2697"/>
                </a:moveTo>
                <a:lnTo>
                  <a:pt x="12" y="2697"/>
                </a:lnTo>
                <a:lnTo>
                  <a:pt x="12" y="0"/>
                </a:lnTo>
                <a:lnTo>
                  <a:pt x="0" y="0"/>
                </a:lnTo>
                <a:lnTo>
                  <a:pt x="0" y="2697"/>
                </a:lnTo>
                <a:lnTo>
                  <a:pt x="0" y="2697"/>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a:p>
        </p:txBody>
      </p:sp>
      <p:sp>
        <p:nvSpPr>
          <p:cNvPr id="46088" name="Freeform 8"/>
          <p:cNvSpPr>
            <a:spLocks/>
          </p:cNvSpPr>
          <p:nvPr userDrawn="1"/>
        </p:nvSpPr>
        <p:spPr bwMode="ltGray">
          <a:xfrm>
            <a:off x="1471613" y="1385888"/>
            <a:ext cx="7523162" cy="19050"/>
          </a:xfrm>
          <a:custGeom>
            <a:avLst/>
            <a:gdLst/>
            <a:ahLst/>
            <a:cxnLst>
              <a:cxn ang="0">
                <a:pos x="4724" y="0"/>
              </a:cxn>
              <a:cxn ang="0">
                <a:pos x="0" y="0"/>
              </a:cxn>
              <a:cxn ang="0">
                <a:pos x="0" y="12"/>
              </a:cxn>
              <a:cxn ang="0">
                <a:pos x="4724" y="12"/>
              </a:cxn>
              <a:cxn ang="0">
                <a:pos x="4724" y="0"/>
              </a:cxn>
              <a:cxn ang="0">
                <a:pos x="4724" y="0"/>
              </a:cxn>
            </a:cxnLst>
            <a:rect l="0" t="0" r="r" b="b"/>
            <a:pathLst>
              <a:path w="4724" h="12">
                <a:moveTo>
                  <a:pt x="4724" y="0"/>
                </a:moveTo>
                <a:lnTo>
                  <a:pt x="0" y="0"/>
                </a:lnTo>
                <a:lnTo>
                  <a:pt x="0" y="12"/>
                </a:lnTo>
                <a:lnTo>
                  <a:pt x="4724" y="12"/>
                </a:lnTo>
                <a:lnTo>
                  <a:pt x="4724" y="0"/>
                </a:lnTo>
                <a:lnTo>
                  <a:pt x="4724" y="0"/>
                </a:lnTo>
                <a:close/>
              </a:path>
            </a:pathLst>
          </a:custGeom>
          <a:gradFill rotWithShape="0">
            <a:gsLst>
              <a:gs pos="0">
                <a:schemeClr val="bg2"/>
              </a:gs>
              <a:gs pos="100000">
                <a:schemeClr val="bg1"/>
              </a:gs>
            </a:gsLst>
            <a:lin ang="0" scaled="1"/>
          </a:gradFill>
          <a:ln w="9525">
            <a:noFill/>
            <a:round/>
            <a:headEnd/>
            <a:tailEnd/>
          </a:ln>
        </p:spPr>
        <p:txBody>
          <a:bodyPr/>
          <a:lstStyle/>
          <a:p>
            <a:pPr>
              <a:defRPr/>
            </a:pPr>
            <a:endParaRPr lang="en-US"/>
          </a:p>
        </p:txBody>
      </p:sp>
      <p:sp>
        <p:nvSpPr>
          <p:cNvPr id="46089" name="Freeform 9"/>
          <p:cNvSpPr>
            <a:spLocks/>
          </p:cNvSpPr>
          <p:nvPr userDrawn="1"/>
        </p:nvSpPr>
        <p:spPr bwMode="ltGray">
          <a:xfrm>
            <a:off x="585788" y="2189163"/>
            <a:ext cx="19050" cy="400050"/>
          </a:xfrm>
          <a:custGeom>
            <a:avLst/>
            <a:gdLst/>
            <a:ahLst/>
            <a:cxnLst>
              <a:cxn ang="0">
                <a:pos x="0" y="252"/>
              </a:cxn>
              <a:cxn ang="0">
                <a:pos x="12" y="252"/>
              </a:cxn>
              <a:cxn ang="0">
                <a:pos x="12" y="0"/>
              </a:cxn>
              <a:cxn ang="0">
                <a:pos x="0" y="0"/>
              </a:cxn>
              <a:cxn ang="0">
                <a:pos x="0" y="252"/>
              </a:cxn>
              <a:cxn ang="0">
                <a:pos x="0" y="252"/>
              </a:cxn>
            </a:cxnLst>
            <a:rect l="0" t="0" r="r" b="b"/>
            <a:pathLst>
              <a:path w="12" h="252">
                <a:moveTo>
                  <a:pt x="0" y="252"/>
                </a:moveTo>
                <a:lnTo>
                  <a:pt x="12" y="252"/>
                </a:lnTo>
                <a:lnTo>
                  <a:pt x="12" y="0"/>
                </a:lnTo>
                <a:lnTo>
                  <a:pt x="0" y="0"/>
                </a:lnTo>
                <a:lnTo>
                  <a:pt x="0" y="252"/>
                </a:lnTo>
                <a:lnTo>
                  <a:pt x="0" y="252"/>
                </a:lnTo>
                <a:close/>
              </a:path>
            </a:pathLst>
          </a:custGeom>
          <a:gradFill rotWithShape="0">
            <a:gsLst>
              <a:gs pos="0">
                <a:schemeClr val="accent2"/>
              </a:gs>
              <a:gs pos="100000">
                <a:schemeClr val="bg2"/>
              </a:gs>
            </a:gsLst>
            <a:lin ang="5400000" scaled="1"/>
          </a:gradFill>
          <a:ln w="9525">
            <a:noFill/>
            <a:round/>
            <a:headEnd/>
            <a:tailEnd/>
          </a:ln>
        </p:spPr>
        <p:txBody>
          <a:bodyPr/>
          <a:lstStyle/>
          <a:p>
            <a:pPr>
              <a:defRPr/>
            </a:pPr>
            <a:endParaRPr lang="en-US"/>
          </a:p>
        </p:txBody>
      </p:sp>
      <p:sp>
        <p:nvSpPr>
          <p:cNvPr id="46090" name="Freeform 10"/>
          <p:cNvSpPr>
            <a:spLocks/>
          </p:cNvSpPr>
          <p:nvPr userDrawn="1"/>
        </p:nvSpPr>
        <p:spPr bwMode="ltGray">
          <a:xfrm>
            <a:off x="585788" y="1165225"/>
            <a:ext cx="19050" cy="400050"/>
          </a:xfrm>
          <a:custGeom>
            <a:avLst/>
            <a:gdLst/>
            <a:ahLst/>
            <a:cxnLst>
              <a:cxn ang="0">
                <a:pos x="12" y="0"/>
              </a:cxn>
              <a:cxn ang="0">
                <a:pos x="0" y="0"/>
              </a:cxn>
              <a:cxn ang="0">
                <a:pos x="0" y="252"/>
              </a:cxn>
              <a:cxn ang="0">
                <a:pos x="12" y="252"/>
              </a:cxn>
              <a:cxn ang="0">
                <a:pos x="12" y="0"/>
              </a:cxn>
              <a:cxn ang="0">
                <a:pos x="12" y="0"/>
              </a:cxn>
            </a:cxnLst>
            <a:rect l="0" t="0" r="r" b="b"/>
            <a:pathLst>
              <a:path w="12" h="252">
                <a:moveTo>
                  <a:pt x="12" y="0"/>
                </a:moveTo>
                <a:lnTo>
                  <a:pt x="0" y="0"/>
                </a:lnTo>
                <a:lnTo>
                  <a:pt x="0" y="252"/>
                </a:lnTo>
                <a:lnTo>
                  <a:pt x="12" y="252"/>
                </a:lnTo>
                <a:lnTo>
                  <a:pt x="12" y="0"/>
                </a:lnTo>
                <a:lnTo>
                  <a:pt x="12" y="0"/>
                </a:lnTo>
                <a:close/>
              </a:path>
            </a:pathLst>
          </a:custGeom>
          <a:gradFill rotWithShape="0">
            <a:gsLst>
              <a:gs pos="0">
                <a:schemeClr val="bg2"/>
              </a:gs>
              <a:gs pos="100000">
                <a:schemeClr val="accent2"/>
              </a:gs>
            </a:gsLst>
            <a:lin ang="5400000" scaled="1"/>
          </a:gradFill>
          <a:ln w="9525">
            <a:noFill/>
            <a:round/>
            <a:headEnd/>
            <a:tailEnd/>
          </a:ln>
        </p:spPr>
        <p:txBody>
          <a:bodyPr/>
          <a:lstStyle/>
          <a:p>
            <a:pPr>
              <a:defRPr/>
            </a:pPr>
            <a:endParaRPr lang="en-US"/>
          </a:p>
        </p:txBody>
      </p:sp>
      <p:sp>
        <p:nvSpPr>
          <p:cNvPr id="46091" name="Freeform 11"/>
          <p:cNvSpPr>
            <a:spLocks/>
          </p:cNvSpPr>
          <p:nvPr userDrawn="1"/>
        </p:nvSpPr>
        <p:spPr bwMode="ltGray">
          <a:xfrm>
            <a:off x="585788" y="1550988"/>
            <a:ext cx="19050" cy="666750"/>
          </a:xfrm>
          <a:custGeom>
            <a:avLst/>
            <a:gdLst/>
            <a:ahLst/>
            <a:cxnLst>
              <a:cxn ang="0">
                <a:pos x="0" y="0"/>
              </a:cxn>
              <a:cxn ang="0">
                <a:pos x="0" y="420"/>
              </a:cxn>
              <a:cxn ang="0">
                <a:pos x="12" y="420"/>
              </a:cxn>
              <a:cxn ang="0">
                <a:pos x="12" y="0"/>
              </a:cxn>
              <a:cxn ang="0">
                <a:pos x="0" y="0"/>
              </a:cxn>
              <a:cxn ang="0">
                <a:pos x="0" y="0"/>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w="9525">
            <a:noFill/>
            <a:round/>
            <a:headEnd/>
            <a:tailEnd/>
          </a:ln>
        </p:spPr>
        <p:txBody>
          <a:bodyPr/>
          <a:lstStyle/>
          <a:p>
            <a:pPr>
              <a:defRPr/>
            </a:pPr>
            <a:endParaRPr lang="en-US"/>
          </a:p>
        </p:txBody>
      </p:sp>
      <p:sp>
        <p:nvSpPr>
          <p:cNvPr id="46092" name="Freeform 12"/>
          <p:cNvSpPr>
            <a:spLocks/>
          </p:cNvSpPr>
          <p:nvPr userDrawn="1"/>
        </p:nvSpPr>
        <p:spPr bwMode="ltGray">
          <a:xfrm>
            <a:off x="0" y="1393825"/>
            <a:ext cx="557213" cy="19050"/>
          </a:xfrm>
          <a:custGeom>
            <a:avLst/>
            <a:gdLst/>
            <a:ahLst/>
            <a:cxnLst>
              <a:cxn ang="0">
                <a:pos x="0" y="0"/>
              </a:cxn>
              <a:cxn ang="0">
                <a:pos x="0" y="12"/>
              </a:cxn>
              <a:cxn ang="0">
                <a:pos x="251" y="12"/>
              </a:cxn>
              <a:cxn ang="0">
                <a:pos x="251" y="0"/>
              </a:cxn>
              <a:cxn ang="0">
                <a:pos x="0" y="0"/>
              </a:cxn>
              <a:cxn ang="0">
                <a:pos x="0" y="0"/>
              </a:cxn>
            </a:cxnLst>
            <a:rect l="0" t="0" r="r" b="b"/>
            <a:pathLst>
              <a:path w="251" h="12">
                <a:moveTo>
                  <a:pt x="0" y="0"/>
                </a:moveTo>
                <a:lnTo>
                  <a:pt x="0" y="12"/>
                </a:lnTo>
                <a:lnTo>
                  <a:pt x="251" y="12"/>
                </a:lnTo>
                <a:lnTo>
                  <a:pt x="251" y="0"/>
                </a:lnTo>
                <a:lnTo>
                  <a:pt x="0" y="0"/>
                </a:lnTo>
                <a:lnTo>
                  <a:pt x="0" y="0"/>
                </a:lnTo>
                <a:close/>
              </a:path>
            </a:pathLst>
          </a:custGeom>
          <a:gradFill rotWithShape="0">
            <a:gsLst>
              <a:gs pos="0">
                <a:schemeClr val="bg2"/>
              </a:gs>
              <a:gs pos="100000">
                <a:schemeClr val="accent2"/>
              </a:gs>
            </a:gsLst>
            <a:lin ang="0" scaled="1"/>
          </a:gradFill>
          <a:ln w="9525">
            <a:noFill/>
            <a:round/>
            <a:headEnd/>
            <a:tailEnd/>
          </a:ln>
        </p:spPr>
        <p:txBody>
          <a:bodyPr/>
          <a:lstStyle/>
          <a:p>
            <a:pPr>
              <a:defRPr/>
            </a:pPr>
            <a:endParaRPr lang="en-US"/>
          </a:p>
        </p:txBody>
      </p:sp>
      <p:sp>
        <p:nvSpPr>
          <p:cNvPr id="46093" name="Freeform 13"/>
          <p:cNvSpPr>
            <a:spLocks/>
          </p:cNvSpPr>
          <p:nvPr userDrawn="1"/>
        </p:nvSpPr>
        <p:spPr bwMode="ltGray">
          <a:xfrm>
            <a:off x="1217613" y="1393825"/>
            <a:ext cx="400050" cy="19050"/>
          </a:xfrm>
          <a:custGeom>
            <a:avLst/>
            <a:gdLst/>
            <a:ahLst/>
            <a:cxnLst>
              <a:cxn ang="0">
                <a:pos x="251" y="0"/>
              </a:cxn>
              <a:cxn ang="0">
                <a:pos x="0" y="0"/>
              </a:cxn>
              <a:cxn ang="0">
                <a:pos x="0" y="12"/>
              </a:cxn>
              <a:cxn ang="0">
                <a:pos x="251" y="12"/>
              </a:cxn>
              <a:cxn ang="0">
                <a:pos x="251" y="0"/>
              </a:cxn>
              <a:cxn ang="0">
                <a:pos x="251" y="0"/>
              </a:cxn>
            </a:cxnLst>
            <a:rect l="0" t="0" r="r" b="b"/>
            <a:pathLst>
              <a:path w="251" h="12">
                <a:moveTo>
                  <a:pt x="251" y="0"/>
                </a:moveTo>
                <a:lnTo>
                  <a:pt x="0" y="0"/>
                </a:lnTo>
                <a:lnTo>
                  <a:pt x="0" y="12"/>
                </a:lnTo>
                <a:lnTo>
                  <a:pt x="251" y="12"/>
                </a:lnTo>
                <a:lnTo>
                  <a:pt x="251" y="0"/>
                </a:lnTo>
                <a:lnTo>
                  <a:pt x="251" y="0"/>
                </a:lnTo>
                <a:close/>
              </a:path>
            </a:pathLst>
          </a:custGeom>
          <a:gradFill rotWithShape="0">
            <a:gsLst>
              <a:gs pos="0">
                <a:schemeClr val="accent2"/>
              </a:gs>
              <a:gs pos="100000">
                <a:schemeClr val="bg2"/>
              </a:gs>
            </a:gsLst>
            <a:lin ang="0" scaled="1"/>
          </a:gradFill>
          <a:ln w="9525">
            <a:noFill/>
            <a:round/>
            <a:headEnd/>
            <a:tailEnd/>
          </a:ln>
        </p:spPr>
        <p:txBody>
          <a:bodyPr/>
          <a:lstStyle/>
          <a:p>
            <a:pPr>
              <a:defRPr/>
            </a:pPr>
            <a:endParaRPr lang="en-US"/>
          </a:p>
        </p:txBody>
      </p:sp>
      <p:sp>
        <p:nvSpPr>
          <p:cNvPr id="46094" name="Freeform 14"/>
          <p:cNvSpPr>
            <a:spLocks/>
          </p:cNvSpPr>
          <p:nvPr userDrawn="1"/>
        </p:nvSpPr>
        <p:spPr bwMode="ltGray">
          <a:xfrm>
            <a:off x="552450" y="1393825"/>
            <a:ext cx="665163" cy="19050"/>
          </a:xfrm>
          <a:custGeom>
            <a:avLst/>
            <a:gdLst/>
            <a:ahLst/>
            <a:cxnLst>
              <a:cxn ang="0">
                <a:pos x="0" y="0"/>
              </a:cxn>
              <a:cxn ang="0">
                <a:pos x="0" y="12"/>
              </a:cxn>
              <a:cxn ang="0">
                <a:pos x="418" y="12"/>
              </a:cxn>
              <a:cxn ang="0">
                <a:pos x="418" y="0"/>
              </a:cxn>
              <a:cxn ang="0">
                <a:pos x="0" y="0"/>
              </a:cxn>
              <a:cxn ang="0">
                <a:pos x="0" y="0"/>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w="9525">
            <a:noFill/>
            <a:round/>
            <a:headEnd/>
            <a:tailEnd/>
          </a:ln>
        </p:spPr>
        <p:txBody>
          <a:bodyPr/>
          <a:lstStyle/>
          <a:p>
            <a:pPr>
              <a:defRPr/>
            </a:pPr>
            <a:endParaRPr lang="en-US"/>
          </a:p>
        </p:txBody>
      </p:sp>
      <p:sp>
        <p:nvSpPr>
          <p:cNvPr id="46095" name="Rectangle 15"/>
          <p:cNvSpPr>
            <a:spLocks noGrp="1" noChangeArrowheads="1"/>
          </p:cNvSpPr>
          <p:nvPr>
            <p:ph type="title"/>
          </p:nvPr>
        </p:nvSpPr>
        <p:spPr bwMode="auto">
          <a:xfrm>
            <a:off x="1066800" y="0"/>
            <a:ext cx="7543800" cy="134143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6096" name="Rectangle 16"/>
          <p:cNvSpPr>
            <a:spLocks noGrp="1" noChangeArrowheads="1"/>
          </p:cNvSpPr>
          <p:nvPr>
            <p:ph type="body" idx="1"/>
          </p:nvPr>
        </p:nvSpPr>
        <p:spPr bwMode="auto">
          <a:xfrm>
            <a:off x="646113" y="1444625"/>
            <a:ext cx="8497887" cy="48704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097" name="Rectangle 17"/>
          <p:cNvSpPr>
            <a:spLocks noGrp="1" noChangeArrowheads="1"/>
          </p:cNvSpPr>
          <p:nvPr>
            <p:ph type="dt" sz="half" idx="2"/>
          </p:nvPr>
        </p:nvSpPr>
        <p:spPr bwMode="auto">
          <a:xfrm>
            <a:off x="1066800" y="630555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b="0">
                <a:effectLst>
                  <a:outerShdw blurRad="38100" dist="38100" dir="2700000" algn="tl">
                    <a:srgbClr val="000000"/>
                  </a:outerShdw>
                </a:effectLst>
              </a:defRPr>
            </a:lvl1pPr>
          </a:lstStyle>
          <a:p>
            <a:pPr>
              <a:defRPr/>
            </a:pPr>
            <a:endParaRPr lang="en-US"/>
          </a:p>
        </p:txBody>
      </p:sp>
      <p:sp>
        <p:nvSpPr>
          <p:cNvPr id="46098" name="Rectangle 18"/>
          <p:cNvSpPr>
            <a:spLocks noGrp="1" noChangeArrowheads="1"/>
          </p:cNvSpPr>
          <p:nvPr>
            <p:ph type="ftr" sz="quarter" idx="3"/>
          </p:nvPr>
        </p:nvSpPr>
        <p:spPr bwMode="auto">
          <a:xfrm>
            <a:off x="3429000" y="6291263"/>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0">
                <a:effectLst>
                  <a:outerShdw blurRad="38100" dist="38100" dir="2700000" algn="tl">
                    <a:srgbClr val="000000"/>
                  </a:outerShdw>
                </a:effectLst>
              </a:defRPr>
            </a:lvl1pPr>
          </a:lstStyle>
          <a:p>
            <a:pPr>
              <a:defRPr/>
            </a:pPr>
            <a:endParaRPr lang="en-US"/>
          </a:p>
        </p:txBody>
      </p:sp>
      <p:sp>
        <p:nvSpPr>
          <p:cNvPr id="46099" name="Rectangle 19"/>
          <p:cNvSpPr>
            <a:spLocks noGrp="1" noChangeArrowheads="1"/>
          </p:cNvSpPr>
          <p:nvPr>
            <p:ph type="sldNum" sz="quarter" idx="4"/>
          </p:nvPr>
        </p:nvSpPr>
        <p:spPr bwMode="auto">
          <a:xfrm>
            <a:off x="6705600" y="6291263"/>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0">
                <a:effectLst>
                  <a:outerShdw blurRad="38100" dist="38100" dir="2700000" algn="tl">
                    <a:srgbClr val="000000"/>
                  </a:outerShdw>
                </a:effectLst>
              </a:defRPr>
            </a:lvl1pPr>
          </a:lstStyle>
          <a:p>
            <a:pPr>
              <a:defRPr/>
            </a:pPr>
            <a:fld id="{82C9FF20-E260-4218-A5C8-365E6A3B6F7C}"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722" r:id="rId1"/>
    <p:sldLayoutId id="2147483723"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4" r:id="rId12"/>
  </p:sldLayoutIdLst>
  <p:hf hdr="0" ftr="0" dt="0"/>
  <p:txStyles>
    <p:titleStyle>
      <a:lvl1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2pPr>
      <a:lvl3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3pPr>
      <a:lvl4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4pPr>
      <a:lvl5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5pPr>
      <a:lvl6pPr marL="4572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6pPr>
      <a:lvl7pPr marL="9144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7pPr>
      <a:lvl8pPr marL="13716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8pPr>
      <a:lvl9pPr marL="18288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tx1"/>
        </a:buClr>
        <a:buChar char="–"/>
        <a:defRPr sz="16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wired.com/story/crowdstrike-outage-update-window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f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392555" y="106680"/>
            <a:ext cx="7086600" cy="1431925"/>
          </a:xfrm>
        </p:spPr>
        <p:txBody>
          <a:bodyPr anchor="ctr"/>
          <a:lstStyle/>
          <a:p>
            <a:pPr algn="ctr" eaLnBrk="1" hangingPunct="1">
              <a:defRPr/>
            </a:pPr>
            <a:r>
              <a:rPr lang="en-US" dirty="0"/>
              <a:t>Information Systems Security</a:t>
            </a:r>
          </a:p>
        </p:txBody>
      </p:sp>
      <p:sp>
        <p:nvSpPr>
          <p:cNvPr id="2051" name="Rectangle 3"/>
          <p:cNvSpPr>
            <a:spLocks noGrp="1" noChangeArrowheads="1"/>
          </p:cNvSpPr>
          <p:nvPr>
            <p:ph type="subTitle" idx="1"/>
          </p:nvPr>
        </p:nvSpPr>
        <p:spPr>
          <a:xfrm>
            <a:off x="1203960" y="2583815"/>
            <a:ext cx="7741920" cy="2924175"/>
          </a:xfrm>
        </p:spPr>
        <p:txBody>
          <a:bodyPr/>
          <a:lstStyle/>
          <a:p>
            <a:pPr algn="ctr" eaLnBrk="1" hangingPunct="1">
              <a:defRPr/>
            </a:pPr>
            <a:r>
              <a:rPr lang="en-US" sz="4400" b="1" dirty="0">
                <a:solidFill>
                  <a:srgbClr val="FFFF00"/>
                </a:solidFill>
              </a:rPr>
              <a:t>Introduction to Information Systems Security</a:t>
            </a:r>
          </a:p>
          <a:p>
            <a:pPr algn="ctr" eaLnBrk="1" hangingPunct="1">
              <a:defRPr/>
            </a:pPr>
            <a:endParaRPr lang="en-US" sz="2800" b="1" dirty="0">
              <a:solidFill>
                <a:srgbClr val="FFFF00"/>
              </a:solidFill>
            </a:endParaRPr>
          </a:p>
          <a:p>
            <a:pPr algn="ctr" eaLnBrk="1" hangingPunct="1">
              <a:defRPr/>
            </a:pPr>
            <a:r>
              <a:rPr lang="en-US" dirty="0"/>
              <a:t>Lecture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0CDA7B5E-B990-4CA4-A875-0DC4B4B5276D}" type="slidenum">
              <a:rPr lang="en-US"/>
              <a:pPr>
                <a:defRPr/>
              </a:pPr>
              <a:t>2</a:t>
            </a:fld>
            <a:endParaRPr lang="en-US"/>
          </a:p>
        </p:txBody>
      </p:sp>
      <p:sp>
        <p:nvSpPr>
          <p:cNvPr id="107522" name="Rectangle 2"/>
          <p:cNvSpPr>
            <a:spLocks noGrp="1" noChangeArrowheads="1"/>
          </p:cNvSpPr>
          <p:nvPr>
            <p:ph type="title"/>
          </p:nvPr>
        </p:nvSpPr>
        <p:spPr/>
        <p:txBody>
          <a:bodyPr/>
          <a:lstStyle/>
          <a:p>
            <a:pPr eaLnBrk="1" hangingPunct="1">
              <a:defRPr/>
            </a:pPr>
            <a:r>
              <a:rPr lang="en-US"/>
              <a:t>Outline</a:t>
            </a:r>
          </a:p>
        </p:txBody>
      </p:sp>
      <p:sp>
        <p:nvSpPr>
          <p:cNvPr id="107523" name="Rectangle 3"/>
          <p:cNvSpPr>
            <a:spLocks noGrp="1" noChangeArrowheads="1"/>
          </p:cNvSpPr>
          <p:nvPr>
            <p:ph type="body" idx="1"/>
          </p:nvPr>
        </p:nvSpPr>
        <p:spPr>
          <a:xfrm>
            <a:off x="762000" y="2024743"/>
            <a:ext cx="7772400" cy="4447495"/>
          </a:xfrm>
        </p:spPr>
        <p:txBody>
          <a:bodyPr/>
          <a:lstStyle/>
          <a:p>
            <a:pPr marL="457200" indent="-457200" eaLnBrk="1" hangingPunct="1">
              <a:buFont typeface="Wingdings" pitchFamily="2" charset="2"/>
              <a:buAutoNum type="arabicPeriod"/>
              <a:defRPr/>
            </a:pPr>
            <a:r>
              <a:rPr lang="en-US" dirty="0">
                <a:effectLst/>
              </a:rPr>
              <a:t>Attack Examples</a:t>
            </a:r>
            <a:endParaRPr lang="en-US" dirty="0">
              <a:solidFill>
                <a:srgbClr val="FFFF00"/>
              </a:solidFill>
            </a:endParaRPr>
          </a:p>
          <a:p>
            <a:pPr marL="457200" indent="-457200" eaLnBrk="1" hangingPunct="1">
              <a:buFont typeface="Wingdings" pitchFamily="2" charset="2"/>
              <a:buAutoNum type="arabicPeriod"/>
              <a:defRPr/>
            </a:pPr>
            <a:r>
              <a:rPr lang="en-US" dirty="0">
                <a:solidFill>
                  <a:srgbClr val="FFFF00"/>
                </a:solidFill>
              </a:rPr>
              <a:t>What is Information </a:t>
            </a:r>
            <a:r>
              <a:rPr lang="en-US" dirty="0"/>
              <a:t>Systems </a:t>
            </a:r>
            <a:r>
              <a:rPr lang="en-US" dirty="0">
                <a:solidFill>
                  <a:srgbClr val="FFFF00"/>
                </a:solidFill>
              </a:rPr>
              <a:t>Security?</a:t>
            </a:r>
          </a:p>
          <a:p>
            <a:pPr marL="457200" indent="-457200" eaLnBrk="1" hangingPunct="1">
              <a:buFont typeface="Wingdings" pitchFamily="2" charset="2"/>
              <a:buAutoNum type="arabicPeriod"/>
              <a:defRPr/>
            </a:pPr>
            <a:r>
              <a:rPr lang="en-US" dirty="0"/>
              <a:t>ISS Objectives </a:t>
            </a:r>
            <a:endParaRPr lang="en-US" dirty="0">
              <a:solidFill>
                <a:srgbClr val="FFFF00"/>
              </a:solidFill>
            </a:endParaRPr>
          </a:p>
          <a:p>
            <a:pPr marL="457200" indent="-457200" eaLnBrk="1" hangingPunct="1">
              <a:buFont typeface="Wingdings" pitchFamily="2" charset="2"/>
              <a:buAutoNum type="arabicPeriod"/>
              <a:defRPr/>
            </a:pPr>
            <a:r>
              <a:rPr lang="en-US" dirty="0">
                <a:solidFill>
                  <a:srgbClr val="FFFF00"/>
                </a:solidFill>
              </a:rPr>
              <a:t>Security terms</a:t>
            </a:r>
          </a:p>
          <a:p>
            <a:pPr marL="457200" indent="-457200" eaLnBrk="1" hangingPunct="1">
              <a:buFont typeface="Wingdings" pitchFamily="2" charset="2"/>
              <a:buAutoNum type="arabicPeriod"/>
              <a:defRPr/>
            </a:pPr>
            <a:r>
              <a:rPr lang="en-US" dirty="0">
                <a:solidFill>
                  <a:srgbClr val="FFFF00"/>
                </a:solidFill>
              </a:rPr>
              <a:t>Security Policies</a:t>
            </a:r>
          </a:p>
          <a:p>
            <a:pPr marL="457200" indent="-457200" eaLnBrk="1" hangingPunct="1">
              <a:buFont typeface="Wingdings" pitchFamily="2" charset="2"/>
              <a:buAutoNum type="arabicPeriod"/>
              <a:defRPr/>
            </a:pPr>
            <a:r>
              <a:rPr lang="en-GB" dirty="0">
                <a:solidFill>
                  <a:srgbClr val="FFFF00"/>
                </a:solidFill>
              </a:rPr>
              <a:t>Conclusion</a:t>
            </a:r>
            <a:endParaRPr lang="en-US" dirty="0">
              <a:solidFill>
                <a:srgbClr val="FFFF00"/>
              </a:solidFill>
            </a:endParaRPr>
          </a:p>
        </p:txBody>
      </p:sp>
    </p:spTree>
    <p:extLst>
      <p:ext uri="{BB962C8B-B14F-4D97-AF65-F5344CB8AC3E}">
        <p14:creationId xmlns:p14="http://schemas.microsoft.com/office/powerpoint/2010/main" val="2480778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482" y="0"/>
            <a:ext cx="7976118" cy="1341438"/>
          </a:xfrm>
        </p:spPr>
        <p:txBody>
          <a:bodyPr/>
          <a:lstStyle/>
          <a:p>
            <a:r>
              <a:rPr lang="en-US" dirty="0">
                <a:effectLst/>
              </a:rPr>
              <a:t>Security-Related News</a:t>
            </a:r>
            <a:endParaRPr lang="en-US" dirty="0"/>
          </a:p>
        </p:txBody>
      </p:sp>
      <p:sp>
        <p:nvSpPr>
          <p:cNvPr id="3" name="Content Placeholder 2"/>
          <p:cNvSpPr>
            <a:spLocks noGrp="1"/>
          </p:cNvSpPr>
          <p:nvPr>
            <p:ph idx="1"/>
          </p:nvPr>
        </p:nvSpPr>
        <p:spPr>
          <a:xfrm>
            <a:off x="797711" y="1364248"/>
            <a:ext cx="8306602" cy="1994457"/>
          </a:xfrm>
        </p:spPr>
        <p:txBody>
          <a:bodyPr/>
          <a:lstStyle/>
          <a:p>
            <a:r>
              <a:rPr lang="en-US" dirty="0"/>
              <a:t>July 2024, </a:t>
            </a:r>
          </a:p>
          <a:p>
            <a:pPr lvl="1"/>
            <a:r>
              <a:rPr lang="en-US" dirty="0">
                <a:effectLst/>
              </a:rPr>
              <a:t>a </a:t>
            </a:r>
            <a:r>
              <a:rPr lang="en-US" u="sng" dirty="0">
                <a:effectLst/>
                <a:hlinkClick r:id="rId3"/>
              </a:rPr>
              <a:t>flawed software update</a:t>
            </a:r>
            <a:r>
              <a:rPr lang="en-US" dirty="0">
                <a:effectLst/>
              </a:rPr>
              <a:t> from the security firm CrowdStrike took down Windows computers across the world.</a:t>
            </a:r>
          </a:p>
        </p:txBody>
      </p:sp>
      <p:sp>
        <p:nvSpPr>
          <p:cNvPr id="4" name="Slide Number Placeholder 3"/>
          <p:cNvSpPr>
            <a:spLocks noGrp="1"/>
          </p:cNvSpPr>
          <p:nvPr>
            <p:ph type="sldNum" sz="quarter" idx="12"/>
          </p:nvPr>
        </p:nvSpPr>
        <p:spPr/>
        <p:txBody>
          <a:bodyPr/>
          <a:lstStyle/>
          <a:p>
            <a:pPr>
              <a:defRPr/>
            </a:pPr>
            <a:fld id="{E166F55C-791C-44B6-ADCE-C0EA7528B94A}" type="slidenum">
              <a:rPr lang="en-US" smtClean="0"/>
              <a:pPr>
                <a:defRPr/>
              </a:pPr>
              <a:t>3</a:t>
            </a:fld>
            <a:endParaRPr lang="en-US"/>
          </a:p>
        </p:txBody>
      </p:sp>
      <p:pic>
        <p:nvPicPr>
          <p:cNvPr id="6" name="Picture 5">
            <a:extLst>
              <a:ext uri="{FF2B5EF4-FFF2-40B4-BE49-F238E27FC236}">
                <a16:creationId xmlns:a16="http://schemas.microsoft.com/office/drawing/2014/main" id="{C51FC13D-8C7B-4F65-8180-26A0835DB5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5561" y="3429000"/>
            <a:ext cx="4873752" cy="3249168"/>
          </a:xfrm>
          <a:prstGeom prst="rect">
            <a:avLst/>
          </a:prstGeom>
        </p:spPr>
      </p:pic>
    </p:spTree>
    <p:extLst>
      <p:ext uri="{BB962C8B-B14F-4D97-AF65-F5344CB8AC3E}">
        <p14:creationId xmlns:p14="http://schemas.microsoft.com/office/powerpoint/2010/main" val="269247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482" y="0"/>
            <a:ext cx="7976118" cy="1341438"/>
          </a:xfrm>
        </p:spPr>
        <p:txBody>
          <a:bodyPr/>
          <a:lstStyle/>
          <a:p>
            <a:r>
              <a:rPr lang="en-US" dirty="0">
                <a:effectLst/>
              </a:rPr>
              <a:t>Attack Examples</a:t>
            </a:r>
            <a:endParaRPr lang="en-US" dirty="0"/>
          </a:p>
        </p:txBody>
      </p:sp>
      <p:sp>
        <p:nvSpPr>
          <p:cNvPr id="3" name="Content Placeholder 2"/>
          <p:cNvSpPr>
            <a:spLocks noGrp="1"/>
          </p:cNvSpPr>
          <p:nvPr>
            <p:ph idx="1"/>
          </p:nvPr>
        </p:nvSpPr>
        <p:spPr>
          <a:xfrm>
            <a:off x="837398" y="1665170"/>
            <a:ext cx="8306602" cy="3765812"/>
          </a:xfrm>
        </p:spPr>
        <p:txBody>
          <a:bodyPr/>
          <a:lstStyle/>
          <a:p>
            <a:endParaRPr lang="en-US" dirty="0">
              <a:effectLst/>
            </a:endParaRPr>
          </a:p>
          <a:p>
            <a:r>
              <a:rPr lang="en-US" dirty="0">
                <a:effectLst/>
              </a:rPr>
              <a:t>June 2022, </a:t>
            </a:r>
            <a:r>
              <a:rPr lang="en-US" dirty="0"/>
              <a:t>a Google Cloud Armor customer was targeted with a series of HTTPS DDoS attacks which peaked at 46 million requests per second.</a:t>
            </a:r>
          </a:p>
          <a:p>
            <a:pPr lvl="1"/>
            <a:r>
              <a:rPr lang="en-US" dirty="0">
                <a:effectLst/>
              </a:rPr>
              <a:t>10 sec of attack’s traffic = Wikipedia’s daily requests</a:t>
            </a:r>
          </a:p>
          <a:p>
            <a:pPr lvl="1"/>
            <a:r>
              <a:rPr lang="en-US" dirty="0">
                <a:effectLst/>
              </a:rPr>
              <a:t>Targeted by 5,256 source IP @s from 132 countries</a:t>
            </a:r>
          </a:p>
        </p:txBody>
      </p:sp>
      <p:sp>
        <p:nvSpPr>
          <p:cNvPr id="4" name="Slide Number Placeholder 3"/>
          <p:cNvSpPr>
            <a:spLocks noGrp="1"/>
          </p:cNvSpPr>
          <p:nvPr>
            <p:ph type="sldNum" sz="quarter" idx="12"/>
          </p:nvPr>
        </p:nvSpPr>
        <p:spPr/>
        <p:txBody>
          <a:bodyPr/>
          <a:lstStyle/>
          <a:p>
            <a:pPr>
              <a:defRPr/>
            </a:pPr>
            <a:fld id="{E166F55C-791C-44B6-ADCE-C0EA7528B94A}" type="slidenum">
              <a:rPr lang="en-US" smtClean="0"/>
              <a:pPr>
                <a:defRPr/>
              </a:pPr>
              <a:t>4</a:t>
            </a:fld>
            <a:endParaRPr lang="en-US"/>
          </a:p>
        </p:txBody>
      </p:sp>
    </p:spTree>
    <p:extLst>
      <p:ext uri="{BB962C8B-B14F-4D97-AF65-F5344CB8AC3E}">
        <p14:creationId xmlns:p14="http://schemas.microsoft.com/office/powerpoint/2010/main" val="322230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110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7C89-6F7C-2945-45AA-1ECD16A441AE}"/>
              </a:ext>
            </a:extLst>
          </p:cNvPr>
          <p:cNvSpPr>
            <a:spLocks noGrp="1"/>
          </p:cNvSpPr>
          <p:nvPr>
            <p:ph type="title"/>
          </p:nvPr>
        </p:nvSpPr>
        <p:spPr>
          <a:xfrm>
            <a:off x="1066800" y="0"/>
            <a:ext cx="7741534" cy="1341438"/>
          </a:xfrm>
        </p:spPr>
        <p:txBody>
          <a:bodyPr/>
          <a:lstStyle/>
          <a:p>
            <a:r>
              <a:rPr lang="en-US" dirty="0" err="1"/>
              <a:t>Verzion’s</a:t>
            </a:r>
            <a:r>
              <a:rPr lang="en-US" dirty="0"/>
              <a:t> 2024 Data Breach Investigations Report</a:t>
            </a:r>
          </a:p>
        </p:txBody>
      </p:sp>
      <p:sp>
        <p:nvSpPr>
          <p:cNvPr id="3" name="Content Placeholder 2">
            <a:extLst>
              <a:ext uri="{FF2B5EF4-FFF2-40B4-BE49-F238E27FC236}">
                <a16:creationId xmlns:a16="http://schemas.microsoft.com/office/drawing/2014/main" id="{4F8B83ED-A454-E45B-EAA8-A5E141BA76E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25AFD1E-56F0-D8B7-6D9B-9568E1DBC56B}"/>
              </a:ext>
            </a:extLst>
          </p:cNvPr>
          <p:cNvSpPr>
            <a:spLocks noGrp="1"/>
          </p:cNvSpPr>
          <p:nvPr>
            <p:ph type="sldNum" sz="quarter" idx="12"/>
          </p:nvPr>
        </p:nvSpPr>
        <p:spPr/>
        <p:txBody>
          <a:bodyPr/>
          <a:lstStyle/>
          <a:p>
            <a:pPr>
              <a:defRPr/>
            </a:pPr>
            <a:fld id="{0E2F858B-2218-4DCA-9707-121426E71222}" type="slidenum">
              <a:rPr lang="en-US" smtClean="0"/>
              <a:pPr>
                <a:defRPr/>
              </a:pPr>
              <a:t>5</a:t>
            </a:fld>
            <a:endParaRPr lang="en-US"/>
          </a:p>
        </p:txBody>
      </p:sp>
      <p:pic>
        <p:nvPicPr>
          <p:cNvPr id="6" name="Picture 5">
            <a:extLst>
              <a:ext uri="{FF2B5EF4-FFF2-40B4-BE49-F238E27FC236}">
                <a16:creationId xmlns:a16="http://schemas.microsoft.com/office/drawing/2014/main" id="{D674792A-7732-5A61-511A-7988AA884823}"/>
              </a:ext>
            </a:extLst>
          </p:cNvPr>
          <p:cNvPicPr>
            <a:picLocks noChangeAspect="1"/>
          </p:cNvPicPr>
          <p:nvPr/>
        </p:nvPicPr>
        <p:blipFill>
          <a:blip r:embed="rId2"/>
          <a:stretch>
            <a:fillRect/>
          </a:stretch>
        </p:blipFill>
        <p:spPr>
          <a:xfrm>
            <a:off x="152400" y="2099359"/>
            <a:ext cx="8839200" cy="3914775"/>
          </a:xfrm>
          <a:prstGeom prst="rect">
            <a:avLst/>
          </a:prstGeom>
        </p:spPr>
      </p:pic>
    </p:spTree>
    <p:extLst>
      <p:ext uri="{BB962C8B-B14F-4D97-AF65-F5344CB8AC3E}">
        <p14:creationId xmlns:p14="http://schemas.microsoft.com/office/powerpoint/2010/main" val="149911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0CDA7B5E-B990-4CA4-A875-0DC4B4B5276D}" type="slidenum">
              <a:rPr lang="en-US"/>
              <a:pPr>
                <a:defRPr/>
              </a:pPr>
              <a:t>6</a:t>
            </a:fld>
            <a:endParaRPr lang="en-US"/>
          </a:p>
        </p:txBody>
      </p:sp>
      <p:sp>
        <p:nvSpPr>
          <p:cNvPr id="107522" name="Rectangle 2"/>
          <p:cNvSpPr>
            <a:spLocks noGrp="1" noChangeArrowheads="1"/>
          </p:cNvSpPr>
          <p:nvPr>
            <p:ph type="title"/>
          </p:nvPr>
        </p:nvSpPr>
        <p:spPr/>
        <p:txBody>
          <a:bodyPr/>
          <a:lstStyle/>
          <a:p>
            <a:pPr eaLnBrk="1" hangingPunct="1">
              <a:defRPr/>
            </a:pPr>
            <a:r>
              <a:rPr lang="en-US"/>
              <a:t>Outline</a:t>
            </a:r>
          </a:p>
        </p:txBody>
      </p:sp>
      <p:sp>
        <p:nvSpPr>
          <p:cNvPr id="107523" name="Rectangle 3"/>
          <p:cNvSpPr>
            <a:spLocks noGrp="1" noChangeArrowheads="1"/>
          </p:cNvSpPr>
          <p:nvPr>
            <p:ph type="body" idx="1"/>
          </p:nvPr>
        </p:nvSpPr>
        <p:spPr>
          <a:xfrm>
            <a:off x="762000" y="2024743"/>
            <a:ext cx="7772400" cy="4447495"/>
          </a:xfrm>
        </p:spPr>
        <p:txBody>
          <a:bodyPr/>
          <a:lstStyle/>
          <a:p>
            <a:pPr marL="457200" indent="-457200" eaLnBrk="1" hangingPunct="1">
              <a:buFont typeface="Wingdings" pitchFamily="2" charset="2"/>
              <a:buAutoNum type="arabicPeriod"/>
              <a:defRPr/>
            </a:pPr>
            <a:r>
              <a:rPr lang="en-US" dirty="0">
                <a:effectLst/>
              </a:rPr>
              <a:t>Attack Examples</a:t>
            </a:r>
            <a:endParaRPr lang="en-US" dirty="0">
              <a:solidFill>
                <a:srgbClr val="FFFF00"/>
              </a:solidFill>
            </a:endParaRPr>
          </a:p>
          <a:p>
            <a:pPr marL="457200" indent="-457200" eaLnBrk="1" hangingPunct="1">
              <a:buFont typeface="Wingdings" pitchFamily="2" charset="2"/>
              <a:buAutoNum type="arabicPeriod"/>
              <a:defRPr/>
            </a:pPr>
            <a:r>
              <a:rPr lang="en-US" dirty="0">
                <a:solidFill>
                  <a:schemeClr val="tx1"/>
                </a:solidFill>
              </a:rPr>
              <a:t>What is Information Systems Security?</a:t>
            </a:r>
          </a:p>
          <a:p>
            <a:pPr marL="457200" indent="-457200" eaLnBrk="1" hangingPunct="1">
              <a:buFont typeface="Wingdings" pitchFamily="2" charset="2"/>
              <a:buAutoNum type="arabicPeriod"/>
              <a:defRPr/>
            </a:pPr>
            <a:r>
              <a:rPr lang="en-US" dirty="0"/>
              <a:t>ISS Objectives </a:t>
            </a:r>
            <a:endParaRPr lang="en-US" dirty="0">
              <a:solidFill>
                <a:srgbClr val="FFFF00"/>
              </a:solidFill>
            </a:endParaRPr>
          </a:p>
          <a:p>
            <a:pPr marL="457200" indent="-457200" eaLnBrk="1" hangingPunct="1">
              <a:buFont typeface="Wingdings" pitchFamily="2" charset="2"/>
              <a:buAutoNum type="arabicPeriod"/>
              <a:defRPr/>
            </a:pPr>
            <a:r>
              <a:rPr lang="en-US" dirty="0">
                <a:solidFill>
                  <a:srgbClr val="FFFF00"/>
                </a:solidFill>
              </a:rPr>
              <a:t>Security terms</a:t>
            </a:r>
          </a:p>
          <a:p>
            <a:pPr marL="457200" indent="-457200" eaLnBrk="1" hangingPunct="1">
              <a:buFont typeface="Wingdings" pitchFamily="2" charset="2"/>
              <a:buAutoNum type="arabicPeriod"/>
              <a:defRPr/>
            </a:pPr>
            <a:r>
              <a:rPr lang="en-US" dirty="0">
                <a:solidFill>
                  <a:srgbClr val="FFFF00"/>
                </a:solidFill>
              </a:rPr>
              <a:t>Security Policies</a:t>
            </a:r>
          </a:p>
          <a:p>
            <a:pPr marL="457200" indent="-457200" eaLnBrk="1" hangingPunct="1">
              <a:buFont typeface="Wingdings" pitchFamily="2" charset="2"/>
              <a:buAutoNum type="arabicPeriod"/>
              <a:defRPr/>
            </a:pPr>
            <a:r>
              <a:rPr lang="en-GB" dirty="0">
                <a:solidFill>
                  <a:srgbClr val="FFFF00"/>
                </a:solidFill>
              </a:rPr>
              <a:t>Conclusion</a:t>
            </a:r>
            <a:endParaRPr lang="en-US" dirty="0">
              <a:solidFill>
                <a:srgbClr val="FFFF00"/>
              </a:solidFill>
            </a:endParaRPr>
          </a:p>
        </p:txBody>
      </p:sp>
    </p:spTree>
    <p:extLst>
      <p:ext uri="{BB962C8B-B14F-4D97-AF65-F5344CB8AC3E}">
        <p14:creationId xmlns:p14="http://schemas.microsoft.com/office/powerpoint/2010/main" val="3298547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0A726503-5D7B-4DA4-BB02-7DD822F15E30}" type="slidenum">
              <a:rPr lang="en-US"/>
              <a:pPr>
                <a:defRPr/>
              </a:pPr>
              <a:t>7</a:t>
            </a:fld>
            <a:endParaRPr lang="en-US"/>
          </a:p>
        </p:txBody>
      </p:sp>
      <p:sp>
        <p:nvSpPr>
          <p:cNvPr id="118786" name="Rectangle 2"/>
          <p:cNvSpPr>
            <a:spLocks noGrp="1" noChangeArrowheads="1"/>
          </p:cNvSpPr>
          <p:nvPr>
            <p:ph type="title"/>
          </p:nvPr>
        </p:nvSpPr>
        <p:spPr>
          <a:xfrm>
            <a:off x="1066800" y="0"/>
            <a:ext cx="7870825" cy="1341438"/>
          </a:xfrm>
        </p:spPr>
        <p:txBody>
          <a:bodyPr/>
          <a:lstStyle/>
          <a:p>
            <a:pPr eaLnBrk="1" hangingPunct="1">
              <a:defRPr/>
            </a:pPr>
            <a:r>
              <a:rPr lang="en-US" dirty="0"/>
              <a:t>2. What is ISS?</a:t>
            </a:r>
          </a:p>
        </p:txBody>
      </p:sp>
      <p:sp>
        <p:nvSpPr>
          <p:cNvPr id="118787" name="Rectangle 3"/>
          <p:cNvSpPr>
            <a:spLocks noGrp="1" noChangeArrowheads="1"/>
          </p:cNvSpPr>
          <p:nvPr>
            <p:ph type="body" idx="1"/>
          </p:nvPr>
        </p:nvSpPr>
        <p:spPr>
          <a:xfrm>
            <a:off x="266700" y="1363806"/>
            <a:ext cx="8877301" cy="5166938"/>
          </a:xfrm>
        </p:spPr>
        <p:txBody>
          <a:bodyPr/>
          <a:lstStyle/>
          <a:p>
            <a:r>
              <a:rPr lang="en-US" b="1" dirty="0">
                <a:solidFill>
                  <a:schemeClr val="accent2">
                    <a:lumMod val="40000"/>
                    <a:lumOff val="60000"/>
                  </a:schemeClr>
                </a:solidFill>
              </a:rPr>
              <a:t>Information system </a:t>
            </a:r>
          </a:p>
          <a:p>
            <a:pPr marL="400050" lvl="1" indent="0">
              <a:buNone/>
            </a:pPr>
            <a:r>
              <a:rPr lang="en-US" dirty="0"/>
              <a:t>set of applications, services, information technology assets, or other information-handling components</a:t>
            </a:r>
          </a:p>
          <a:p>
            <a:r>
              <a:rPr lang="en-US" b="1" dirty="0">
                <a:solidFill>
                  <a:schemeClr val="accent2">
                    <a:lumMod val="40000"/>
                    <a:lumOff val="60000"/>
                  </a:schemeClr>
                </a:solidFill>
              </a:rPr>
              <a:t>Assets: </a:t>
            </a:r>
            <a:r>
              <a:rPr lang="en-US" dirty="0">
                <a:solidFill>
                  <a:schemeClr val="accent2">
                    <a:lumMod val="40000"/>
                    <a:lumOff val="60000"/>
                  </a:schemeClr>
                </a:solidFill>
              </a:rPr>
              <a:t>Data/information, software, hardware, communication facilities, physical facilities </a:t>
            </a:r>
          </a:p>
          <a:p>
            <a:pPr marL="400050" lvl="1" indent="0">
              <a:buNone/>
            </a:pPr>
            <a:endParaRPr lang="en-US" dirty="0"/>
          </a:p>
        </p:txBody>
      </p:sp>
      <p:sp>
        <p:nvSpPr>
          <p:cNvPr id="2" name="Oval 1">
            <a:extLst>
              <a:ext uri="{FF2B5EF4-FFF2-40B4-BE49-F238E27FC236}">
                <a16:creationId xmlns:a16="http://schemas.microsoft.com/office/drawing/2014/main" id="{39249818-C7B5-B0E4-8DCA-5D108EB7BCDB}"/>
              </a:ext>
            </a:extLst>
          </p:cNvPr>
          <p:cNvSpPr/>
          <p:nvPr/>
        </p:nvSpPr>
        <p:spPr bwMode="auto">
          <a:xfrm>
            <a:off x="3956755" y="5685780"/>
            <a:ext cx="936977" cy="457200"/>
          </a:xfrm>
          <a:prstGeom prst="ellips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3" name="Oval 2">
            <a:extLst>
              <a:ext uri="{FF2B5EF4-FFF2-40B4-BE49-F238E27FC236}">
                <a16:creationId xmlns:a16="http://schemas.microsoft.com/office/drawing/2014/main" id="{CB92F84A-2B5B-B953-DAEB-AAFE5EB1E963}"/>
              </a:ext>
            </a:extLst>
          </p:cNvPr>
          <p:cNvSpPr/>
          <p:nvPr/>
        </p:nvSpPr>
        <p:spPr bwMode="auto">
          <a:xfrm>
            <a:off x="3385940" y="5359300"/>
            <a:ext cx="2196253" cy="1015376"/>
          </a:xfrm>
          <a:prstGeom prst="ellips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5" name="Oval 4">
            <a:extLst>
              <a:ext uri="{FF2B5EF4-FFF2-40B4-BE49-F238E27FC236}">
                <a16:creationId xmlns:a16="http://schemas.microsoft.com/office/drawing/2014/main" id="{F2A92332-BA91-74EB-8A3C-064E5142AD60}"/>
              </a:ext>
            </a:extLst>
          </p:cNvPr>
          <p:cNvSpPr/>
          <p:nvPr/>
        </p:nvSpPr>
        <p:spPr bwMode="auto">
          <a:xfrm>
            <a:off x="3119550" y="4998330"/>
            <a:ext cx="2741319" cy="1628891"/>
          </a:xfrm>
          <a:prstGeom prst="ellips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6" name="Oval 5">
            <a:extLst>
              <a:ext uri="{FF2B5EF4-FFF2-40B4-BE49-F238E27FC236}">
                <a16:creationId xmlns:a16="http://schemas.microsoft.com/office/drawing/2014/main" id="{705C499E-39F4-A6D7-6CBA-839F185C52FF}"/>
              </a:ext>
            </a:extLst>
          </p:cNvPr>
          <p:cNvSpPr/>
          <p:nvPr/>
        </p:nvSpPr>
        <p:spPr bwMode="auto">
          <a:xfrm>
            <a:off x="2289224" y="3866606"/>
            <a:ext cx="4355416" cy="3553097"/>
          </a:xfrm>
          <a:prstGeom prst="ellips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7" name="TextBox 6">
            <a:extLst>
              <a:ext uri="{FF2B5EF4-FFF2-40B4-BE49-F238E27FC236}">
                <a16:creationId xmlns:a16="http://schemas.microsoft.com/office/drawing/2014/main" id="{4D1152A2-6053-DC4F-37FC-E95774427F46}"/>
              </a:ext>
            </a:extLst>
          </p:cNvPr>
          <p:cNvSpPr txBox="1"/>
          <p:nvPr/>
        </p:nvSpPr>
        <p:spPr>
          <a:xfrm>
            <a:off x="4056527" y="5720477"/>
            <a:ext cx="828496" cy="369332"/>
          </a:xfrm>
          <a:prstGeom prst="rect">
            <a:avLst/>
          </a:prstGeom>
          <a:noFill/>
        </p:spPr>
        <p:txBody>
          <a:bodyPr wrap="square" rtlCol="0">
            <a:spAutoFit/>
          </a:bodyPr>
          <a:lstStyle/>
          <a:p>
            <a:r>
              <a:rPr lang="en-US" dirty="0"/>
              <a:t>Data</a:t>
            </a:r>
          </a:p>
        </p:txBody>
      </p:sp>
      <p:sp>
        <p:nvSpPr>
          <p:cNvPr id="8" name="TextBox 7">
            <a:extLst>
              <a:ext uri="{FF2B5EF4-FFF2-40B4-BE49-F238E27FC236}">
                <a16:creationId xmlns:a16="http://schemas.microsoft.com/office/drawing/2014/main" id="{998D8791-6898-2457-2E9A-6E1981AC7001}"/>
              </a:ext>
            </a:extLst>
          </p:cNvPr>
          <p:cNvSpPr txBox="1"/>
          <p:nvPr/>
        </p:nvSpPr>
        <p:spPr>
          <a:xfrm>
            <a:off x="3685660" y="5368009"/>
            <a:ext cx="1667531" cy="369332"/>
          </a:xfrm>
          <a:prstGeom prst="rect">
            <a:avLst/>
          </a:prstGeom>
          <a:noFill/>
        </p:spPr>
        <p:txBody>
          <a:bodyPr wrap="square" rtlCol="0">
            <a:spAutoFit/>
          </a:bodyPr>
          <a:lstStyle/>
          <a:p>
            <a:r>
              <a:rPr lang="en-US" dirty="0"/>
              <a:t>applications</a:t>
            </a:r>
          </a:p>
        </p:txBody>
      </p:sp>
      <p:sp>
        <p:nvSpPr>
          <p:cNvPr id="9" name="TextBox 8">
            <a:extLst>
              <a:ext uri="{FF2B5EF4-FFF2-40B4-BE49-F238E27FC236}">
                <a16:creationId xmlns:a16="http://schemas.microsoft.com/office/drawing/2014/main" id="{F17DB43E-3D6C-0FE2-F714-A0905BD72702}"/>
              </a:ext>
            </a:extLst>
          </p:cNvPr>
          <p:cNvSpPr txBox="1"/>
          <p:nvPr/>
        </p:nvSpPr>
        <p:spPr>
          <a:xfrm>
            <a:off x="3725114" y="5024804"/>
            <a:ext cx="1568245" cy="369332"/>
          </a:xfrm>
          <a:prstGeom prst="rect">
            <a:avLst/>
          </a:prstGeom>
          <a:noFill/>
        </p:spPr>
        <p:txBody>
          <a:bodyPr wrap="square" rtlCol="0">
            <a:spAutoFit/>
          </a:bodyPr>
          <a:lstStyle/>
          <a:p>
            <a:r>
              <a:rPr lang="en-US" dirty="0"/>
              <a:t>SW systems</a:t>
            </a:r>
          </a:p>
        </p:txBody>
      </p:sp>
      <p:sp>
        <p:nvSpPr>
          <p:cNvPr id="10" name="TextBox 9">
            <a:extLst>
              <a:ext uri="{FF2B5EF4-FFF2-40B4-BE49-F238E27FC236}">
                <a16:creationId xmlns:a16="http://schemas.microsoft.com/office/drawing/2014/main" id="{56752817-5410-D8FB-5634-E7F244894809}"/>
              </a:ext>
            </a:extLst>
          </p:cNvPr>
          <p:cNvSpPr txBox="1"/>
          <p:nvPr/>
        </p:nvSpPr>
        <p:spPr>
          <a:xfrm>
            <a:off x="4077550" y="4655126"/>
            <a:ext cx="886340" cy="369332"/>
          </a:xfrm>
          <a:prstGeom prst="rect">
            <a:avLst/>
          </a:prstGeom>
          <a:noFill/>
        </p:spPr>
        <p:txBody>
          <a:bodyPr wrap="square" rtlCol="0">
            <a:spAutoFit/>
          </a:bodyPr>
          <a:lstStyle/>
          <a:p>
            <a:r>
              <a:rPr lang="en-US" dirty="0"/>
              <a:t>HW</a:t>
            </a:r>
          </a:p>
        </p:txBody>
      </p:sp>
      <p:sp>
        <p:nvSpPr>
          <p:cNvPr id="11" name="TextBox 10">
            <a:extLst>
              <a:ext uri="{FF2B5EF4-FFF2-40B4-BE49-F238E27FC236}">
                <a16:creationId xmlns:a16="http://schemas.microsoft.com/office/drawing/2014/main" id="{82A6AAF9-3D7C-853A-1273-A84A551F0833}"/>
              </a:ext>
            </a:extLst>
          </p:cNvPr>
          <p:cNvSpPr txBox="1"/>
          <p:nvPr/>
        </p:nvSpPr>
        <p:spPr>
          <a:xfrm>
            <a:off x="4099318" y="4337251"/>
            <a:ext cx="886340" cy="369332"/>
          </a:xfrm>
          <a:prstGeom prst="rect">
            <a:avLst/>
          </a:prstGeom>
          <a:noFill/>
        </p:spPr>
        <p:txBody>
          <a:bodyPr wrap="square" rtlCol="0">
            <a:spAutoFit/>
          </a:bodyPr>
          <a:lstStyle/>
          <a:p>
            <a:r>
              <a:rPr lang="en-US" dirty="0"/>
              <a:t>Nets</a:t>
            </a:r>
          </a:p>
        </p:txBody>
      </p:sp>
      <p:sp>
        <p:nvSpPr>
          <p:cNvPr id="12" name="Oval 11">
            <a:extLst>
              <a:ext uri="{FF2B5EF4-FFF2-40B4-BE49-F238E27FC236}">
                <a16:creationId xmlns:a16="http://schemas.microsoft.com/office/drawing/2014/main" id="{51C6D509-0B1F-2A60-FF22-6D8C80DD8EA0}"/>
              </a:ext>
            </a:extLst>
          </p:cNvPr>
          <p:cNvSpPr/>
          <p:nvPr/>
        </p:nvSpPr>
        <p:spPr bwMode="auto">
          <a:xfrm>
            <a:off x="2748683" y="4655126"/>
            <a:ext cx="3408277" cy="2202874"/>
          </a:xfrm>
          <a:prstGeom prst="ellips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13" name="Oval 12">
            <a:extLst>
              <a:ext uri="{FF2B5EF4-FFF2-40B4-BE49-F238E27FC236}">
                <a16:creationId xmlns:a16="http://schemas.microsoft.com/office/drawing/2014/main" id="{1FE78AE3-77BA-7BEA-C9E0-C8464C36F45F}"/>
              </a:ext>
            </a:extLst>
          </p:cNvPr>
          <p:cNvSpPr/>
          <p:nvPr/>
        </p:nvSpPr>
        <p:spPr bwMode="auto">
          <a:xfrm>
            <a:off x="2545685" y="4345960"/>
            <a:ext cx="3811572" cy="2777651"/>
          </a:xfrm>
          <a:prstGeom prst="ellips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14" name="TextBox 13">
            <a:extLst>
              <a:ext uri="{FF2B5EF4-FFF2-40B4-BE49-F238E27FC236}">
                <a16:creationId xmlns:a16="http://schemas.microsoft.com/office/drawing/2014/main" id="{2AC83E85-2166-2A14-35D7-321B3D602A96}"/>
              </a:ext>
            </a:extLst>
          </p:cNvPr>
          <p:cNvSpPr txBox="1"/>
          <p:nvPr/>
        </p:nvSpPr>
        <p:spPr>
          <a:xfrm>
            <a:off x="3450852" y="3993873"/>
            <a:ext cx="2296806" cy="369332"/>
          </a:xfrm>
          <a:prstGeom prst="rect">
            <a:avLst/>
          </a:prstGeom>
          <a:noFill/>
        </p:spPr>
        <p:txBody>
          <a:bodyPr wrap="square" rtlCol="0">
            <a:spAutoFit/>
          </a:bodyPr>
          <a:lstStyle/>
          <a:p>
            <a:r>
              <a:rPr lang="en-US" dirty="0"/>
              <a:t>physical facilities </a:t>
            </a:r>
          </a:p>
        </p:txBody>
      </p:sp>
    </p:spTree>
    <p:extLst>
      <p:ext uri="{BB962C8B-B14F-4D97-AF65-F5344CB8AC3E}">
        <p14:creationId xmlns:p14="http://schemas.microsoft.com/office/powerpoint/2010/main" val="682240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894A8-7998-EC4A-882D-A92FFD57D74D}"/>
            </a:ext>
          </a:extLst>
        </p:cNvPr>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A070856-711D-61A9-4119-6AE9A1002DEA}"/>
              </a:ext>
            </a:extLst>
          </p:cNvPr>
          <p:cNvSpPr>
            <a:spLocks noGrp="1"/>
          </p:cNvSpPr>
          <p:nvPr>
            <p:ph type="sldNum" sz="quarter" idx="12"/>
          </p:nvPr>
        </p:nvSpPr>
        <p:spPr/>
        <p:txBody>
          <a:bodyPr/>
          <a:lstStyle/>
          <a:p>
            <a:pPr>
              <a:defRPr/>
            </a:pPr>
            <a:fld id="{0A726503-5D7B-4DA4-BB02-7DD822F15E30}" type="slidenum">
              <a:rPr lang="en-US"/>
              <a:pPr>
                <a:defRPr/>
              </a:pPr>
              <a:t>8</a:t>
            </a:fld>
            <a:endParaRPr lang="en-US"/>
          </a:p>
        </p:txBody>
      </p:sp>
      <p:sp>
        <p:nvSpPr>
          <p:cNvPr id="118786" name="Rectangle 2">
            <a:extLst>
              <a:ext uri="{FF2B5EF4-FFF2-40B4-BE49-F238E27FC236}">
                <a16:creationId xmlns:a16="http://schemas.microsoft.com/office/drawing/2014/main" id="{2F53D34F-B0BD-47F1-8B73-6D1287623CB7}"/>
              </a:ext>
            </a:extLst>
          </p:cNvPr>
          <p:cNvSpPr>
            <a:spLocks noGrp="1" noChangeArrowheads="1"/>
          </p:cNvSpPr>
          <p:nvPr>
            <p:ph type="title"/>
          </p:nvPr>
        </p:nvSpPr>
        <p:spPr>
          <a:xfrm>
            <a:off x="1066800" y="0"/>
            <a:ext cx="7870825" cy="1341438"/>
          </a:xfrm>
        </p:spPr>
        <p:txBody>
          <a:bodyPr/>
          <a:lstStyle/>
          <a:p>
            <a:pPr eaLnBrk="1" hangingPunct="1">
              <a:defRPr/>
            </a:pPr>
            <a:r>
              <a:rPr lang="en-US" dirty="0"/>
              <a:t>2. What is ISS?</a:t>
            </a:r>
          </a:p>
        </p:txBody>
      </p:sp>
      <p:sp>
        <p:nvSpPr>
          <p:cNvPr id="118787" name="Rectangle 3">
            <a:extLst>
              <a:ext uri="{FF2B5EF4-FFF2-40B4-BE49-F238E27FC236}">
                <a16:creationId xmlns:a16="http://schemas.microsoft.com/office/drawing/2014/main" id="{2DB5000D-9617-F049-CC69-761F602C9952}"/>
              </a:ext>
            </a:extLst>
          </p:cNvPr>
          <p:cNvSpPr>
            <a:spLocks noGrp="1" noChangeArrowheads="1"/>
          </p:cNvSpPr>
          <p:nvPr>
            <p:ph type="body" idx="1"/>
          </p:nvPr>
        </p:nvSpPr>
        <p:spPr>
          <a:xfrm>
            <a:off x="266700" y="1581525"/>
            <a:ext cx="8877301" cy="5166938"/>
          </a:xfrm>
        </p:spPr>
        <p:txBody>
          <a:bodyPr/>
          <a:lstStyle/>
          <a:p>
            <a:pPr eaLnBrk="1" hangingPunct="1">
              <a:spcBef>
                <a:spcPts val="1200"/>
              </a:spcBef>
              <a:defRPr/>
            </a:pPr>
            <a:r>
              <a:rPr lang="en-US" sz="2800" b="1" dirty="0">
                <a:solidFill>
                  <a:schemeClr val="accent1"/>
                </a:solidFill>
              </a:rPr>
              <a:t>Information Systems Security</a:t>
            </a:r>
            <a:r>
              <a:rPr lang="en-US" sz="2800" dirty="0">
                <a:solidFill>
                  <a:srgbClr val="FFFF00"/>
                </a:solidFill>
              </a:rPr>
              <a:t> (</a:t>
            </a:r>
            <a:r>
              <a:rPr lang="en-US" sz="2800" b="1" dirty="0">
                <a:solidFill>
                  <a:schemeClr val="accent1"/>
                </a:solidFill>
              </a:rPr>
              <a:t>ISS</a:t>
            </a:r>
            <a:r>
              <a:rPr lang="en-US" sz="2800" dirty="0">
                <a:solidFill>
                  <a:srgbClr val="FFFF00"/>
                </a:solidFill>
              </a:rPr>
              <a:t>) </a:t>
            </a:r>
          </a:p>
          <a:p>
            <a:pPr marL="400050" lvl="1" indent="0" eaLnBrk="1" hangingPunct="1">
              <a:spcBef>
                <a:spcPts val="1200"/>
              </a:spcBef>
              <a:buNone/>
              <a:defRPr/>
            </a:pPr>
            <a:r>
              <a:rPr lang="en-US" dirty="0">
                <a:solidFill>
                  <a:srgbClr val="FFFF00"/>
                </a:solidFill>
              </a:rPr>
              <a:t>is the protection of information systems against </a:t>
            </a:r>
            <a:r>
              <a:rPr lang="en-US" u="sng" dirty="0">
                <a:solidFill>
                  <a:srgbClr val="FFFF00"/>
                </a:solidFill>
              </a:rPr>
              <a:t>unauthorized access</a:t>
            </a:r>
            <a:r>
              <a:rPr lang="en-US" dirty="0">
                <a:solidFill>
                  <a:srgbClr val="FFFF00"/>
                </a:solidFill>
              </a:rPr>
              <a:t> to or </a:t>
            </a:r>
            <a:r>
              <a:rPr lang="en-US" u="sng" dirty="0">
                <a:solidFill>
                  <a:srgbClr val="FFFF00"/>
                </a:solidFill>
              </a:rPr>
              <a:t>modification</a:t>
            </a:r>
            <a:r>
              <a:rPr lang="en-US" dirty="0">
                <a:solidFill>
                  <a:srgbClr val="FFFF00"/>
                </a:solidFill>
              </a:rPr>
              <a:t> of information, whether in storage, processing or transit, and against </a:t>
            </a:r>
            <a:r>
              <a:rPr lang="en-US" u="sng" dirty="0">
                <a:solidFill>
                  <a:srgbClr val="FFFF00"/>
                </a:solidFill>
              </a:rPr>
              <a:t>the denial of service</a:t>
            </a:r>
            <a:r>
              <a:rPr lang="en-US" dirty="0">
                <a:solidFill>
                  <a:srgbClr val="FFFF00"/>
                </a:solidFill>
              </a:rPr>
              <a:t> to authorized users, including those measures necessary to detect, document, and counter such threats.</a:t>
            </a:r>
          </a:p>
        </p:txBody>
      </p:sp>
    </p:spTree>
    <p:extLst>
      <p:ext uri="{BB962C8B-B14F-4D97-AF65-F5344CB8AC3E}">
        <p14:creationId xmlns:p14="http://schemas.microsoft.com/office/powerpoint/2010/main" val="2013820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86FD0548-38C4-4421-991A-600A703DD556}" type="slidenum">
              <a:rPr lang="en-US"/>
              <a:pPr>
                <a:defRPr/>
              </a:pPr>
              <a:t>9</a:t>
            </a:fld>
            <a:endParaRPr lang="en-US"/>
          </a:p>
        </p:txBody>
      </p:sp>
      <p:sp>
        <p:nvSpPr>
          <p:cNvPr id="104450" name="Rectangle 2"/>
          <p:cNvSpPr>
            <a:spLocks noGrp="1" noChangeArrowheads="1"/>
          </p:cNvSpPr>
          <p:nvPr>
            <p:ph type="title"/>
          </p:nvPr>
        </p:nvSpPr>
        <p:spPr/>
        <p:txBody>
          <a:bodyPr/>
          <a:lstStyle/>
          <a:p>
            <a:pPr eaLnBrk="1" hangingPunct="1">
              <a:defRPr/>
            </a:pPr>
            <a:r>
              <a:rPr lang="en-US" dirty="0"/>
              <a:t>What is ISS?</a:t>
            </a:r>
          </a:p>
        </p:txBody>
      </p:sp>
      <p:sp>
        <p:nvSpPr>
          <p:cNvPr id="104451" name="Rectangle 3"/>
          <p:cNvSpPr>
            <a:spLocks noGrp="1" noChangeArrowheads="1"/>
          </p:cNvSpPr>
          <p:nvPr>
            <p:ph type="body" idx="1"/>
          </p:nvPr>
        </p:nvSpPr>
        <p:spPr>
          <a:xfrm>
            <a:off x="776743" y="1683626"/>
            <a:ext cx="8151357" cy="4265449"/>
          </a:xfrm>
        </p:spPr>
        <p:txBody>
          <a:bodyPr/>
          <a:lstStyle/>
          <a:p>
            <a:pPr marL="266700" indent="-266700" eaLnBrk="1" hangingPunct="1">
              <a:defRPr/>
            </a:pPr>
            <a:r>
              <a:rPr lang="en-US" sz="2800" dirty="0">
                <a:cs typeface="Tahoma" pitchFamily="34" charset="0"/>
              </a:rPr>
              <a:t>synonymous with </a:t>
            </a:r>
            <a:r>
              <a:rPr lang="en-US" sz="2800" dirty="0">
                <a:solidFill>
                  <a:schemeClr val="accent1"/>
                </a:solidFill>
                <a:cs typeface="Tahoma" pitchFamily="34" charset="0"/>
              </a:rPr>
              <a:t>Computer Security</a:t>
            </a:r>
          </a:p>
          <a:p>
            <a:pPr marL="266700" indent="-266700" eaLnBrk="1" hangingPunct="1">
              <a:defRPr/>
            </a:pPr>
            <a:r>
              <a:rPr lang="en-US" sz="2800" dirty="0">
                <a:cs typeface="Tahoma" pitchFamily="34" charset="0"/>
              </a:rPr>
              <a:t>part of </a:t>
            </a:r>
            <a:r>
              <a:rPr lang="en-US" sz="2800" b="1" dirty="0">
                <a:solidFill>
                  <a:schemeClr val="accent1"/>
                </a:solidFill>
                <a:cs typeface="Tahoma" pitchFamily="34" charset="0"/>
              </a:rPr>
              <a:t>information security</a:t>
            </a:r>
            <a:endParaRPr lang="en-US" b="1" dirty="0">
              <a:solidFill>
                <a:schemeClr val="accent1"/>
              </a:solidFill>
            </a:endParaRPr>
          </a:p>
          <a:p>
            <a:pPr eaLnBrk="1" hangingPunct="1">
              <a:defRPr/>
            </a:pPr>
            <a:r>
              <a:rPr lang="en-US" dirty="0">
                <a:solidFill>
                  <a:srgbClr val="FFFF00"/>
                </a:solidFill>
                <a:cs typeface="Tahoma" pitchFamily="34" charset="0"/>
              </a:rPr>
              <a:t>Information security includes</a:t>
            </a:r>
          </a:p>
          <a:p>
            <a:pPr lvl="1" eaLnBrk="1" hangingPunct="1">
              <a:defRPr/>
            </a:pPr>
            <a:r>
              <a:rPr lang="en-US" dirty="0">
                <a:solidFill>
                  <a:srgbClr val="FFFF00"/>
                </a:solidFill>
                <a:cs typeface="Tahoma" pitchFamily="34" charset="0"/>
              </a:rPr>
              <a:t>Computer security</a:t>
            </a:r>
          </a:p>
          <a:p>
            <a:pPr lvl="1" eaLnBrk="1" hangingPunct="1">
              <a:defRPr/>
            </a:pPr>
            <a:r>
              <a:rPr lang="en-US" dirty="0">
                <a:solidFill>
                  <a:srgbClr val="FFFF00"/>
                </a:solidFill>
                <a:cs typeface="Tahoma" pitchFamily="34" charset="0"/>
              </a:rPr>
              <a:t>Information systems security</a:t>
            </a:r>
          </a:p>
          <a:p>
            <a:pPr lvl="1" eaLnBrk="1" hangingPunct="1">
              <a:defRPr/>
            </a:pPr>
            <a:r>
              <a:rPr lang="en-US" dirty="0">
                <a:solidFill>
                  <a:srgbClr val="FFFF00"/>
                </a:solidFill>
                <a:cs typeface="Tahoma" pitchFamily="34" charset="0"/>
              </a:rPr>
              <a:t>Database security</a:t>
            </a:r>
          </a:p>
          <a:p>
            <a:pPr lvl="1" eaLnBrk="1" hangingPunct="1">
              <a:defRPr/>
            </a:pPr>
            <a:r>
              <a:rPr lang="en-US" dirty="0">
                <a:solidFill>
                  <a:srgbClr val="FFFF00"/>
                </a:solidFill>
                <a:cs typeface="Tahoma" pitchFamily="34" charset="0"/>
              </a:rPr>
              <a:t>Network security</a:t>
            </a:r>
          </a:p>
          <a:p>
            <a:pPr lvl="1" eaLnBrk="1" hangingPunct="1">
              <a:defRPr/>
            </a:pPr>
            <a:r>
              <a:rPr lang="en-US" dirty="0">
                <a:solidFill>
                  <a:srgbClr val="FFFF00"/>
                </a:solidFill>
                <a:cs typeface="Tahoma" pitchFamily="34" charset="0"/>
              </a:rPr>
              <a:t>Web security</a:t>
            </a:r>
          </a:p>
          <a:p>
            <a:pPr lvl="1" eaLnBrk="1" hangingPunct="1">
              <a:defRPr/>
            </a:pPr>
            <a:r>
              <a:rPr lang="en-US" dirty="0">
                <a:solidFill>
                  <a:srgbClr val="FFFF00"/>
                </a:solidFill>
                <a:cs typeface="Tahoma" pitchFamily="34" charset="0"/>
              </a:rPr>
              <a:t>Digital forensics</a:t>
            </a:r>
          </a:p>
          <a:p>
            <a:pPr lvl="1" eaLnBrk="1" hangingPunct="1">
              <a:defRPr/>
            </a:pPr>
            <a:r>
              <a:rPr lang="en-US" dirty="0">
                <a:solidFill>
                  <a:srgbClr val="FFFF00"/>
                </a:solidFill>
                <a:cs typeface="Tahoma" pitchFamily="34" charset="0"/>
              </a:rPr>
              <a:t>Information security management</a:t>
            </a:r>
          </a:p>
          <a:p>
            <a:pPr lvl="1" eaLnBrk="1" hangingPunct="1">
              <a:defRPr/>
            </a:pPr>
            <a:r>
              <a:rPr lang="en-US" dirty="0">
                <a:solidFill>
                  <a:srgbClr val="FFFF00"/>
                </a:solidFill>
                <a:cs typeface="Tahoma" pitchFamily="34" charset="0"/>
              </a:rPr>
              <a:t>…</a:t>
            </a:r>
          </a:p>
          <a:p>
            <a:pPr marL="457200" indent="-457200" eaLnBrk="1" hangingPunct="1">
              <a:defRPr/>
            </a:pPr>
            <a:endParaRPr lang="en-US" sz="2800" dirty="0">
              <a:solidFill>
                <a:srgbClr val="FFFF00"/>
              </a:solidFill>
              <a:cs typeface="Tahoma" pitchFamily="34" charset="0"/>
            </a:endParaRPr>
          </a:p>
          <a:p>
            <a:pPr marL="457200" indent="-457200" eaLnBrk="1" hangingPunct="1">
              <a:defRPr/>
            </a:pPr>
            <a:endParaRPr lang="en-US" sz="2800" dirty="0">
              <a:solidFill>
                <a:srgbClr val="FFFF00"/>
              </a:solidFill>
              <a:cs typeface="Tahoma"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86FD0548-38C4-4421-991A-600A703DD556}" type="slidenum">
              <a:rPr lang="en-US"/>
              <a:pPr>
                <a:defRPr/>
              </a:pPr>
              <a:t>10</a:t>
            </a:fld>
            <a:endParaRPr lang="en-US"/>
          </a:p>
        </p:txBody>
      </p:sp>
      <p:sp>
        <p:nvSpPr>
          <p:cNvPr id="104450" name="Rectangle 2"/>
          <p:cNvSpPr>
            <a:spLocks noGrp="1" noChangeArrowheads="1"/>
          </p:cNvSpPr>
          <p:nvPr>
            <p:ph type="title"/>
          </p:nvPr>
        </p:nvSpPr>
        <p:spPr/>
        <p:txBody>
          <a:bodyPr/>
          <a:lstStyle/>
          <a:p>
            <a:pPr eaLnBrk="1" hangingPunct="1">
              <a:defRPr/>
            </a:pPr>
            <a:r>
              <a:rPr lang="en-US" dirty="0"/>
              <a:t>What is ISS?</a:t>
            </a:r>
          </a:p>
        </p:txBody>
      </p:sp>
      <p:sp>
        <p:nvSpPr>
          <p:cNvPr id="104451" name="Rectangle 3"/>
          <p:cNvSpPr>
            <a:spLocks noGrp="1" noChangeArrowheads="1"/>
          </p:cNvSpPr>
          <p:nvPr>
            <p:ph type="body" idx="1"/>
          </p:nvPr>
        </p:nvSpPr>
        <p:spPr>
          <a:xfrm>
            <a:off x="776743" y="1683626"/>
            <a:ext cx="8151357" cy="4265449"/>
          </a:xfrm>
        </p:spPr>
        <p:txBody>
          <a:bodyPr/>
          <a:lstStyle/>
          <a:p>
            <a:pPr marL="0" indent="0">
              <a:buNone/>
            </a:pPr>
            <a:endParaRPr lang="en-US" b="1" dirty="0">
              <a:solidFill>
                <a:schemeClr val="accent1">
                  <a:lumMod val="60000"/>
                  <a:lumOff val="40000"/>
                </a:schemeClr>
              </a:solidFill>
            </a:endParaRPr>
          </a:p>
          <a:p>
            <a:pPr eaLnBrk="1" hangingPunct="1">
              <a:defRPr/>
            </a:pPr>
            <a:r>
              <a:rPr lang="en-US" b="1" dirty="0">
                <a:solidFill>
                  <a:schemeClr val="accent1"/>
                </a:solidFill>
                <a:cs typeface="Tahoma" pitchFamily="34" charset="0"/>
              </a:rPr>
              <a:t>information security </a:t>
            </a:r>
            <a:r>
              <a:rPr lang="en-US" dirty="0">
                <a:solidFill>
                  <a:schemeClr val="accent1"/>
                </a:solidFill>
                <a:cs typeface="Tahoma" pitchFamily="34" charset="0"/>
              </a:rPr>
              <a:t>[ISO 27000: 2018]</a:t>
            </a:r>
          </a:p>
          <a:p>
            <a:pPr lvl="1" eaLnBrk="1" hangingPunct="1">
              <a:defRPr/>
            </a:pPr>
            <a:r>
              <a:rPr lang="en-US" dirty="0">
                <a:solidFill>
                  <a:srgbClr val="FFFF00"/>
                </a:solidFill>
                <a:cs typeface="Tahoma" pitchFamily="34" charset="0"/>
              </a:rPr>
              <a:t>preservation of confidentiality, integrity and availability of information</a:t>
            </a:r>
          </a:p>
          <a:p>
            <a:pPr lvl="1"/>
            <a:r>
              <a:rPr lang="en-US" dirty="0">
                <a:solidFill>
                  <a:schemeClr val="accent1">
                    <a:lumMod val="60000"/>
                    <a:lumOff val="40000"/>
                  </a:schemeClr>
                </a:solidFill>
              </a:rPr>
              <a:t>also preservation of authenticity, accountability, non-repudiation, and reliability</a:t>
            </a:r>
          </a:p>
          <a:p>
            <a:pPr marL="457200" lvl="1" indent="0" eaLnBrk="1" hangingPunct="1">
              <a:buNone/>
              <a:defRPr/>
            </a:pPr>
            <a:endParaRPr lang="en-US" dirty="0">
              <a:solidFill>
                <a:srgbClr val="FFFF00"/>
              </a:solidFill>
              <a:cs typeface="Tahoma" pitchFamily="34" charset="0"/>
            </a:endParaRPr>
          </a:p>
          <a:p>
            <a:pPr marL="457200" indent="-457200" eaLnBrk="1" hangingPunct="1">
              <a:defRPr/>
            </a:pPr>
            <a:endParaRPr lang="en-US" sz="2800" dirty="0">
              <a:solidFill>
                <a:srgbClr val="FFFF00"/>
              </a:solidFill>
              <a:cs typeface="Tahoma" pitchFamily="34" charset="0"/>
            </a:endParaRPr>
          </a:p>
          <a:p>
            <a:pPr marL="457200" indent="-457200" eaLnBrk="1" hangingPunct="1">
              <a:defRPr/>
            </a:pPr>
            <a:endParaRPr lang="en-US" sz="2800" dirty="0">
              <a:solidFill>
                <a:srgbClr val="FFFF00"/>
              </a:solidFill>
              <a:cs typeface="Tahoma" pitchFamily="34" charset="0"/>
            </a:endParaRPr>
          </a:p>
        </p:txBody>
      </p:sp>
    </p:spTree>
    <p:extLst>
      <p:ext uri="{BB962C8B-B14F-4D97-AF65-F5344CB8AC3E}">
        <p14:creationId xmlns:p14="http://schemas.microsoft.com/office/powerpoint/2010/main" val="2135711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0CDA7B5E-B990-4CA4-A875-0DC4B4B5276D}" type="slidenum">
              <a:rPr lang="en-US"/>
              <a:pPr>
                <a:defRPr/>
              </a:pPr>
              <a:t>11</a:t>
            </a:fld>
            <a:endParaRPr lang="en-US"/>
          </a:p>
        </p:txBody>
      </p:sp>
      <p:sp>
        <p:nvSpPr>
          <p:cNvPr id="107522" name="Rectangle 2"/>
          <p:cNvSpPr>
            <a:spLocks noGrp="1" noChangeArrowheads="1"/>
          </p:cNvSpPr>
          <p:nvPr>
            <p:ph type="title"/>
          </p:nvPr>
        </p:nvSpPr>
        <p:spPr/>
        <p:txBody>
          <a:bodyPr/>
          <a:lstStyle/>
          <a:p>
            <a:pPr eaLnBrk="1" hangingPunct="1">
              <a:defRPr/>
            </a:pPr>
            <a:r>
              <a:rPr lang="en-US"/>
              <a:t>Outline</a:t>
            </a:r>
          </a:p>
        </p:txBody>
      </p:sp>
      <p:sp>
        <p:nvSpPr>
          <p:cNvPr id="107523" name="Rectangle 3"/>
          <p:cNvSpPr>
            <a:spLocks noGrp="1" noChangeArrowheads="1"/>
          </p:cNvSpPr>
          <p:nvPr>
            <p:ph type="body" idx="1"/>
          </p:nvPr>
        </p:nvSpPr>
        <p:spPr>
          <a:xfrm>
            <a:off x="762000" y="2024743"/>
            <a:ext cx="7772400" cy="4447495"/>
          </a:xfrm>
        </p:spPr>
        <p:txBody>
          <a:bodyPr/>
          <a:lstStyle/>
          <a:p>
            <a:pPr marL="457200" indent="-457200" eaLnBrk="1" hangingPunct="1">
              <a:buFont typeface="Wingdings" pitchFamily="2" charset="2"/>
              <a:buAutoNum type="arabicPeriod"/>
              <a:defRPr/>
            </a:pPr>
            <a:r>
              <a:rPr lang="en-US" dirty="0">
                <a:effectLst/>
              </a:rPr>
              <a:t>Attack Examples</a:t>
            </a:r>
            <a:endParaRPr lang="en-US" dirty="0">
              <a:solidFill>
                <a:srgbClr val="FFFF00"/>
              </a:solidFill>
            </a:endParaRPr>
          </a:p>
          <a:p>
            <a:pPr marL="457200" indent="-457200" eaLnBrk="1" hangingPunct="1">
              <a:buFont typeface="Wingdings" pitchFamily="2" charset="2"/>
              <a:buAutoNum type="arabicPeriod"/>
              <a:defRPr/>
            </a:pPr>
            <a:r>
              <a:rPr lang="en-US" dirty="0">
                <a:solidFill>
                  <a:srgbClr val="FFFF00"/>
                </a:solidFill>
              </a:rPr>
              <a:t>What is Information </a:t>
            </a:r>
            <a:r>
              <a:rPr lang="en-US" dirty="0"/>
              <a:t>Systems </a:t>
            </a:r>
            <a:r>
              <a:rPr lang="en-US" dirty="0">
                <a:solidFill>
                  <a:srgbClr val="FFFF00"/>
                </a:solidFill>
              </a:rPr>
              <a:t>Security?</a:t>
            </a:r>
          </a:p>
          <a:p>
            <a:pPr marL="457200" indent="-457200" eaLnBrk="1" hangingPunct="1">
              <a:buFont typeface="Wingdings" pitchFamily="2" charset="2"/>
              <a:buAutoNum type="arabicPeriod"/>
              <a:defRPr/>
            </a:pPr>
            <a:r>
              <a:rPr lang="en-US" dirty="0">
                <a:solidFill>
                  <a:schemeClr val="tx1"/>
                </a:solidFill>
              </a:rPr>
              <a:t>ISS Objectives </a:t>
            </a:r>
          </a:p>
          <a:p>
            <a:pPr marL="457200" indent="-457200" eaLnBrk="1" hangingPunct="1">
              <a:buFont typeface="Wingdings" pitchFamily="2" charset="2"/>
              <a:buAutoNum type="arabicPeriod"/>
              <a:defRPr/>
            </a:pPr>
            <a:r>
              <a:rPr lang="en-US" dirty="0">
                <a:solidFill>
                  <a:srgbClr val="FFFF00"/>
                </a:solidFill>
              </a:rPr>
              <a:t>Security terms</a:t>
            </a:r>
          </a:p>
          <a:p>
            <a:pPr marL="457200" indent="-457200" eaLnBrk="1" hangingPunct="1">
              <a:buFont typeface="Wingdings" pitchFamily="2" charset="2"/>
              <a:buAutoNum type="arabicPeriod"/>
              <a:defRPr/>
            </a:pPr>
            <a:r>
              <a:rPr lang="en-US" dirty="0">
                <a:solidFill>
                  <a:srgbClr val="FFFF00"/>
                </a:solidFill>
              </a:rPr>
              <a:t>Security Policies</a:t>
            </a:r>
          </a:p>
          <a:p>
            <a:pPr marL="457200" indent="-457200" eaLnBrk="1" hangingPunct="1">
              <a:buFont typeface="Wingdings" pitchFamily="2" charset="2"/>
              <a:buAutoNum type="arabicPeriod"/>
              <a:defRPr/>
            </a:pPr>
            <a:r>
              <a:rPr lang="en-GB" dirty="0">
                <a:solidFill>
                  <a:srgbClr val="FFFF00"/>
                </a:solidFill>
              </a:rPr>
              <a:t>Conclusion</a:t>
            </a:r>
            <a:endParaRPr lang="en-US" dirty="0">
              <a:solidFill>
                <a:srgbClr val="FFFF00"/>
              </a:solidFill>
            </a:endParaRPr>
          </a:p>
        </p:txBody>
      </p:sp>
    </p:spTree>
    <p:extLst>
      <p:ext uri="{BB962C8B-B14F-4D97-AF65-F5344CB8AC3E}">
        <p14:creationId xmlns:p14="http://schemas.microsoft.com/office/powerpoint/2010/main" val="1420302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86FD0548-38C4-4421-991A-600A703DD556}" type="slidenum">
              <a:rPr lang="en-US"/>
              <a:pPr>
                <a:defRPr/>
              </a:pPr>
              <a:t>12</a:t>
            </a:fld>
            <a:endParaRPr lang="en-US"/>
          </a:p>
        </p:txBody>
      </p:sp>
      <p:sp>
        <p:nvSpPr>
          <p:cNvPr id="104450" name="Rectangle 2"/>
          <p:cNvSpPr>
            <a:spLocks noGrp="1" noChangeArrowheads="1"/>
          </p:cNvSpPr>
          <p:nvPr>
            <p:ph type="title"/>
          </p:nvPr>
        </p:nvSpPr>
        <p:spPr/>
        <p:txBody>
          <a:bodyPr/>
          <a:lstStyle/>
          <a:p>
            <a:pPr eaLnBrk="1" hangingPunct="1">
              <a:defRPr/>
            </a:pPr>
            <a:r>
              <a:rPr lang="en-US" dirty="0"/>
              <a:t>ISS Objectives</a:t>
            </a:r>
          </a:p>
        </p:txBody>
      </p:sp>
      <p:sp>
        <p:nvSpPr>
          <p:cNvPr id="104451" name="Rectangle 3"/>
          <p:cNvSpPr>
            <a:spLocks noGrp="1" noChangeArrowheads="1"/>
          </p:cNvSpPr>
          <p:nvPr>
            <p:ph type="body" idx="1"/>
          </p:nvPr>
        </p:nvSpPr>
        <p:spPr>
          <a:xfrm>
            <a:off x="837398" y="1857676"/>
            <a:ext cx="8072686" cy="4433587"/>
          </a:xfrm>
        </p:spPr>
        <p:txBody>
          <a:bodyPr/>
          <a:lstStyle/>
          <a:p>
            <a:pPr marL="514350" indent="-514350" eaLnBrk="1" hangingPunct="1">
              <a:spcBef>
                <a:spcPts val="1200"/>
              </a:spcBef>
              <a:spcAft>
                <a:spcPts val="600"/>
              </a:spcAft>
              <a:buFont typeface="+mj-lt"/>
              <a:buAutoNum type="arabicPeriod"/>
              <a:defRPr/>
            </a:pPr>
            <a:r>
              <a:rPr lang="en-US" sz="3000" b="1" dirty="0">
                <a:solidFill>
                  <a:schemeClr val="accent1"/>
                </a:solidFill>
                <a:cs typeface="Tahoma" pitchFamily="34" charset="0"/>
              </a:rPr>
              <a:t>Confidentiality</a:t>
            </a:r>
            <a:r>
              <a:rPr lang="en-US" sz="3000" dirty="0">
                <a:cs typeface="Tahoma" pitchFamily="34" charset="0"/>
              </a:rPr>
              <a:t>: property that information is not made available or disclosed to unauthorized individuals, entities, or processes</a:t>
            </a:r>
          </a:p>
          <a:p>
            <a:pPr lvl="1" eaLnBrk="1" hangingPunct="1">
              <a:spcBef>
                <a:spcPts val="1200"/>
              </a:spcBef>
              <a:spcAft>
                <a:spcPts val="600"/>
              </a:spcAft>
              <a:defRPr/>
            </a:pPr>
            <a:r>
              <a:rPr lang="en-US" dirty="0">
                <a:cs typeface="Tahoma" pitchFamily="34" charset="0"/>
              </a:rPr>
              <a:t>Privacy: individual’s information is under her/his control</a:t>
            </a:r>
          </a:p>
          <a:p>
            <a:pPr lvl="1" eaLnBrk="1" hangingPunct="1">
              <a:spcBef>
                <a:spcPts val="1200"/>
              </a:spcBef>
              <a:spcAft>
                <a:spcPts val="600"/>
              </a:spcAft>
              <a:defRPr/>
            </a:pPr>
            <a:r>
              <a:rPr lang="en-US" dirty="0">
                <a:cs typeface="Tahoma" pitchFamily="34" charset="0"/>
              </a:rPr>
              <a:t>means: </a:t>
            </a:r>
            <a:r>
              <a:rPr lang="en-US" i="1" dirty="0">
                <a:cs typeface="Tahoma" pitchFamily="34" charset="0"/>
              </a:rPr>
              <a:t>encryption</a:t>
            </a:r>
            <a:r>
              <a:rPr lang="en-US" dirty="0">
                <a:cs typeface="Tahoma" pitchFamily="34" charset="0"/>
              </a:rPr>
              <a:t>, </a:t>
            </a:r>
            <a:r>
              <a:rPr lang="en-US" i="1" dirty="0">
                <a:cs typeface="Tahoma" pitchFamily="34" charset="0"/>
              </a:rPr>
              <a:t>access control </a:t>
            </a:r>
          </a:p>
        </p:txBody>
      </p:sp>
    </p:spTree>
    <p:extLst>
      <p:ext uri="{BB962C8B-B14F-4D97-AF65-F5344CB8AC3E}">
        <p14:creationId xmlns:p14="http://schemas.microsoft.com/office/powerpoint/2010/main" val="1407601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86FD0548-38C4-4421-991A-600A703DD556}" type="slidenum">
              <a:rPr lang="en-US"/>
              <a:pPr>
                <a:defRPr/>
              </a:pPr>
              <a:t>13</a:t>
            </a:fld>
            <a:endParaRPr lang="en-US"/>
          </a:p>
        </p:txBody>
      </p:sp>
      <p:sp>
        <p:nvSpPr>
          <p:cNvPr id="104450" name="Rectangle 2"/>
          <p:cNvSpPr>
            <a:spLocks noGrp="1" noChangeArrowheads="1"/>
          </p:cNvSpPr>
          <p:nvPr>
            <p:ph type="title"/>
          </p:nvPr>
        </p:nvSpPr>
        <p:spPr/>
        <p:txBody>
          <a:bodyPr/>
          <a:lstStyle/>
          <a:p>
            <a:pPr eaLnBrk="1" hangingPunct="1">
              <a:defRPr/>
            </a:pPr>
            <a:r>
              <a:rPr lang="en-US" dirty="0"/>
              <a:t>ISS Objectives</a:t>
            </a:r>
          </a:p>
        </p:txBody>
      </p:sp>
      <p:sp>
        <p:nvSpPr>
          <p:cNvPr id="104451" name="Rectangle 3"/>
          <p:cNvSpPr>
            <a:spLocks noGrp="1" noChangeArrowheads="1"/>
          </p:cNvSpPr>
          <p:nvPr>
            <p:ph type="body" idx="1"/>
          </p:nvPr>
        </p:nvSpPr>
        <p:spPr>
          <a:xfrm>
            <a:off x="671333" y="1341438"/>
            <a:ext cx="8432980" cy="5199061"/>
          </a:xfrm>
        </p:spPr>
        <p:txBody>
          <a:bodyPr/>
          <a:lstStyle/>
          <a:p>
            <a:pPr marL="514350" indent="-514350" eaLnBrk="1" hangingPunct="1">
              <a:spcBef>
                <a:spcPts val="1200"/>
              </a:spcBef>
              <a:spcAft>
                <a:spcPts val="600"/>
              </a:spcAft>
              <a:buFont typeface="+mj-lt"/>
              <a:buAutoNum type="arabicPeriod" startAt="2"/>
              <a:defRPr/>
            </a:pPr>
            <a:r>
              <a:rPr lang="en-US" sz="3200" b="1" i="0" u="none" strike="noStrike" kern="1200" baseline="0" dirty="0">
                <a:solidFill>
                  <a:schemeClr val="tx1"/>
                </a:solidFill>
                <a:latin typeface="Arial" charset="0"/>
                <a:ea typeface="+mn-ea"/>
                <a:cs typeface="Arial" charset="0"/>
              </a:rPr>
              <a:t>Integrity: </a:t>
            </a:r>
            <a:r>
              <a:rPr lang="en-US" sz="3200" b="0" i="0" u="none" strike="noStrike" kern="1200" baseline="0" dirty="0">
                <a:solidFill>
                  <a:schemeClr val="tx1"/>
                </a:solidFill>
                <a:latin typeface="Arial" charset="0"/>
                <a:ea typeface="+mn-ea"/>
                <a:cs typeface="Arial" charset="0"/>
              </a:rPr>
              <a:t>property of accuracy and completeness</a:t>
            </a:r>
            <a:endParaRPr lang="en-US" sz="3000" b="1" dirty="0">
              <a:solidFill>
                <a:schemeClr val="accent1"/>
              </a:solidFill>
              <a:cs typeface="Tahoma" pitchFamily="34" charset="0"/>
            </a:endParaRPr>
          </a:p>
          <a:p>
            <a:pPr marL="0" indent="0" eaLnBrk="1" hangingPunct="1">
              <a:spcBef>
                <a:spcPts val="1200"/>
              </a:spcBef>
              <a:spcAft>
                <a:spcPts val="600"/>
              </a:spcAft>
              <a:buNone/>
              <a:defRPr/>
            </a:pPr>
            <a:r>
              <a:rPr lang="en-US" sz="3000" b="1" dirty="0">
                <a:solidFill>
                  <a:schemeClr val="accent1"/>
                </a:solidFill>
                <a:cs typeface="Tahoma" pitchFamily="34" charset="0"/>
              </a:rPr>
              <a:t>Integrity</a:t>
            </a:r>
            <a:r>
              <a:rPr lang="en-US" sz="3000" dirty="0">
                <a:cs typeface="Tahoma" pitchFamily="34" charset="0"/>
              </a:rPr>
              <a:t>: </a:t>
            </a:r>
            <a:r>
              <a:rPr lang="en-US" sz="2800" dirty="0">
                <a:cs typeface="Tahoma" pitchFamily="34" charset="0"/>
              </a:rPr>
              <a:t>covers two related concepts </a:t>
            </a:r>
          </a:p>
          <a:p>
            <a:pPr lvl="1" eaLnBrk="1" hangingPunct="1">
              <a:spcBef>
                <a:spcPts val="600"/>
              </a:spcBef>
              <a:spcAft>
                <a:spcPts val="0"/>
              </a:spcAft>
              <a:defRPr/>
            </a:pPr>
            <a:r>
              <a:rPr lang="en-US" sz="2800" b="1" dirty="0">
                <a:cs typeface="Tahoma" pitchFamily="34" charset="0"/>
              </a:rPr>
              <a:t>Data integrity</a:t>
            </a:r>
            <a:r>
              <a:rPr lang="en-US" sz="2800" dirty="0">
                <a:cs typeface="Tahoma" pitchFamily="34" charset="0"/>
              </a:rPr>
              <a:t>: assures that information and programs are changed only in a specified and authorized manner</a:t>
            </a:r>
          </a:p>
          <a:p>
            <a:pPr lvl="1" eaLnBrk="1" hangingPunct="1">
              <a:spcBef>
                <a:spcPts val="600"/>
              </a:spcBef>
              <a:spcAft>
                <a:spcPts val="0"/>
              </a:spcAft>
              <a:defRPr/>
            </a:pPr>
            <a:r>
              <a:rPr lang="en-US" sz="2800" b="1" dirty="0">
                <a:cs typeface="Tahoma" pitchFamily="34" charset="0"/>
              </a:rPr>
              <a:t>System integrity</a:t>
            </a:r>
            <a:r>
              <a:rPr lang="en-US" sz="2800" dirty="0">
                <a:cs typeface="Tahoma" pitchFamily="34" charset="0"/>
              </a:rPr>
              <a:t>: assures that a system performs its intended function as specified, free from unauthorized manipulation</a:t>
            </a:r>
          </a:p>
          <a:p>
            <a:pPr lvl="1" eaLnBrk="1" hangingPunct="1">
              <a:spcBef>
                <a:spcPts val="600"/>
              </a:spcBef>
              <a:spcAft>
                <a:spcPts val="0"/>
              </a:spcAft>
              <a:defRPr/>
            </a:pPr>
            <a:r>
              <a:rPr lang="en-US" sz="3000" dirty="0">
                <a:cs typeface="Tahoma" pitchFamily="34" charset="0"/>
              </a:rPr>
              <a:t>means: </a:t>
            </a:r>
            <a:r>
              <a:rPr lang="en-US" sz="3000" i="1" dirty="0">
                <a:cs typeface="Tahoma" pitchFamily="34" charset="0"/>
              </a:rPr>
              <a:t>cryptographic checksums</a:t>
            </a:r>
            <a:r>
              <a:rPr lang="en-US" sz="3000" dirty="0">
                <a:cs typeface="Tahoma" pitchFamily="34" charset="0"/>
              </a:rPr>
              <a:t>, </a:t>
            </a:r>
            <a:r>
              <a:rPr lang="en-US" sz="3000" i="1" dirty="0">
                <a:cs typeface="Tahoma" pitchFamily="34" charset="0"/>
              </a:rPr>
              <a:t>access control</a:t>
            </a:r>
            <a:r>
              <a:rPr lang="en-US" sz="3000" dirty="0">
                <a:cs typeface="Tahoma" pitchFamily="34" charset="0"/>
              </a:rPr>
              <a:t>,…</a:t>
            </a:r>
            <a:r>
              <a:rPr lang="en-US" sz="3000" i="1" dirty="0">
                <a:cs typeface="Tahoma" pitchFamily="34" charset="0"/>
              </a:rPr>
              <a:t> </a:t>
            </a:r>
          </a:p>
          <a:p>
            <a:pPr lvl="1" eaLnBrk="1" hangingPunct="1">
              <a:spcBef>
                <a:spcPts val="1200"/>
              </a:spcBef>
              <a:spcAft>
                <a:spcPts val="600"/>
              </a:spcAft>
              <a:defRPr/>
            </a:pPr>
            <a:endParaRPr lang="en-US" sz="3000" i="1" dirty="0">
              <a:cs typeface="Tahoma" pitchFamily="34" charset="0"/>
            </a:endParaRPr>
          </a:p>
        </p:txBody>
      </p:sp>
    </p:spTree>
    <p:extLst>
      <p:ext uri="{BB962C8B-B14F-4D97-AF65-F5344CB8AC3E}">
        <p14:creationId xmlns:p14="http://schemas.microsoft.com/office/powerpoint/2010/main" val="1761396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86FD0548-38C4-4421-991A-600A703DD556}" type="slidenum">
              <a:rPr lang="en-US"/>
              <a:pPr>
                <a:defRPr/>
              </a:pPr>
              <a:t>14</a:t>
            </a:fld>
            <a:endParaRPr lang="en-US"/>
          </a:p>
        </p:txBody>
      </p:sp>
      <p:sp>
        <p:nvSpPr>
          <p:cNvPr id="104450" name="Rectangle 2"/>
          <p:cNvSpPr>
            <a:spLocks noGrp="1" noChangeArrowheads="1"/>
          </p:cNvSpPr>
          <p:nvPr>
            <p:ph type="title"/>
          </p:nvPr>
        </p:nvSpPr>
        <p:spPr/>
        <p:txBody>
          <a:bodyPr/>
          <a:lstStyle/>
          <a:p>
            <a:pPr eaLnBrk="1" hangingPunct="1">
              <a:defRPr/>
            </a:pPr>
            <a:r>
              <a:rPr lang="en-US" dirty="0"/>
              <a:t>ISS Objectives</a:t>
            </a:r>
          </a:p>
        </p:txBody>
      </p:sp>
      <p:sp>
        <p:nvSpPr>
          <p:cNvPr id="104451" name="Rectangle 3"/>
          <p:cNvSpPr>
            <a:spLocks noGrp="1" noChangeArrowheads="1"/>
          </p:cNvSpPr>
          <p:nvPr>
            <p:ph type="body" idx="1"/>
          </p:nvPr>
        </p:nvSpPr>
        <p:spPr>
          <a:xfrm>
            <a:off x="808073" y="1786270"/>
            <a:ext cx="8296239" cy="4754230"/>
          </a:xfrm>
        </p:spPr>
        <p:txBody>
          <a:bodyPr/>
          <a:lstStyle/>
          <a:p>
            <a:pPr marL="514350" indent="-514350" eaLnBrk="1" hangingPunct="1">
              <a:spcBef>
                <a:spcPts val="1200"/>
              </a:spcBef>
              <a:spcAft>
                <a:spcPts val="600"/>
              </a:spcAft>
              <a:buFont typeface="+mj-lt"/>
              <a:buAutoNum type="arabicPeriod" startAt="3"/>
              <a:defRPr/>
            </a:pPr>
            <a:r>
              <a:rPr lang="en-US" sz="3000" b="1" dirty="0">
                <a:solidFill>
                  <a:schemeClr val="accent1"/>
                </a:solidFill>
                <a:cs typeface="Tahoma" pitchFamily="34" charset="0"/>
              </a:rPr>
              <a:t>Availability</a:t>
            </a:r>
            <a:endParaRPr lang="en-US" sz="3000" b="1" i="1" dirty="0">
              <a:solidFill>
                <a:schemeClr val="accent1"/>
              </a:solidFill>
              <a:cs typeface="Tahoma" pitchFamily="34" charset="0"/>
            </a:endParaRPr>
          </a:p>
          <a:p>
            <a:pPr lvl="1" eaLnBrk="1" hangingPunct="1">
              <a:spcBef>
                <a:spcPts val="1200"/>
              </a:spcBef>
              <a:spcAft>
                <a:spcPts val="600"/>
              </a:spcAft>
              <a:defRPr/>
            </a:pPr>
            <a:r>
              <a:rPr lang="en-US" b="0" i="0" u="none" strike="noStrike" kern="1200" baseline="0" dirty="0">
                <a:solidFill>
                  <a:schemeClr val="tx1"/>
                </a:solidFill>
                <a:latin typeface="Arial" charset="0"/>
                <a:ea typeface="+mn-ea"/>
                <a:cs typeface="Arial" charset="0"/>
              </a:rPr>
              <a:t>property of being accessible and usable on demand by an authorized entity.</a:t>
            </a:r>
          </a:p>
          <a:p>
            <a:pPr lvl="1" eaLnBrk="1" hangingPunct="1">
              <a:spcBef>
                <a:spcPts val="1200"/>
              </a:spcBef>
              <a:spcAft>
                <a:spcPts val="600"/>
              </a:spcAft>
              <a:defRPr/>
            </a:pPr>
            <a:r>
              <a:rPr lang="en-US" kern="1200" dirty="0">
                <a:latin typeface="Arial" charset="0"/>
                <a:cs typeface="Arial" charset="0"/>
              </a:rPr>
              <a:t>means: protection from disruption, intentional deletion, …</a:t>
            </a:r>
            <a:endParaRPr lang="en-US" dirty="0">
              <a:cs typeface="Tahoma" pitchFamily="34" charset="0"/>
            </a:endParaRPr>
          </a:p>
        </p:txBody>
      </p:sp>
    </p:spTree>
    <p:extLst>
      <p:ext uri="{BB962C8B-B14F-4D97-AF65-F5344CB8AC3E}">
        <p14:creationId xmlns:p14="http://schemas.microsoft.com/office/powerpoint/2010/main" val="4200217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9BD2F9E1-A072-4A14-B9F4-06203E2D2CFF}" type="slidenum">
              <a:rPr lang="en-US"/>
              <a:pPr>
                <a:defRPr/>
              </a:pPr>
              <a:t>15</a:t>
            </a:fld>
            <a:endParaRPr lang="en-US"/>
          </a:p>
        </p:txBody>
      </p:sp>
      <p:sp>
        <p:nvSpPr>
          <p:cNvPr id="124930" name="Rectangle 2"/>
          <p:cNvSpPr>
            <a:spLocks noGrp="1" noChangeArrowheads="1"/>
          </p:cNvSpPr>
          <p:nvPr>
            <p:ph type="title"/>
          </p:nvPr>
        </p:nvSpPr>
        <p:spPr/>
        <p:txBody>
          <a:bodyPr/>
          <a:lstStyle/>
          <a:p>
            <a:pPr eaLnBrk="1" hangingPunct="1">
              <a:defRPr/>
            </a:pPr>
            <a:r>
              <a:rPr lang="en-US" dirty="0"/>
              <a:t>ISS Objectives</a:t>
            </a:r>
          </a:p>
        </p:txBody>
      </p:sp>
      <p:sp>
        <p:nvSpPr>
          <p:cNvPr id="124931" name="Rectangle 3"/>
          <p:cNvSpPr>
            <a:spLocks noGrp="1" noChangeArrowheads="1"/>
          </p:cNvSpPr>
          <p:nvPr>
            <p:ph type="body" idx="1"/>
          </p:nvPr>
        </p:nvSpPr>
        <p:spPr>
          <a:xfrm>
            <a:off x="360231" y="1413164"/>
            <a:ext cx="9144000" cy="1787236"/>
          </a:xfrm>
        </p:spPr>
        <p:txBody>
          <a:bodyPr/>
          <a:lstStyle/>
          <a:p>
            <a:pPr eaLnBrk="1" hangingPunct="1">
              <a:defRPr/>
            </a:pPr>
            <a:r>
              <a:rPr lang="en-US" sz="2800" dirty="0">
                <a:solidFill>
                  <a:srgbClr val="FFFF00"/>
                </a:solidFill>
              </a:rPr>
              <a:t>Other Objectives:</a:t>
            </a:r>
          </a:p>
          <a:p>
            <a:pPr marL="971550" lvl="1" indent="-514350" eaLnBrk="1" hangingPunct="1">
              <a:spcBef>
                <a:spcPts val="1200"/>
              </a:spcBef>
              <a:buFont typeface="+mj-lt"/>
              <a:buAutoNum type="arabicPeriod" startAt="4"/>
              <a:defRPr/>
            </a:pPr>
            <a:r>
              <a:rPr lang="en-US" sz="2800" b="1" dirty="0">
                <a:solidFill>
                  <a:schemeClr val="accent1"/>
                </a:solidFill>
              </a:rPr>
              <a:t>Authenticity</a:t>
            </a:r>
          </a:p>
          <a:p>
            <a:pPr lvl="2" eaLnBrk="1" hangingPunct="1">
              <a:spcBef>
                <a:spcPts val="1200"/>
              </a:spcBef>
              <a:defRPr/>
            </a:pPr>
            <a:r>
              <a:rPr lang="en-US" sz="2600" b="1" i="1" dirty="0">
                <a:solidFill>
                  <a:schemeClr val="accent1"/>
                </a:solidFill>
              </a:rPr>
              <a:t> </a:t>
            </a:r>
            <a:r>
              <a:rPr lang="en-US" sz="2800" b="0" i="0" u="none" strike="noStrike" kern="1200" baseline="0" dirty="0">
                <a:solidFill>
                  <a:schemeClr val="tx1"/>
                </a:solidFill>
                <a:latin typeface="Arial" charset="0"/>
                <a:ea typeface="+mn-ea"/>
                <a:cs typeface="Arial" charset="0"/>
              </a:rPr>
              <a:t>property that an entity is what it claims to be</a:t>
            </a:r>
            <a:endParaRPr lang="en-US" sz="2600" b="1" i="1" dirty="0">
              <a:solidFill>
                <a:schemeClr val="accent1"/>
              </a:solidFill>
            </a:endParaRPr>
          </a:p>
        </p:txBody>
      </p:sp>
      <p:sp>
        <p:nvSpPr>
          <p:cNvPr id="5" name="Rectangle 3">
            <a:extLst>
              <a:ext uri="{FF2B5EF4-FFF2-40B4-BE49-F238E27FC236}">
                <a16:creationId xmlns:a16="http://schemas.microsoft.com/office/drawing/2014/main" id="{059D08C9-73BB-4095-ABB8-4EA183C71C3E}"/>
              </a:ext>
            </a:extLst>
          </p:cNvPr>
          <p:cNvSpPr txBox="1">
            <a:spLocks noChangeArrowheads="1"/>
          </p:cNvSpPr>
          <p:nvPr/>
        </p:nvSpPr>
        <p:spPr bwMode="auto">
          <a:xfrm>
            <a:off x="175746" y="3291378"/>
            <a:ext cx="9144000" cy="29860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2800">
                <a:solidFill>
                  <a:srgbClr val="FFFF00"/>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6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accent1">
                    <a:lumMod val="40000"/>
                    <a:lumOff val="60000"/>
                  </a:schemeClr>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tx1"/>
              </a:buClr>
              <a:buChar char="–"/>
              <a:defRPr sz="16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1600">
                <a:solidFill>
                  <a:schemeClr val="tx1"/>
                </a:solidFill>
                <a:effectLst>
                  <a:outerShdw blurRad="38100" dist="38100" dir="2700000" algn="tl">
                    <a:srgbClr val="000000"/>
                  </a:outerShdw>
                </a:effectLst>
                <a:latin typeface="+mn-lt"/>
                <a:cs typeface="+mn-cs"/>
              </a:defRPr>
            </a:lvl9pPr>
          </a:lstStyle>
          <a:p>
            <a:pPr lvl="1" eaLnBrk="1" hangingPunct="1">
              <a:spcBef>
                <a:spcPts val="1200"/>
              </a:spcBef>
              <a:defRPr/>
            </a:pPr>
            <a:r>
              <a:rPr lang="en-US" sz="2800" b="0" kern="0" dirty="0">
                <a:solidFill>
                  <a:srgbClr val="FFFF00"/>
                </a:solidFill>
              </a:rPr>
              <a:t>2 related terms are usually used</a:t>
            </a:r>
          </a:p>
          <a:p>
            <a:pPr lvl="2" eaLnBrk="1" hangingPunct="1">
              <a:spcBef>
                <a:spcPts val="1200"/>
              </a:spcBef>
              <a:defRPr/>
            </a:pPr>
            <a:r>
              <a:rPr lang="en-US" b="1" kern="0" dirty="0">
                <a:solidFill>
                  <a:schemeClr val="accent1"/>
                </a:solidFill>
              </a:rPr>
              <a:t>Entity authentication</a:t>
            </a:r>
          </a:p>
          <a:p>
            <a:pPr lvl="3" eaLnBrk="1" hangingPunct="1">
              <a:spcBef>
                <a:spcPts val="1200"/>
              </a:spcBef>
              <a:defRPr/>
            </a:pPr>
            <a:r>
              <a:rPr lang="en-US" sz="2400" b="0" kern="0" dirty="0"/>
              <a:t>corroboration of the identity of an entity (</a:t>
            </a:r>
            <a:r>
              <a:rPr lang="en-US" sz="2400" b="0" i="1" kern="0" dirty="0"/>
              <a:t>e.g.</a:t>
            </a:r>
            <a:r>
              <a:rPr lang="en-US" sz="2400" b="0" kern="0" dirty="0"/>
              <a:t>, a person, a credit card)</a:t>
            </a:r>
          </a:p>
          <a:p>
            <a:pPr lvl="2" eaLnBrk="1" hangingPunct="1">
              <a:spcBef>
                <a:spcPts val="1200"/>
              </a:spcBef>
              <a:defRPr/>
            </a:pPr>
            <a:r>
              <a:rPr lang="en-US" b="1" kern="0" dirty="0">
                <a:solidFill>
                  <a:schemeClr val="accent1"/>
                </a:solidFill>
              </a:rPr>
              <a:t>Message authentication</a:t>
            </a:r>
          </a:p>
          <a:p>
            <a:pPr lvl="3" eaLnBrk="1" hangingPunct="1">
              <a:spcBef>
                <a:spcPts val="1200"/>
              </a:spcBef>
              <a:defRPr/>
            </a:pPr>
            <a:r>
              <a:rPr lang="en-US" sz="2400" b="0" kern="0" dirty="0"/>
              <a:t>corroborating the source of information; </a:t>
            </a:r>
          </a:p>
          <a:p>
            <a:pPr lvl="4" eaLnBrk="1" hangingPunct="1">
              <a:spcBef>
                <a:spcPts val="1200"/>
              </a:spcBef>
              <a:defRPr/>
            </a:pPr>
            <a:r>
              <a:rPr lang="en-US" sz="2400" b="0" kern="0" dirty="0"/>
              <a:t>also known as </a:t>
            </a:r>
            <a:r>
              <a:rPr lang="en-US" sz="2400" b="0" i="1" kern="0" dirty="0"/>
              <a:t>data origin authentication</a:t>
            </a:r>
            <a:r>
              <a:rPr lang="en-US" sz="2400" b="0" kern="0" dirty="0"/>
              <a:t>.</a:t>
            </a:r>
          </a:p>
        </p:txBody>
      </p:sp>
    </p:spTree>
    <p:extLst>
      <p:ext uri="{BB962C8B-B14F-4D97-AF65-F5344CB8AC3E}">
        <p14:creationId xmlns:p14="http://schemas.microsoft.com/office/powerpoint/2010/main" val="45090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49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49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uiExpand="1" build="p"/>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DCB2A569-B0BF-4B4D-9506-D0B809F77FE1}" type="slidenum">
              <a:rPr lang="en-US"/>
              <a:pPr>
                <a:defRPr/>
              </a:pPr>
              <a:t>16</a:t>
            </a:fld>
            <a:endParaRPr lang="en-US"/>
          </a:p>
        </p:txBody>
      </p:sp>
      <p:sp>
        <p:nvSpPr>
          <p:cNvPr id="120834" name="Rectangle 2"/>
          <p:cNvSpPr>
            <a:spLocks noGrp="1" noChangeArrowheads="1"/>
          </p:cNvSpPr>
          <p:nvPr>
            <p:ph type="title"/>
          </p:nvPr>
        </p:nvSpPr>
        <p:spPr/>
        <p:txBody>
          <a:bodyPr/>
          <a:lstStyle/>
          <a:p>
            <a:pPr eaLnBrk="1" hangingPunct="1">
              <a:defRPr/>
            </a:pPr>
            <a:r>
              <a:rPr lang="en-US" dirty="0"/>
              <a:t>ISS Objectives</a:t>
            </a:r>
          </a:p>
        </p:txBody>
      </p:sp>
      <p:sp>
        <p:nvSpPr>
          <p:cNvPr id="120835" name="Rectangle 3"/>
          <p:cNvSpPr>
            <a:spLocks noGrp="1" noChangeArrowheads="1"/>
          </p:cNvSpPr>
          <p:nvPr>
            <p:ph type="body" idx="1"/>
          </p:nvPr>
        </p:nvSpPr>
        <p:spPr>
          <a:xfrm>
            <a:off x="646113" y="1798638"/>
            <a:ext cx="8497887" cy="4537075"/>
          </a:xfrm>
        </p:spPr>
        <p:txBody>
          <a:bodyPr/>
          <a:lstStyle/>
          <a:p>
            <a:pPr marL="971550" lvl="1" indent="-514350" eaLnBrk="1" hangingPunct="1">
              <a:buFont typeface="+mj-lt"/>
              <a:buAutoNum type="arabicPeriod" startAt="5"/>
              <a:defRPr/>
            </a:pPr>
            <a:r>
              <a:rPr lang="en-US" sz="2800" b="1" dirty="0">
                <a:solidFill>
                  <a:schemeClr val="accent1"/>
                </a:solidFill>
              </a:rPr>
              <a:t>Non-repudiation</a:t>
            </a:r>
            <a:endParaRPr lang="en-US" sz="2800" i="1" dirty="0"/>
          </a:p>
          <a:p>
            <a:pPr lvl="2" eaLnBrk="1" hangingPunct="1">
              <a:defRPr/>
            </a:pPr>
            <a:r>
              <a:rPr lang="en-US" sz="2600" i="1" dirty="0"/>
              <a:t> </a:t>
            </a:r>
            <a:r>
              <a:rPr lang="en-US" sz="2600" dirty="0"/>
              <a:t>preventing the denial of previous commitments or actions</a:t>
            </a:r>
          </a:p>
          <a:p>
            <a:pPr lvl="1" eaLnBrk="1" hangingPunct="1">
              <a:defRPr/>
            </a:pPr>
            <a:endParaRPr lang="en-US" sz="2800" b="1" dirty="0">
              <a:solidFill>
                <a:schemeClr val="accent1"/>
              </a:solidFill>
            </a:endParaRPr>
          </a:p>
          <a:p>
            <a:pPr marL="971550" lvl="1" indent="-514350" eaLnBrk="1" hangingPunct="1">
              <a:buFont typeface="+mj-lt"/>
              <a:buAutoNum type="arabicPeriod" startAt="6"/>
              <a:defRPr/>
            </a:pPr>
            <a:r>
              <a:rPr lang="en-US" sz="2800" b="1" dirty="0">
                <a:solidFill>
                  <a:schemeClr val="accent1"/>
                </a:solidFill>
              </a:rPr>
              <a:t>Accountability</a:t>
            </a:r>
          </a:p>
          <a:p>
            <a:pPr lvl="2" eaLnBrk="1" hangingPunct="1">
              <a:defRPr/>
            </a:pPr>
            <a:r>
              <a:rPr lang="en-US" sz="2600" dirty="0"/>
              <a:t>the ability to identify entities responsible for past actions.</a:t>
            </a:r>
            <a:endParaRPr lang="en-US" sz="2800" dirty="0"/>
          </a:p>
        </p:txBody>
      </p:sp>
    </p:spTree>
    <p:extLst>
      <p:ext uri="{BB962C8B-B14F-4D97-AF65-F5344CB8AC3E}">
        <p14:creationId xmlns:p14="http://schemas.microsoft.com/office/powerpoint/2010/main" val="58286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457200" y="0"/>
            <a:ext cx="8229600" cy="836712"/>
          </a:xfrm>
        </p:spPr>
        <p:txBody>
          <a:bodyPr>
            <a:normAutofit fontScale="90000"/>
          </a:bodyPr>
          <a:lstStyle/>
          <a:p>
            <a:r>
              <a:rPr lang="en-US" sz="4400" b="1" dirty="0">
                <a:ln w="10541" cmpd="sng">
                  <a:solidFill>
                    <a:schemeClr val="accent1">
                      <a:shade val="88000"/>
                      <a:satMod val="110000"/>
                    </a:schemeClr>
                  </a:solidFill>
                  <a:prstDash val="solid"/>
                </a:ln>
                <a:solidFill>
                  <a:schemeClr val="accent6">
                    <a:lumMod val="60000"/>
                    <a:lumOff val="40000"/>
                  </a:schemeClr>
                </a:solidFill>
                <a:effectLst/>
              </a:rPr>
              <a:t>Computer Security Challenges</a:t>
            </a:r>
          </a:p>
        </p:txBody>
      </p:sp>
      <p:graphicFrame>
        <p:nvGraphicFramePr>
          <p:cNvPr id="3" name="Content Placeholder 2"/>
          <p:cNvGraphicFramePr>
            <a:graphicFrameLocks noGrp="1"/>
          </p:cNvGraphicFramePr>
          <p:nvPr>
            <p:ph sz="half" idx="2"/>
          </p:nvPr>
        </p:nvGraphicFramePr>
        <p:xfrm>
          <a:off x="251520" y="836712"/>
          <a:ext cx="8640960" cy="5904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0CDA7B5E-B990-4CA4-A875-0DC4B4B5276D}" type="slidenum">
              <a:rPr lang="en-US"/>
              <a:pPr>
                <a:defRPr/>
              </a:pPr>
              <a:t>18</a:t>
            </a:fld>
            <a:endParaRPr lang="en-US"/>
          </a:p>
        </p:txBody>
      </p:sp>
      <p:sp>
        <p:nvSpPr>
          <p:cNvPr id="107522" name="Rectangle 2"/>
          <p:cNvSpPr>
            <a:spLocks noGrp="1" noChangeArrowheads="1"/>
          </p:cNvSpPr>
          <p:nvPr>
            <p:ph type="title"/>
          </p:nvPr>
        </p:nvSpPr>
        <p:spPr/>
        <p:txBody>
          <a:bodyPr/>
          <a:lstStyle/>
          <a:p>
            <a:pPr eaLnBrk="1" hangingPunct="1">
              <a:defRPr/>
            </a:pPr>
            <a:r>
              <a:rPr lang="en-US"/>
              <a:t>Outline</a:t>
            </a:r>
          </a:p>
        </p:txBody>
      </p:sp>
      <p:sp>
        <p:nvSpPr>
          <p:cNvPr id="107523" name="Rectangle 3"/>
          <p:cNvSpPr>
            <a:spLocks noGrp="1" noChangeArrowheads="1"/>
          </p:cNvSpPr>
          <p:nvPr>
            <p:ph type="body" idx="1"/>
          </p:nvPr>
        </p:nvSpPr>
        <p:spPr>
          <a:xfrm>
            <a:off x="762000" y="2024743"/>
            <a:ext cx="7772400" cy="4447495"/>
          </a:xfrm>
        </p:spPr>
        <p:txBody>
          <a:bodyPr/>
          <a:lstStyle/>
          <a:p>
            <a:pPr marL="457200" indent="-457200" eaLnBrk="1" hangingPunct="1">
              <a:buFont typeface="Wingdings" pitchFamily="2" charset="2"/>
              <a:buAutoNum type="arabicPeriod"/>
              <a:defRPr/>
            </a:pPr>
            <a:r>
              <a:rPr lang="en-US" dirty="0">
                <a:effectLst/>
              </a:rPr>
              <a:t>Attack Examples</a:t>
            </a:r>
            <a:endParaRPr lang="en-US" dirty="0">
              <a:solidFill>
                <a:srgbClr val="FFFF00"/>
              </a:solidFill>
            </a:endParaRPr>
          </a:p>
          <a:p>
            <a:pPr marL="457200" indent="-457200" eaLnBrk="1" hangingPunct="1">
              <a:buFont typeface="Wingdings" pitchFamily="2" charset="2"/>
              <a:buAutoNum type="arabicPeriod"/>
              <a:defRPr/>
            </a:pPr>
            <a:r>
              <a:rPr lang="en-US" dirty="0">
                <a:solidFill>
                  <a:srgbClr val="FFFF00"/>
                </a:solidFill>
              </a:rPr>
              <a:t>What is Information </a:t>
            </a:r>
            <a:r>
              <a:rPr lang="en-US" dirty="0"/>
              <a:t>Systems </a:t>
            </a:r>
            <a:r>
              <a:rPr lang="en-US" dirty="0">
                <a:solidFill>
                  <a:srgbClr val="FFFF00"/>
                </a:solidFill>
              </a:rPr>
              <a:t>Security?</a:t>
            </a:r>
          </a:p>
          <a:p>
            <a:pPr marL="457200" indent="-457200" eaLnBrk="1" hangingPunct="1">
              <a:buFont typeface="Wingdings" pitchFamily="2" charset="2"/>
              <a:buAutoNum type="arabicPeriod"/>
              <a:defRPr/>
            </a:pPr>
            <a:r>
              <a:rPr lang="en-US" dirty="0"/>
              <a:t>ISS Objectives </a:t>
            </a:r>
            <a:endParaRPr lang="en-US" dirty="0">
              <a:solidFill>
                <a:srgbClr val="FFFF00"/>
              </a:solidFill>
            </a:endParaRPr>
          </a:p>
          <a:p>
            <a:pPr marL="457200" indent="-457200" eaLnBrk="1" hangingPunct="1">
              <a:buFont typeface="Wingdings" pitchFamily="2" charset="2"/>
              <a:buAutoNum type="arabicPeriod"/>
              <a:defRPr/>
            </a:pPr>
            <a:r>
              <a:rPr lang="en-US" dirty="0">
                <a:solidFill>
                  <a:schemeClr val="tx1"/>
                </a:solidFill>
              </a:rPr>
              <a:t>Security terms</a:t>
            </a:r>
          </a:p>
          <a:p>
            <a:pPr marL="457200" indent="-457200" eaLnBrk="1" hangingPunct="1">
              <a:buFont typeface="Wingdings" pitchFamily="2" charset="2"/>
              <a:buAutoNum type="arabicPeriod"/>
              <a:defRPr/>
            </a:pPr>
            <a:r>
              <a:rPr lang="en-US" dirty="0">
                <a:solidFill>
                  <a:srgbClr val="FFFF00"/>
                </a:solidFill>
              </a:rPr>
              <a:t>Security Policies</a:t>
            </a:r>
          </a:p>
          <a:p>
            <a:pPr marL="457200" indent="-457200" eaLnBrk="1" hangingPunct="1">
              <a:buFont typeface="Wingdings" pitchFamily="2" charset="2"/>
              <a:buAutoNum type="arabicPeriod"/>
              <a:defRPr/>
            </a:pPr>
            <a:r>
              <a:rPr lang="en-GB" dirty="0">
                <a:solidFill>
                  <a:srgbClr val="FFFF00"/>
                </a:solidFill>
              </a:rPr>
              <a:t>Conclusion</a:t>
            </a:r>
            <a:endParaRPr lang="en-US" dirty="0">
              <a:solidFill>
                <a:srgbClr val="FFFF00"/>
              </a:solidFill>
            </a:endParaRPr>
          </a:p>
        </p:txBody>
      </p:sp>
    </p:spTree>
    <p:extLst>
      <p:ext uri="{BB962C8B-B14F-4D97-AF65-F5344CB8AC3E}">
        <p14:creationId xmlns:p14="http://schemas.microsoft.com/office/powerpoint/2010/main" val="392992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345157EA-DDB4-473A-A67A-4874854D708E}" type="slidenum">
              <a:rPr lang="en-US"/>
              <a:pPr>
                <a:defRPr/>
              </a:pPr>
              <a:t>19</a:t>
            </a:fld>
            <a:endParaRPr lang="en-US"/>
          </a:p>
        </p:txBody>
      </p:sp>
      <p:sp>
        <p:nvSpPr>
          <p:cNvPr id="77826" name="Rectangle 2"/>
          <p:cNvSpPr>
            <a:spLocks noGrp="1" noChangeArrowheads="1"/>
          </p:cNvSpPr>
          <p:nvPr>
            <p:ph type="title"/>
          </p:nvPr>
        </p:nvSpPr>
        <p:spPr>
          <a:xfrm>
            <a:off x="711200" y="0"/>
            <a:ext cx="8432800" cy="1341438"/>
          </a:xfrm>
        </p:spPr>
        <p:txBody>
          <a:bodyPr/>
          <a:lstStyle/>
          <a:p>
            <a:pPr eaLnBrk="1" hangingPunct="1">
              <a:defRPr/>
            </a:pPr>
            <a:r>
              <a:rPr lang="en-US" dirty="0"/>
              <a:t>4. Security Terms</a:t>
            </a:r>
          </a:p>
        </p:txBody>
      </p:sp>
      <p:sp>
        <p:nvSpPr>
          <p:cNvPr id="77827" name="Rectangle 3"/>
          <p:cNvSpPr>
            <a:spLocks noGrp="1" noChangeArrowheads="1"/>
          </p:cNvSpPr>
          <p:nvPr>
            <p:ph type="body" idx="1"/>
          </p:nvPr>
        </p:nvSpPr>
        <p:spPr>
          <a:xfrm>
            <a:off x="711200" y="1645919"/>
            <a:ext cx="8432800" cy="4696143"/>
          </a:xfrm>
        </p:spPr>
        <p:txBody>
          <a:bodyPr/>
          <a:lstStyle/>
          <a:p>
            <a:pPr eaLnBrk="1" hangingPunct="1">
              <a:defRPr/>
            </a:pPr>
            <a:r>
              <a:rPr lang="en-US" sz="2800" dirty="0">
                <a:solidFill>
                  <a:schemeClr val="accent1"/>
                </a:solidFill>
                <a:cs typeface="Tahoma" pitchFamily="34" charset="0"/>
              </a:rPr>
              <a:t>A </a:t>
            </a:r>
            <a:r>
              <a:rPr lang="en-US" sz="2800" b="1" i="1" dirty="0">
                <a:solidFill>
                  <a:schemeClr val="accent1"/>
                </a:solidFill>
                <a:cs typeface="Tahoma" pitchFamily="34" charset="0"/>
              </a:rPr>
              <a:t>vulnerability</a:t>
            </a:r>
            <a:r>
              <a:rPr lang="en-US" sz="2800" dirty="0">
                <a:solidFill>
                  <a:srgbClr val="FFFF00"/>
                </a:solidFill>
                <a:cs typeface="Tahoma" pitchFamily="34" charset="0"/>
              </a:rPr>
              <a:t>: is a weakness in system design/implementation/operation and can be in hardware or software.</a:t>
            </a:r>
          </a:p>
          <a:p>
            <a:pPr lvl="1" eaLnBrk="1" hangingPunct="1">
              <a:defRPr/>
            </a:pPr>
            <a:r>
              <a:rPr lang="en-US" sz="2800" dirty="0">
                <a:solidFill>
                  <a:schemeClr val="folHlink"/>
                </a:solidFill>
                <a:cs typeface="Tahoma" pitchFamily="34" charset="0"/>
              </a:rPr>
              <a:t>Example: a software bug exists in the OS, or no password rules are set. </a:t>
            </a:r>
          </a:p>
          <a:p>
            <a:pPr eaLnBrk="1" hangingPunct="1">
              <a:defRPr/>
            </a:pPr>
            <a:r>
              <a:rPr lang="en-US" sz="2800" dirty="0">
                <a:solidFill>
                  <a:schemeClr val="accent1"/>
                </a:solidFill>
                <a:cs typeface="Tahoma" pitchFamily="34" charset="0"/>
              </a:rPr>
              <a:t>A </a:t>
            </a:r>
            <a:r>
              <a:rPr lang="en-US" sz="2800" b="1" i="1" dirty="0">
                <a:solidFill>
                  <a:schemeClr val="accent1"/>
                </a:solidFill>
                <a:cs typeface="Tahoma" pitchFamily="34" charset="0"/>
              </a:rPr>
              <a:t>threat</a:t>
            </a:r>
            <a:r>
              <a:rPr lang="en-US" sz="2800" dirty="0">
                <a:solidFill>
                  <a:schemeClr val="accent1"/>
                </a:solidFill>
                <a:cs typeface="Tahoma" pitchFamily="34" charset="0"/>
              </a:rPr>
              <a:t>:</a:t>
            </a:r>
          </a:p>
          <a:p>
            <a:pPr lvl="1" eaLnBrk="1" hangingPunct="1">
              <a:defRPr/>
            </a:pPr>
            <a:r>
              <a:rPr lang="en-US" sz="2400" dirty="0">
                <a:cs typeface="Tahoma" pitchFamily="34" charset="0"/>
              </a:rPr>
              <a:t>Something that can potentially cause damage</a:t>
            </a:r>
          </a:p>
          <a:p>
            <a:pPr lvl="1" eaLnBrk="1" hangingPunct="1">
              <a:defRPr/>
            </a:pPr>
            <a:r>
              <a:rPr lang="en-US" sz="2400" dirty="0"/>
              <a:t>Refers to a situation in which either a person could do something undesirable </a:t>
            </a:r>
          </a:p>
          <a:p>
            <a:pPr lvl="1" eaLnBrk="1" hangingPunct="1">
              <a:defRPr/>
            </a:pPr>
            <a:r>
              <a:rPr lang="en-US" sz="2400" dirty="0"/>
              <a:t> or a natural occurrence could cause an undesirable outcome </a:t>
            </a:r>
            <a:endParaRPr lang="en-US" dirty="0">
              <a:cs typeface="Tahoma"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AEEBA599-E3EE-4839-A96A-6C60C629E0AE}" type="slidenum">
              <a:rPr lang="en-US"/>
              <a:pPr>
                <a:defRPr/>
              </a:pPr>
              <a:t>20</a:t>
            </a:fld>
            <a:endParaRPr lang="en-US"/>
          </a:p>
        </p:txBody>
      </p:sp>
      <p:sp>
        <p:nvSpPr>
          <p:cNvPr id="130050" name="Rectangle 2"/>
          <p:cNvSpPr>
            <a:spLocks noGrp="1" noChangeArrowheads="1"/>
          </p:cNvSpPr>
          <p:nvPr>
            <p:ph type="title"/>
          </p:nvPr>
        </p:nvSpPr>
        <p:spPr>
          <a:xfrm>
            <a:off x="1066800" y="0"/>
            <a:ext cx="8077200" cy="1341438"/>
          </a:xfrm>
        </p:spPr>
        <p:txBody>
          <a:bodyPr/>
          <a:lstStyle/>
          <a:p>
            <a:pPr eaLnBrk="1" hangingPunct="1">
              <a:defRPr/>
            </a:pPr>
            <a:r>
              <a:rPr lang="en-US" dirty="0"/>
              <a:t>Security terms</a:t>
            </a:r>
          </a:p>
        </p:txBody>
      </p:sp>
      <p:sp>
        <p:nvSpPr>
          <p:cNvPr id="130051" name="Rectangle 3"/>
          <p:cNvSpPr>
            <a:spLocks noGrp="1" noChangeArrowheads="1"/>
          </p:cNvSpPr>
          <p:nvPr>
            <p:ph type="body" idx="1"/>
          </p:nvPr>
        </p:nvSpPr>
        <p:spPr>
          <a:xfrm>
            <a:off x="646113" y="1422400"/>
            <a:ext cx="8497887" cy="5334000"/>
          </a:xfrm>
        </p:spPr>
        <p:txBody>
          <a:bodyPr/>
          <a:lstStyle/>
          <a:p>
            <a:pPr eaLnBrk="1" hangingPunct="1">
              <a:defRPr/>
            </a:pPr>
            <a:r>
              <a:rPr lang="en-US" sz="2800" b="1" dirty="0">
                <a:solidFill>
                  <a:schemeClr val="accent1"/>
                </a:solidFill>
                <a:cs typeface="Tahoma" pitchFamily="34" charset="0"/>
              </a:rPr>
              <a:t>Vulnerabilities: Examples</a:t>
            </a:r>
          </a:p>
          <a:p>
            <a:pPr lvl="1" eaLnBrk="1" hangingPunct="1">
              <a:defRPr/>
            </a:pPr>
            <a:r>
              <a:rPr lang="en-GB" sz="2400" dirty="0">
                <a:solidFill>
                  <a:schemeClr val="folHlink"/>
                </a:solidFill>
                <a:cs typeface="Tahoma" pitchFamily="34" charset="0"/>
              </a:rPr>
              <a:t>Unprotected data under transmission</a:t>
            </a:r>
          </a:p>
          <a:p>
            <a:pPr lvl="1" eaLnBrk="1" hangingPunct="1">
              <a:defRPr/>
            </a:pPr>
            <a:r>
              <a:rPr lang="en-GB" sz="2400" dirty="0">
                <a:solidFill>
                  <a:schemeClr val="folHlink"/>
                </a:solidFill>
                <a:cs typeface="Tahoma" pitchFamily="34" charset="0"/>
              </a:rPr>
              <a:t>Mistakes in firewall or router</a:t>
            </a:r>
          </a:p>
          <a:p>
            <a:pPr lvl="1" eaLnBrk="1" hangingPunct="1">
              <a:defRPr/>
            </a:pPr>
            <a:r>
              <a:rPr lang="en-US" sz="2400" dirty="0">
                <a:solidFill>
                  <a:schemeClr val="folHlink"/>
                </a:solidFill>
                <a:cs typeface="Tahoma" pitchFamily="34" charset="0"/>
              </a:rPr>
              <a:t>Software bugs exist.</a:t>
            </a:r>
          </a:p>
          <a:p>
            <a:pPr lvl="1" eaLnBrk="1" hangingPunct="1">
              <a:defRPr/>
            </a:pPr>
            <a:r>
              <a:rPr lang="en-GB" sz="2400" dirty="0">
                <a:solidFill>
                  <a:schemeClr val="folHlink"/>
                </a:solidFill>
                <a:cs typeface="Tahoma" pitchFamily="34" charset="0"/>
              </a:rPr>
              <a:t>Passwords posted near the computer</a:t>
            </a:r>
            <a:endParaRPr lang="en-US" sz="2400" dirty="0">
              <a:solidFill>
                <a:schemeClr val="folHlink"/>
              </a:solidFill>
              <a:cs typeface="Tahoma" pitchFamily="34" charset="0"/>
            </a:endParaRPr>
          </a:p>
          <a:p>
            <a:pPr lvl="1" eaLnBrk="1" hangingPunct="1">
              <a:buNone/>
              <a:defRPr/>
            </a:pPr>
            <a:endParaRPr lang="en-GB" sz="2400" dirty="0">
              <a:solidFill>
                <a:schemeClr val="accent1"/>
              </a:solidFill>
              <a:cs typeface="Tahoma" pitchFamily="34" charset="0"/>
            </a:endParaRPr>
          </a:p>
          <a:p>
            <a:pPr eaLnBrk="1" hangingPunct="1">
              <a:defRPr/>
            </a:pPr>
            <a:r>
              <a:rPr lang="en-GB" sz="2800" dirty="0">
                <a:solidFill>
                  <a:schemeClr val="accent1"/>
                </a:solidFill>
                <a:cs typeface="Tahoma" pitchFamily="34" charset="0"/>
              </a:rPr>
              <a:t>Threats:</a:t>
            </a:r>
            <a:r>
              <a:rPr lang="en-US" sz="2800" b="1" dirty="0">
                <a:solidFill>
                  <a:schemeClr val="accent1"/>
                </a:solidFill>
                <a:cs typeface="Tahoma" pitchFamily="34" charset="0"/>
              </a:rPr>
              <a:t> Examples</a:t>
            </a:r>
            <a:endParaRPr lang="en-GB" sz="2800" dirty="0">
              <a:cs typeface="Tahoma" pitchFamily="34" charset="0"/>
            </a:endParaRPr>
          </a:p>
          <a:p>
            <a:pPr lvl="1" eaLnBrk="1" hangingPunct="1">
              <a:defRPr/>
            </a:pPr>
            <a:r>
              <a:rPr lang="en-GB" sz="2400" dirty="0">
                <a:solidFill>
                  <a:schemeClr val="folHlink"/>
                </a:solidFill>
                <a:cs typeface="Tahoma" pitchFamily="34" charset="0"/>
              </a:rPr>
              <a:t>Virus</a:t>
            </a:r>
          </a:p>
          <a:p>
            <a:pPr lvl="1" eaLnBrk="1" hangingPunct="1">
              <a:defRPr/>
            </a:pPr>
            <a:r>
              <a:rPr lang="en-GB" sz="2400" dirty="0">
                <a:solidFill>
                  <a:schemeClr val="folHlink"/>
                </a:solidFill>
                <a:cs typeface="Tahoma" pitchFamily="34" charset="0"/>
              </a:rPr>
              <a:t>Illegal Passwords  use</a:t>
            </a:r>
          </a:p>
          <a:p>
            <a:pPr lvl="1" eaLnBrk="1" hangingPunct="1">
              <a:defRPr/>
            </a:pPr>
            <a:r>
              <a:rPr lang="en-GB" sz="2400" dirty="0">
                <a:solidFill>
                  <a:schemeClr val="folHlink"/>
                </a:solidFill>
                <a:cs typeface="Tahoma" pitchFamily="34" charset="0"/>
              </a:rPr>
              <a:t>Illegal access to the Internet</a:t>
            </a:r>
          </a:p>
          <a:p>
            <a:pPr lvl="1" eaLnBrk="1" hangingPunct="1">
              <a:defRPr/>
            </a:pPr>
            <a:r>
              <a:rPr lang="en-US" sz="2400" dirty="0">
                <a:solidFill>
                  <a:schemeClr val="folHlink"/>
                </a:solidFill>
                <a:cs typeface="Tahoma" pitchFamily="34" charset="0"/>
              </a:rPr>
              <a:t>Pretending to be a desk helper</a:t>
            </a:r>
            <a:endParaRPr lang="en-GB" sz="2400" dirty="0">
              <a:solidFill>
                <a:schemeClr val="folHlink"/>
              </a:solidFill>
              <a:cs typeface="Tahoma"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BCB19136-B877-4127-B2D9-F7B6560CE1EA}" type="slidenum">
              <a:rPr lang="en-US"/>
              <a:pPr>
                <a:defRPr/>
              </a:pPr>
              <a:t>21</a:t>
            </a:fld>
            <a:endParaRPr lang="en-US"/>
          </a:p>
        </p:txBody>
      </p:sp>
      <p:sp>
        <p:nvSpPr>
          <p:cNvPr id="128002" name="Rectangle 2"/>
          <p:cNvSpPr>
            <a:spLocks noGrp="1" noChangeArrowheads="1"/>
          </p:cNvSpPr>
          <p:nvPr>
            <p:ph type="title"/>
          </p:nvPr>
        </p:nvSpPr>
        <p:spPr>
          <a:xfrm>
            <a:off x="1066800" y="0"/>
            <a:ext cx="8077200" cy="1341438"/>
          </a:xfrm>
        </p:spPr>
        <p:txBody>
          <a:bodyPr/>
          <a:lstStyle/>
          <a:p>
            <a:pPr eaLnBrk="1" hangingPunct="1">
              <a:defRPr/>
            </a:pPr>
            <a:r>
              <a:rPr lang="en-US" dirty="0"/>
              <a:t>Security terms</a:t>
            </a:r>
          </a:p>
        </p:txBody>
      </p:sp>
      <p:sp>
        <p:nvSpPr>
          <p:cNvPr id="128003" name="Rectangle 3"/>
          <p:cNvSpPr>
            <a:spLocks noGrp="1" noChangeArrowheads="1"/>
          </p:cNvSpPr>
          <p:nvPr>
            <p:ph type="body" idx="1"/>
          </p:nvPr>
        </p:nvSpPr>
        <p:spPr>
          <a:xfrm>
            <a:off x="646113" y="1524000"/>
            <a:ext cx="8497887" cy="4870450"/>
          </a:xfrm>
        </p:spPr>
        <p:txBody>
          <a:bodyPr/>
          <a:lstStyle/>
          <a:p>
            <a:pPr eaLnBrk="1" hangingPunct="1">
              <a:spcBef>
                <a:spcPts val="1200"/>
              </a:spcBef>
              <a:defRPr/>
            </a:pPr>
            <a:r>
              <a:rPr lang="en-US" sz="2800" dirty="0">
                <a:solidFill>
                  <a:schemeClr val="accent1"/>
                </a:solidFill>
                <a:cs typeface="Tahoma" pitchFamily="34" charset="0"/>
              </a:rPr>
              <a:t>A </a:t>
            </a:r>
            <a:r>
              <a:rPr lang="en-US" sz="2800" b="1" i="1" dirty="0">
                <a:solidFill>
                  <a:schemeClr val="accent1"/>
                </a:solidFill>
                <a:cs typeface="Tahoma" pitchFamily="34" charset="0"/>
              </a:rPr>
              <a:t>Risk:</a:t>
            </a:r>
            <a:r>
              <a:rPr lang="en-US" sz="2800" b="1" i="1" dirty="0">
                <a:solidFill>
                  <a:srgbClr val="FFFF00"/>
                </a:solidFill>
                <a:cs typeface="Tahoma" pitchFamily="34" charset="0"/>
              </a:rPr>
              <a:t> </a:t>
            </a:r>
            <a:r>
              <a:rPr lang="en-US" dirty="0"/>
              <a:t>the expected loss due to harmful future events,</a:t>
            </a:r>
            <a:endParaRPr lang="en-US" sz="2800" dirty="0">
              <a:solidFill>
                <a:srgbClr val="FFFF00"/>
              </a:solidFill>
              <a:cs typeface="Tahoma" pitchFamily="34" charset="0"/>
            </a:endParaRPr>
          </a:p>
          <a:p>
            <a:pPr eaLnBrk="1" hangingPunct="1">
              <a:spcBef>
                <a:spcPts val="1200"/>
              </a:spcBef>
              <a:defRPr/>
            </a:pPr>
            <a:r>
              <a:rPr lang="en-US" sz="2800" dirty="0">
                <a:solidFill>
                  <a:schemeClr val="accent1"/>
                </a:solidFill>
                <a:cs typeface="Tahoma" pitchFamily="34" charset="0"/>
              </a:rPr>
              <a:t>An </a:t>
            </a:r>
            <a:r>
              <a:rPr lang="en-US" sz="2800" b="1" i="1" dirty="0">
                <a:solidFill>
                  <a:schemeClr val="accent1"/>
                </a:solidFill>
                <a:cs typeface="Tahoma" pitchFamily="34" charset="0"/>
              </a:rPr>
              <a:t>attack</a:t>
            </a:r>
            <a:r>
              <a:rPr lang="en-US" sz="2800" dirty="0">
                <a:solidFill>
                  <a:srgbClr val="FFFF00"/>
                </a:solidFill>
                <a:cs typeface="Tahoma" pitchFamily="34" charset="0"/>
              </a:rPr>
              <a:t>: is a realization of a threat</a:t>
            </a:r>
            <a:endParaRPr lang="en-US" sz="2800" dirty="0">
              <a:cs typeface="Tahoma" pitchFamily="34" charset="0"/>
            </a:endParaRPr>
          </a:p>
          <a:p>
            <a:pPr eaLnBrk="1" hangingPunct="1">
              <a:spcBef>
                <a:spcPts val="1200"/>
              </a:spcBef>
              <a:defRPr/>
            </a:pPr>
            <a:r>
              <a:rPr lang="en-US" sz="2800" dirty="0">
                <a:solidFill>
                  <a:schemeClr val="accent1"/>
                </a:solidFill>
                <a:cs typeface="Tahoma" pitchFamily="34" charset="0"/>
              </a:rPr>
              <a:t>An </a:t>
            </a:r>
            <a:r>
              <a:rPr lang="en-US" sz="2800" b="1" i="1" dirty="0">
                <a:solidFill>
                  <a:schemeClr val="accent1"/>
                </a:solidFill>
                <a:cs typeface="Tahoma" pitchFamily="34" charset="0"/>
              </a:rPr>
              <a:t>attacker</a:t>
            </a:r>
            <a:r>
              <a:rPr lang="en-US" sz="2800" dirty="0">
                <a:solidFill>
                  <a:srgbClr val="FFFF00"/>
                </a:solidFill>
                <a:cs typeface="Tahoma" pitchFamily="34" charset="0"/>
              </a:rPr>
              <a:t>: is a person who exploits a vulnerability</a:t>
            </a:r>
          </a:p>
          <a:p>
            <a:pPr eaLnBrk="1" hangingPunct="1">
              <a:spcBef>
                <a:spcPts val="1200"/>
              </a:spcBef>
              <a:defRPr/>
            </a:pPr>
            <a:r>
              <a:rPr lang="en-US" sz="2800" dirty="0">
                <a:solidFill>
                  <a:srgbClr val="FFFF00"/>
                </a:solidFill>
                <a:cs typeface="Tahoma" pitchFamily="34" charset="0"/>
              </a:rPr>
              <a:t>An attacker must have means, opportunity, and motive</a:t>
            </a:r>
          </a:p>
          <a:p>
            <a:pPr lvl="1" eaLnBrk="1" hangingPunct="1">
              <a:spcBef>
                <a:spcPts val="1200"/>
              </a:spcBef>
              <a:defRPr/>
            </a:pPr>
            <a:r>
              <a:rPr lang="en-US" sz="2800" dirty="0">
                <a:cs typeface="Tahoma" pitchFamily="34" charset="0"/>
              </a:rPr>
              <a:t>Synonyms: enemy, adversary, opponent, eavesdropper, intruder</a:t>
            </a:r>
            <a:endParaRPr lang="en-US" dirty="0">
              <a:cs typeface="Tahoma" pitchFamily="34" charset="0"/>
            </a:endParaRPr>
          </a:p>
          <a:p>
            <a:pPr eaLnBrk="1" hangingPunct="1">
              <a:defRPr/>
            </a:pPr>
            <a:endParaRPr 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p:txBody>
          <a:bodyPr/>
          <a:lstStyle/>
          <a:p>
            <a:pPr>
              <a:defRPr/>
            </a:pPr>
            <a:fld id="{F00214CA-578A-411C-B5E9-0524EA99F1EE}" type="slidenum">
              <a:rPr lang="en-US"/>
              <a:pPr>
                <a:defRPr/>
              </a:pPr>
              <a:t>22</a:t>
            </a:fld>
            <a:endParaRPr lang="en-US"/>
          </a:p>
        </p:txBody>
      </p:sp>
      <p:sp>
        <p:nvSpPr>
          <p:cNvPr id="134146" name="Rectangle 2"/>
          <p:cNvSpPr>
            <a:spLocks noGrp="1" noChangeArrowheads="1"/>
          </p:cNvSpPr>
          <p:nvPr>
            <p:ph type="title"/>
          </p:nvPr>
        </p:nvSpPr>
        <p:spPr/>
        <p:txBody>
          <a:bodyPr/>
          <a:lstStyle/>
          <a:p>
            <a:pPr eaLnBrk="1" hangingPunct="1">
              <a:defRPr/>
            </a:pPr>
            <a:r>
              <a:rPr lang="en-GB"/>
              <a:t>Threats  from hackers</a:t>
            </a:r>
            <a:endParaRPr lang="en-US"/>
          </a:p>
        </p:txBody>
      </p:sp>
      <p:sp>
        <p:nvSpPr>
          <p:cNvPr id="18436" name="AutoShape 3"/>
          <p:cNvSpPr>
            <a:spLocks noChangeArrowheads="1"/>
          </p:cNvSpPr>
          <p:nvPr/>
        </p:nvSpPr>
        <p:spPr bwMode="auto">
          <a:xfrm>
            <a:off x="195263" y="862013"/>
            <a:ext cx="3013075" cy="2282825"/>
          </a:xfrm>
          <a:prstGeom prst="rightArrow">
            <a:avLst>
              <a:gd name="adj1" fmla="val 50000"/>
              <a:gd name="adj2" fmla="val 32997"/>
            </a:avLst>
          </a:prstGeom>
          <a:noFill/>
          <a:ln w="9525">
            <a:noFill/>
            <a:miter lim="800000"/>
            <a:headEnd/>
            <a:tailEnd/>
          </a:ln>
        </p:spPr>
        <p:txBody>
          <a:bodyPr>
            <a:spAutoFit/>
          </a:bodyPr>
          <a:lstStyle/>
          <a:p>
            <a:pPr>
              <a:spcBef>
                <a:spcPct val="50000"/>
              </a:spcBef>
            </a:pPr>
            <a:r>
              <a:rPr lang="en-US" sz="2400">
                <a:solidFill>
                  <a:schemeClr val="accent1"/>
                </a:solidFill>
              </a:rPr>
              <a:t>hackers</a:t>
            </a:r>
            <a:r>
              <a:rPr lang="en-US" sz="2400" b="0">
                <a:solidFill>
                  <a:srgbClr val="FFFF00"/>
                </a:solidFill>
              </a:rPr>
              <a:t> are  computer or network expert</a:t>
            </a:r>
          </a:p>
        </p:txBody>
      </p:sp>
      <p:sp>
        <p:nvSpPr>
          <p:cNvPr id="18437" name="AutoShape 4"/>
          <p:cNvSpPr>
            <a:spLocks noChangeArrowheads="1"/>
          </p:cNvSpPr>
          <p:nvPr/>
        </p:nvSpPr>
        <p:spPr bwMode="auto">
          <a:xfrm>
            <a:off x="2455863" y="1574800"/>
            <a:ext cx="255587" cy="573088"/>
          </a:xfrm>
          <a:prstGeom prst="rightArrow">
            <a:avLst>
              <a:gd name="adj1" fmla="val 50000"/>
              <a:gd name="adj2" fmla="val 25000"/>
            </a:avLst>
          </a:prstGeom>
          <a:solidFill>
            <a:schemeClr val="folHlink"/>
          </a:solidFill>
          <a:ln w="9525">
            <a:solidFill>
              <a:schemeClr val="folHlink"/>
            </a:solidFill>
            <a:miter lim="800000"/>
            <a:headEnd/>
            <a:tailEnd/>
          </a:ln>
        </p:spPr>
        <p:txBody>
          <a:bodyPr wrap="none" anchor="ctr"/>
          <a:lstStyle/>
          <a:p>
            <a:endParaRPr lang="en-US"/>
          </a:p>
        </p:txBody>
      </p:sp>
      <p:sp>
        <p:nvSpPr>
          <p:cNvPr id="18438" name="Text Box 5"/>
          <p:cNvSpPr txBox="1">
            <a:spLocks noChangeArrowheads="1"/>
          </p:cNvSpPr>
          <p:nvPr/>
        </p:nvSpPr>
        <p:spPr bwMode="auto">
          <a:xfrm>
            <a:off x="3111500" y="1370013"/>
            <a:ext cx="5913438" cy="1187450"/>
          </a:xfrm>
          <a:prstGeom prst="rect">
            <a:avLst/>
          </a:prstGeom>
          <a:noFill/>
          <a:ln w="9525">
            <a:noFill/>
            <a:miter lim="800000"/>
            <a:headEnd/>
            <a:tailEnd/>
          </a:ln>
        </p:spPr>
        <p:txBody>
          <a:bodyPr>
            <a:spAutoFit/>
          </a:bodyPr>
          <a:lstStyle/>
          <a:p>
            <a:pPr>
              <a:spcBef>
                <a:spcPct val="50000"/>
              </a:spcBef>
            </a:pPr>
            <a:r>
              <a:rPr lang="en-GB" sz="2400" b="0">
                <a:solidFill>
                  <a:srgbClr val="FF9933"/>
                </a:solidFill>
              </a:rPr>
              <a:t>They Conduct illegal access only to satisfy their interest, or try out their technology (no damage to other people)</a:t>
            </a:r>
            <a:endParaRPr lang="en-US" sz="2400" b="0">
              <a:solidFill>
                <a:srgbClr val="FF9933"/>
              </a:solidFill>
            </a:endParaRPr>
          </a:p>
        </p:txBody>
      </p:sp>
      <p:sp>
        <p:nvSpPr>
          <p:cNvPr id="18439" name="Text Box 6"/>
          <p:cNvSpPr txBox="1">
            <a:spLocks noChangeArrowheads="1"/>
          </p:cNvSpPr>
          <p:nvPr/>
        </p:nvSpPr>
        <p:spPr bwMode="auto">
          <a:xfrm>
            <a:off x="2017713" y="2951163"/>
            <a:ext cx="4867275" cy="1552575"/>
          </a:xfrm>
          <a:prstGeom prst="rect">
            <a:avLst/>
          </a:prstGeom>
          <a:noFill/>
          <a:ln w="9525">
            <a:noFill/>
            <a:miter lim="800000"/>
            <a:headEnd/>
            <a:tailEnd/>
          </a:ln>
        </p:spPr>
        <p:txBody>
          <a:bodyPr>
            <a:spAutoFit/>
          </a:bodyPr>
          <a:lstStyle/>
          <a:p>
            <a:pPr>
              <a:spcBef>
                <a:spcPct val="50000"/>
              </a:spcBef>
            </a:pPr>
            <a:r>
              <a:rPr lang="en-GB" sz="2400" b="0">
                <a:solidFill>
                  <a:srgbClr val="FF5050"/>
                </a:solidFill>
              </a:rPr>
              <a:t>They cause damage by stealing information from networks/servers they accessed illegally, or by forcing services to shutdown</a:t>
            </a:r>
            <a:endParaRPr lang="en-US" sz="2400" b="0">
              <a:solidFill>
                <a:srgbClr val="FF5050"/>
              </a:solidFill>
            </a:endParaRPr>
          </a:p>
        </p:txBody>
      </p:sp>
      <p:sp>
        <p:nvSpPr>
          <p:cNvPr id="18440" name="AutoShape 7"/>
          <p:cNvSpPr>
            <a:spLocks noChangeArrowheads="1"/>
          </p:cNvSpPr>
          <p:nvPr/>
        </p:nvSpPr>
        <p:spPr bwMode="auto">
          <a:xfrm>
            <a:off x="1498600" y="3419475"/>
            <a:ext cx="255588" cy="573088"/>
          </a:xfrm>
          <a:prstGeom prst="rightArrow">
            <a:avLst>
              <a:gd name="adj1" fmla="val 50000"/>
              <a:gd name="adj2" fmla="val 25000"/>
            </a:avLst>
          </a:prstGeom>
          <a:solidFill>
            <a:schemeClr val="folHlink"/>
          </a:solidFill>
          <a:ln w="9525">
            <a:solidFill>
              <a:schemeClr val="folHlink"/>
            </a:solidFill>
            <a:miter lim="800000"/>
            <a:headEnd/>
            <a:tailEnd/>
          </a:ln>
        </p:spPr>
        <p:txBody>
          <a:bodyPr wrap="none" anchor="ctr"/>
          <a:lstStyle/>
          <a:p>
            <a:endParaRPr lang="en-US"/>
          </a:p>
        </p:txBody>
      </p:sp>
      <p:sp>
        <p:nvSpPr>
          <p:cNvPr id="18441" name="Text Box 8"/>
          <p:cNvSpPr txBox="1">
            <a:spLocks noChangeArrowheads="1"/>
          </p:cNvSpPr>
          <p:nvPr/>
        </p:nvSpPr>
        <p:spPr bwMode="auto">
          <a:xfrm>
            <a:off x="531813" y="4757738"/>
            <a:ext cx="8591550" cy="2124075"/>
          </a:xfrm>
          <a:prstGeom prst="rect">
            <a:avLst/>
          </a:prstGeom>
          <a:noFill/>
          <a:ln w="9525">
            <a:noFill/>
            <a:miter lim="800000"/>
            <a:headEnd/>
            <a:tailEnd/>
          </a:ln>
        </p:spPr>
        <p:txBody>
          <a:bodyPr>
            <a:spAutoFit/>
          </a:bodyPr>
          <a:lstStyle/>
          <a:p>
            <a:pPr>
              <a:spcBef>
                <a:spcPct val="50000"/>
              </a:spcBef>
            </a:pPr>
            <a:r>
              <a:rPr lang="en-GB" sz="2400" b="0" dirty="0">
                <a:solidFill>
                  <a:srgbClr val="92D050"/>
                </a:solidFill>
              </a:rPr>
              <a:t>Examples of threats from crackers’ actions:</a:t>
            </a:r>
          </a:p>
          <a:p>
            <a:pPr>
              <a:spcBef>
                <a:spcPct val="50000"/>
              </a:spcBef>
              <a:buFontTx/>
              <a:buChar char="•"/>
            </a:pPr>
            <a:r>
              <a:rPr lang="en-GB" sz="2400" b="0" dirty="0">
                <a:solidFill>
                  <a:srgbClr val="92D050"/>
                </a:solidFill>
              </a:rPr>
              <a:t> Illegally use IDs or passwords that they stole</a:t>
            </a:r>
          </a:p>
          <a:p>
            <a:pPr>
              <a:spcBef>
                <a:spcPct val="50000"/>
              </a:spcBef>
              <a:buFontTx/>
              <a:buChar char="•"/>
            </a:pPr>
            <a:r>
              <a:rPr lang="en-GB" sz="2400" b="0" dirty="0">
                <a:solidFill>
                  <a:srgbClr val="92D050"/>
                </a:solidFill>
              </a:rPr>
              <a:t> Illegally access servers and steal personal information, etc.</a:t>
            </a:r>
          </a:p>
          <a:p>
            <a:pPr>
              <a:spcBef>
                <a:spcPct val="50000"/>
              </a:spcBef>
              <a:buFontTx/>
              <a:buChar char="•"/>
            </a:pPr>
            <a:r>
              <a:rPr lang="en-GB" sz="2400" b="0" dirty="0">
                <a:solidFill>
                  <a:srgbClr val="92D050"/>
                </a:solidFill>
              </a:rPr>
              <a:t> Destroy systems</a:t>
            </a:r>
            <a:r>
              <a:rPr lang="en-GB" dirty="0">
                <a:solidFill>
                  <a:srgbClr val="92D050"/>
                </a:solidFill>
              </a:rPr>
              <a:t> </a:t>
            </a:r>
            <a:endParaRPr lang="en-US" dirty="0">
              <a:solidFill>
                <a:srgbClr val="92D050"/>
              </a:solidFill>
            </a:endParaRPr>
          </a:p>
        </p:txBody>
      </p:sp>
      <p:sp>
        <p:nvSpPr>
          <p:cNvPr id="18442" name="AutoShape 9"/>
          <p:cNvSpPr>
            <a:spLocks noChangeArrowheads="1"/>
          </p:cNvSpPr>
          <p:nvPr/>
        </p:nvSpPr>
        <p:spPr bwMode="auto">
          <a:xfrm>
            <a:off x="7069138" y="3633788"/>
            <a:ext cx="255587" cy="573087"/>
          </a:xfrm>
          <a:prstGeom prst="rightArrow">
            <a:avLst>
              <a:gd name="adj1" fmla="val 50000"/>
              <a:gd name="adj2" fmla="val 25000"/>
            </a:avLst>
          </a:prstGeom>
          <a:solidFill>
            <a:schemeClr val="folHlink"/>
          </a:solidFill>
          <a:ln w="9525">
            <a:solidFill>
              <a:schemeClr val="folHlink"/>
            </a:solidFill>
            <a:miter lim="800000"/>
            <a:headEnd/>
            <a:tailEnd/>
          </a:ln>
        </p:spPr>
        <p:txBody>
          <a:bodyPr wrap="none" anchor="ctr"/>
          <a:lstStyle/>
          <a:p>
            <a:endParaRPr lang="en-US"/>
          </a:p>
        </p:txBody>
      </p:sp>
      <p:sp>
        <p:nvSpPr>
          <p:cNvPr id="18443" name="AutoShape 10"/>
          <p:cNvSpPr>
            <a:spLocks noChangeArrowheads="1"/>
          </p:cNvSpPr>
          <p:nvPr/>
        </p:nvSpPr>
        <p:spPr bwMode="auto">
          <a:xfrm>
            <a:off x="7392988" y="3395663"/>
            <a:ext cx="1751012" cy="822325"/>
          </a:xfrm>
          <a:prstGeom prst="rightArrow">
            <a:avLst>
              <a:gd name="adj1" fmla="val 50000"/>
              <a:gd name="adj2" fmla="val 53234"/>
            </a:avLst>
          </a:prstGeom>
          <a:noFill/>
          <a:ln w="9525">
            <a:noFill/>
            <a:miter lim="800000"/>
            <a:headEnd/>
            <a:tailEnd/>
          </a:ln>
        </p:spPr>
        <p:txBody>
          <a:bodyPr>
            <a:spAutoFit/>
          </a:bodyPr>
          <a:lstStyle/>
          <a:p>
            <a:pPr>
              <a:spcBef>
                <a:spcPct val="50000"/>
              </a:spcBef>
            </a:pPr>
            <a:r>
              <a:rPr lang="en-US" sz="2400">
                <a:solidFill>
                  <a:srgbClr val="FF0000"/>
                </a:solidFill>
              </a:rPr>
              <a:t>Crackers</a:t>
            </a:r>
            <a:endParaRPr lang="en-US" sz="2400" b="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38" grpId="0"/>
      <p:bldP spid="18439" grpId="0"/>
      <p:bldP spid="18440" grpId="0" animBg="1"/>
      <p:bldP spid="18441" grpId="0"/>
      <p:bldP spid="18442" grpId="0" animBg="1"/>
      <p:bldP spid="184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CAE97DA4-2857-4EC5-8BE4-0B078C4D255B}" type="slidenum">
              <a:rPr lang="en-US" smtClean="0"/>
              <a:pPr>
                <a:defRPr/>
              </a:pPr>
              <a:t>23</a:t>
            </a:fld>
            <a:endParaRPr lang="en-US"/>
          </a:p>
        </p:txBody>
      </p:sp>
      <p:sp>
        <p:nvSpPr>
          <p:cNvPr id="78850" name="Rectangle 2"/>
          <p:cNvSpPr>
            <a:spLocks noGrp="1" noChangeArrowheads="1"/>
          </p:cNvSpPr>
          <p:nvPr>
            <p:ph type="title"/>
          </p:nvPr>
        </p:nvSpPr>
        <p:spPr/>
        <p:txBody>
          <a:bodyPr/>
          <a:lstStyle/>
          <a:p>
            <a:pPr>
              <a:defRPr/>
            </a:pPr>
            <a:r>
              <a:rPr lang="en-US" dirty="0"/>
              <a:t>Types of Attack</a:t>
            </a:r>
          </a:p>
        </p:txBody>
      </p:sp>
      <p:sp>
        <p:nvSpPr>
          <p:cNvPr id="78851" name="Rectangle 3"/>
          <p:cNvSpPr>
            <a:spLocks noGrp="1" noChangeArrowheads="1"/>
          </p:cNvSpPr>
          <p:nvPr>
            <p:ph type="body" idx="1"/>
          </p:nvPr>
        </p:nvSpPr>
        <p:spPr>
          <a:xfrm>
            <a:off x="636588" y="1444625"/>
            <a:ext cx="8507412" cy="5413375"/>
          </a:xfrm>
        </p:spPr>
        <p:txBody>
          <a:bodyPr/>
          <a:lstStyle/>
          <a:p>
            <a:pPr>
              <a:defRPr/>
            </a:pPr>
            <a:r>
              <a:rPr lang="en-US" sz="2800" dirty="0">
                <a:solidFill>
                  <a:srgbClr val="FFFF00"/>
                </a:solidFill>
                <a:cs typeface="Tahoma" pitchFamily="34" charset="0"/>
              </a:rPr>
              <a:t>Interruption</a:t>
            </a:r>
            <a:r>
              <a:rPr lang="en-US" dirty="0">
                <a:solidFill>
                  <a:srgbClr val="FFFF00"/>
                </a:solidFill>
                <a:cs typeface="Tahoma" pitchFamily="34" charset="0"/>
              </a:rPr>
              <a:t>, delay, denial of receipt or denial of service</a:t>
            </a:r>
          </a:p>
          <a:p>
            <a:pPr lvl="1">
              <a:defRPr/>
            </a:pPr>
            <a:r>
              <a:rPr lang="en-US" sz="2400" dirty="0">
                <a:cs typeface="Tahoma" pitchFamily="34" charset="0"/>
              </a:rPr>
              <a:t>System assets or information become unavailable or are rendered unavailable</a:t>
            </a:r>
          </a:p>
          <a:p>
            <a:pPr>
              <a:spcBef>
                <a:spcPts val="1200"/>
              </a:spcBef>
              <a:defRPr/>
            </a:pPr>
            <a:r>
              <a:rPr lang="en-US" sz="2800" dirty="0">
                <a:solidFill>
                  <a:srgbClr val="FFFF00"/>
                </a:solidFill>
                <a:cs typeface="Tahoma" pitchFamily="34" charset="0"/>
              </a:rPr>
              <a:t>Interception or snooping</a:t>
            </a:r>
          </a:p>
          <a:p>
            <a:pPr lvl="1">
              <a:defRPr/>
            </a:pPr>
            <a:r>
              <a:rPr lang="en-US" sz="2400" dirty="0">
                <a:cs typeface="Tahoma" pitchFamily="34" charset="0"/>
              </a:rPr>
              <a:t>Unauthorized party gains access to information by browsing through files or reading communications.</a:t>
            </a:r>
          </a:p>
          <a:p>
            <a:pPr>
              <a:spcBef>
                <a:spcPts val="1200"/>
              </a:spcBef>
              <a:defRPr/>
            </a:pPr>
            <a:r>
              <a:rPr lang="en-US" sz="2800" dirty="0">
                <a:solidFill>
                  <a:srgbClr val="FFFF00"/>
                </a:solidFill>
                <a:cs typeface="Tahoma" pitchFamily="34" charset="0"/>
              </a:rPr>
              <a:t>Modification or alteration</a:t>
            </a:r>
          </a:p>
          <a:p>
            <a:pPr lvl="1">
              <a:defRPr/>
            </a:pPr>
            <a:r>
              <a:rPr lang="en-US" sz="2400" dirty="0">
                <a:cs typeface="Tahoma" pitchFamily="34" charset="0"/>
              </a:rPr>
              <a:t>Unauthorized party changes information in transit or information stored for subsequent access.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8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88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8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4665F857-4A7D-4B64-9E90-A843E60AFDB3}" type="slidenum">
              <a:rPr lang="en-US" smtClean="0"/>
              <a:pPr>
                <a:defRPr/>
              </a:pPr>
              <a:t>24</a:t>
            </a:fld>
            <a:endParaRPr lang="en-US"/>
          </a:p>
        </p:txBody>
      </p:sp>
      <p:sp>
        <p:nvSpPr>
          <p:cNvPr id="78850" name="Rectangle 2"/>
          <p:cNvSpPr>
            <a:spLocks noGrp="1" noChangeArrowheads="1"/>
          </p:cNvSpPr>
          <p:nvPr>
            <p:ph type="title"/>
          </p:nvPr>
        </p:nvSpPr>
        <p:spPr/>
        <p:txBody>
          <a:bodyPr/>
          <a:lstStyle/>
          <a:p>
            <a:pPr>
              <a:defRPr/>
            </a:pPr>
            <a:r>
              <a:rPr lang="en-US" dirty="0"/>
              <a:t>Types of Attack</a:t>
            </a:r>
          </a:p>
        </p:txBody>
      </p:sp>
      <p:sp>
        <p:nvSpPr>
          <p:cNvPr id="78851" name="Rectangle 3"/>
          <p:cNvSpPr>
            <a:spLocks noGrp="1" noChangeArrowheads="1"/>
          </p:cNvSpPr>
          <p:nvPr>
            <p:ph type="body" idx="1"/>
          </p:nvPr>
        </p:nvSpPr>
        <p:spPr>
          <a:xfrm>
            <a:off x="676275" y="1444625"/>
            <a:ext cx="8467725" cy="5413375"/>
          </a:xfrm>
        </p:spPr>
        <p:txBody>
          <a:bodyPr/>
          <a:lstStyle/>
          <a:p>
            <a:pPr>
              <a:spcBef>
                <a:spcPts val="1200"/>
              </a:spcBef>
              <a:defRPr/>
            </a:pPr>
            <a:r>
              <a:rPr lang="en-US" sz="2800" dirty="0">
                <a:solidFill>
                  <a:srgbClr val="FFFF00"/>
                </a:solidFill>
                <a:cs typeface="Tahoma" pitchFamily="34" charset="0"/>
              </a:rPr>
              <a:t>Masquerade or spoofing</a:t>
            </a:r>
          </a:p>
          <a:p>
            <a:pPr lvl="1">
              <a:defRPr/>
            </a:pPr>
            <a:r>
              <a:rPr lang="en-US" sz="2400" dirty="0">
                <a:cs typeface="Tahoma" pitchFamily="34" charset="0"/>
              </a:rPr>
              <a:t>Spurious information is inserted into the system or network by making it appears as if it is from a legitimate entity.</a:t>
            </a:r>
          </a:p>
          <a:p>
            <a:pPr>
              <a:defRPr/>
            </a:pPr>
            <a:r>
              <a:rPr lang="en-US" sz="2800" dirty="0">
                <a:solidFill>
                  <a:srgbClr val="FFFF00"/>
                </a:solidFill>
                <a:cs typeface="Tahoma" pitchFamily="34" charset="0"/>
              </a:rPr>
              <a:t>Repudiation</a:t>
            </a:r>
          </a:p>
          <a:p>
            <a:pPr lvl="1">
              <a:defRPr/>
            </a:pPr>
            <a:r>
              <a:rPr lang="en-US" sz="2400" dirty="0">
                <a:cs typeface="Tahoma" pitchFamily="34" charset="0"/>
              </a:rPr>
              <a:t>False denial that an entity created something.</a:t>
            </a:r>
            <a:endParaRPr lang="en-US" sz="2400" dirty="0">
              <a:solidFill>
                <a:srgbClr val="FFC000"/>
              </a:solidFill>
              <a:cs typeface="Tahoma" pitchFamily="34" charset="0"/>
            </a:endParaRPr>
          </a:p>
          <a:p>
            <a:pPr>
              <a:defRPr/>
            </a:pPr>
            <a:r>
              <a:rPr lang="en-US" sz="2800" dirty="0">
                <a:solidFill>
                  <a:srgbClr val="FFFF00"/>
                </a:solidFill>
                <a:cs typeface="Tahoma" pitchFamily="34" charset="0"/>
              </a:rPr>
              <a:t>Traffic analysis</a:t>
            </a:r>
          </a:p>
          <a:p>
            <a:pPr lvl="1">
              <a:defRPr/>
            </a:pPr>
            <a:r>
              <a:rPr lang="en-US" sz="2400" dirty="0">
                <a:cs typeface="Tahoma" pitchFamily="34" charset="0"/>
              </a:rPr>
              <a:t>Monitoring traffic in order to get information about exchanged data (regardless the content itself)</a:t>
            </a:r>
            <a:endParaRPr lang="en-US" sz="2800" dirty="0">
              <a:solidFill>
                <a:srgbClr val="FFC000"/>
              </a:solidFill>
              <a:cs typeface="Tahoma" pitchFamily="34" charset="0"/>
            </a:endParaRPr>
          </a:p>
          <a:p>
            <a:pPr>
              <a:defRPr/>
            </a:pPr>
            <a:r>
              <a:rPr lang="en-US" sz="2800" dirty="0">
                <a:solidFill>
                  <a:srgbClr val="FFFF00"/>
                </a:solidFill>
                <a:cs typeface="Tahoma" pitchFamily="34" charset="0"/>
              </a:rPr>
              <a:t>Replay attack</a:t>
            </a:r>
            <a:endParaRPr lang="en-US" sz="2800" dirty="0">
              <a:solidFill>
                <a:srgbClr val="FFC000"/>
              </a:solidFill>
              <a:cs typeface="Tahoma" pitchFamily="34" charset="0"/>
            </a:endParaRPr>
          </a:p>
          <a:p>
            <a:pPr lvl="1">
              <a:defRPr/>
            </a:pPr>
            <a:r>
              <a:rPr lang="en-US" sz="2400" dirty="0">
                <a:cs typeface="Tahoma" pitchFamily="34" charset="0"/>
              </a:rPr>
              <a:t>Intercepting a message in order to re-send it  later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8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88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8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885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88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CBE6E-8C00-678D-3E37-178268B7A76A}"/>
              </a:ext>
            </a:extLst>
          </p:cNvPr>
          <p:cNvSpPr>
            <a:spLocks noGrp="1"/>
          </p:cNvSpPr>
          <p:nvPr>
            <p:ph type="title"/>
          </p:nvPr>
        </p:nvSpPr>
        <p:spPr/>
        <p:txBody>
          <a:bodyPr/>
          <a:lstStyle/>
          <a:p>
            <a:r>
              <a:rPr lang="en-US" dirty="0"/>
              <a:t>Assets and Examples of Threats</a:t>
            </a:r>
          </a:p>
        </p:txBody>
      </p:sp>
      <p:sp>
        <p:nvSpPr>
          <p:cNvPr id="4" name="Slide Number Placeholder 3">
            <a:extLst>
              <a:ext uri="{FF2B5EF4-FFF2-40B4-BE49-F238E27FC236}">
                <a16:creationId xmlns:a16="http://schemas.microsoft.com/office/drawing/2014/main" id="{8AE800E4-2C6E-B52D-7887-77E0560A76DD}"/>
              </a:ext>
            </a:extLst>
          </p:cNvPr>
          <p:cNvSpPr>
            <a:spLocks noGrp="1"/>
          </p:cNvSpPr>
          <p:nvPr>
            <p:ph type="sldNum" sz="quarter" idx="12"/>
          </p:nvPr>
        </p:nvSpPr>
        <p:spPr/>
        <p:txBody>
          <a:bodyPr/>
          <a:lstStyle/>
          <a:p>
            <a:pPr>
              <a:defRPr/>
            </a:pPr>
            <a:fld id="{0E2F858B-2218-4DCA-9707-121426E71222}" type="slidenum">
              <a:rPr lang="en-US" smtClean="0"/>
              <a:pPr>
                <a:defRPr/>
              </a:pPr>
              <a:t>25</a:t>
            </a:fld>
            <a:endParaRPr lang="en-US"/>
          </a:p>
        </p:txBody>
      </p:sp>
      <p:pic>
        <p:nvPicPr>
          <p:cNvPr id="7" name="Picture 6">
            <a:extLst>
              <a:ext uri="{FF2B5EF4-FFF2-40B4-BE49-F238E27FC236}">
                <a16:creationId xmlns:a16="http://schemas.microsoft.com/office/drawing/2014/main" id="{2864350B-D5B3-75F6-CA62-8C85F4555A0F}"/>
              </a:ext>
            </a:extLst>
          </p:cNvPr>
          <p:cNvPicPr>
            <a:picLocks noChangeAspect="1"/>
          </p:cNvPicPr>
          <p:nvPr/>
        </p:nvPicPr>
        <p:blipFill>
          <a:blip r:embed="rId2"/>
          <a:stretch>
            <a:fillRect/>
          </a:stretch>
        </p:blipFill>
        <p:spPr>
          <a:xfrm>
            <a:off x="107504" y="980728"/>
            <a:ext cx="8921829" cy="6040822"/>
          </a:xfrm>
          <a:prstGeom prst="rect">
            <a:avLst/>
          </a:prstGeom>
        </p:spPr>
      </p:pic>
    </p:spTree>
    <p:extLst>
      <p:ext uri="{BB962C8B-B14F-4D97-AF65-F5344CB8AC3E}">
        <p14:creationId xmlns:p14="http://schemas.microsoft.com/office/powerpoint/2010/main" val="447455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80B55DA9-FD3D-4648-A685-D8F71A1DCB49}" type="slidenum">
              <a:rPr lang="en-US"/>
              <a:pPr>
                <a:defRPr/>
              </a:pPr>
              <a:t>26</a:t>
            </a:fld>
            <a:endParaRPr lang="en-US"/>
          </a:p>
        </p:txBody>
      </p:sp>
      <p:sp>
        <p:nvSpPr>
          <p:cNvPr id="115714" name="Rectangle 2"/>
          <p:cNvSpPr>
            <a:spLocks noGrp="1" noChangeArrowheads="1"/>
          </p:cNvSpPr>
          <p:nvPr>
            <p:ph type="title"/>
          </p:nvPr>
        </p:nvSpPr>
        <p:spPr/>
        <p:txBody>
          <a:bodyPr/>
          <a:lstStyle/>
          <a:p>
            <a:pPr eaLnBrk="1" hangingPunct="1">
              <a:defRPr/>
            </a:pPr>
            <a:r>
              <a:rPr lang="en-US" dirty="0"/>
              <a:t>Countermeasures</a:t>
            </a:r>
          </a:p>
        </p:txBody>
      </p:sp>
      <p:sp>
        <p:nvSpPr>
          <p:cNvPr id="115715" name="Rectangle 3"/>
          <p:cNvSpPr>
            <a:spLocks noGrp="1" noChangeArrowheads="1"/>
          </p:cNvSpPr>
          <p:nvPr>
            <p:ph type="body" idx="1"/>
          </p:nvPr>
        </p:nvSpPr>
        <p:spPr>
          <a:xfrm>
            <a:off x="631371" y="1548946"/>
            <a:ext cx="8512629" cy="5199517"/>
          </a:xfrm>
        </p:spPr>
        <p:txBody>
          <a:bodyPr/>
          <a:lstStyle/>
          <a:p>
            <a:pPr eaLnBrk="1" hangingPunct="1">
              <a:defRPr/>
            </a:pPr>
            <a:r>
              <a:rPr lang="en-US" sz="2800" dirty="0">
                <a:solidFill>
                  <a:srgbClr val="FFFF00"/>
                </a:solidFill>
                <a:cs typeface="Tahoma" pitchFamily="34" charset="0"/>
              </a:rPr>
              <a:t>include techniques for ensuring:</a:t>
            </a:r>
          </a:p>
          <a:p>
            <a:pPr lvl="1" eaLnBrk="1" hangingPunct="1">
              <a:defRPr/>
            </a:pPr>
            <a:r>
              <a:rPr lang="en-US" sz="2800" dirty="0">
                <a:cs typeface="Tahoma" pitchFamily="34" charset="0"/>
              </a:rPr>
              <a:t>Prevention: such as </a:t>
            </a:r>
            <a:r>
              <a:rPr lang="en-US" sz="2800" b="1" dirty="0">
                <a:solidFill>
                  <a:schemeClr val="folHlink"/>
                </a:solidFill>
                <a:cs typeface="Tahoma" pitchFamily="34" charset="0"/>
              </a:rPr>
              <a:t>encryption</a:t>
            </a:r>
            <a:r>
              <a:rPr lang="en-US" sz="2800" dirty="0">
                <a:solidFill>
                  <a:schemeClr val="folHlink"/>
                </a:solidFill>
                <a:cs typeface="Tahoma" pitchFamily="34" charset="0"/>
              </a:rPr>
              <a:t>, </a:t>
            </a:r>
            <a:r>
              <a:rPr lang="en-US" sz="2800" b="1" dirty="0">
                <a:solidFill>
                  <a:schemeClr val="folHlink"/>
                </a:solidFill>
                <a:cs typeface="Tahoma" pitchFamily="34" charset="0"/>
              </a:rPr>
              <a:t>user authentication</a:t>
            </a:r>
            <a:r>
              <a:rPr lang="en-US" sz="2800" dirty="0">
                <a:solidFill>
                  <a:schemeClr val="folHlink"/>
                </a:solidFill>
                <a:cs typeface="Tahoma" pitchFamily="34" charset="0"/>
              </a:rPr>
              <a:t>, </a:t>
            </a:r>
            <a:r>
              <a:rPr lang="en-US" sz="2800" b="1" dirty="0">
                <a:solidFill>
                  <a:schemeClr val="folHlink"/>
                </a:solidFill>
                <a:cs typeface="Tahoma" pitchFamily="34" charset="0"/>
              </a:rPr>
              <a:t>one time password</a:t>
            </a:r>
            <a:r>
              <a:rPr lang="en-US" sz="2800" dirty="0">
                <a:solidFill>
                  <a:schemeClr val="folHlink"/>
                </a:solidFill>
                <a:cs typeface="Tahoma" pitchFamily="34" charset="0"/>
              </a:rPr>
              <a:t>, </a:t>
            </a:r>
            <a:r>
              <a:rPr lang="en-US" sz="2800" b="1" dirty="0">
                <a:solidFill>
                  <a:schemeClr val="folHlink"/>
                </a:solidFill>
                <a:cs typeface="Tahoma" pitchFamily="34" charset="0"/>
              </a:rPr>
              <a:t>anti-virus</a:t>
            </a:r>
            <a:r>
              <a:rPr lang="en-US" sz="2800" dirty="0">
                <a:solidFill>
                  <a:schemeClr val="folHlink"/>
                </a:solidFill>
                <a:cs typeface="Tahoma" pitchFamily="34" charset="0"/>
              </a:rPr>
              <a:t>, </a:t>
            </a:r>
            <a:r>
              <a:rPr lang="en-US" sz="2800" b="1" dirty="0">
                <a:solidFill>
                  <a:schemeClr val="folHlink"/>
                </a:solidFill>
                <a:cs typeface="Tahoma" pitchFamily="34" charset="0"/>
              </a:rPr>
              <a:t>firewal</a:t>
            </a:r>
            <a:r>
              <a:rPr lang="en-US" sz="2800" dirty="0">
                <a:solidFill>
                  <a:schemeClr val="folHlink"/>
                </a:solidFill>
                <a:cs typeface="Tahoma" pitchFamily="34" charset="0"/>
              </a:rPr>
              <a:t>l</a:t>
            </a:r>
            <a:r>
              <a:rPr lang="en-US" sz="2800" dirty="0">
                <a:solidFill>
                  <a:srgbClr val="92D050"/>
                </a:solidFill>
                <a:cs typeface="Tahoma" pitchFamily="34" charset="0"/>
              </a:rPr>
              <a:t>, etc. </a:t>
            </a:r>
          </a:p>
          <a:p>
            <a:pPr lvl="1" eaLnBrk="1" hangingPunct="1">
              <a:defRPr/>
            </a:pPr>
            <a:r>
              <a:rPr lang="en-US" sz="2800" dirty="0">
                <a:cs typeface="Tahoma" pitchFamily="34" charset="0"/>
              </a:rPr>
              <a:t>Detection: such as </a:t>
            </a:r>
            <a:r>
              <a:rPr lang="en-US" sz="2800" b="1" dirty="0">
                <a:solidFill>
                  <a:schemeClr val="folHlink"/>
                </a:solidFill>
                <a:cs typeface="Tahoma" pitchFamily="34" charset="0"/>
              </a:rPr>
              <a:t>IDS (Intrusion Detection Systems)</a:t>
            </a:r>
            <a:r>
              <a:rPr lang="en-US" sz="2800" dirty="0">
                <a:solidFill>
                  <a:schemeClr val="folHlink"/>
                </a:solidFill>
                <a:cs typeface="Tahoma" pitchFamily="34" charset="0"/>
              </a:rPr>
              <a:t>, Monitoring tools, Firewall logs, </a:t>
            </a:r>
            <a:r>
              <a:rPr lang="en-US" sz="2800" b="1" dirty="0">
                <a:solidFill>
                  <a:schemeClr val="folHlink"/>
                </a:solidFill>
                <a:cs typeface="Tahoma" pitchFamily="34" charset="0"/>
              </a:rPr>
              <a:t>digital signature</a:t>
            </a:r>
            <a:r>
              <a:rPr lang="en-US" sz="2800" dirty="0">
                <a:solidFill>
                  <a:srgbClr val="92D050"/>
                </a:solidFill>
                <a:cs typeface="Tahoma" pitchFamily="34" charset="0"/>
              </a:rPr>
              <a:t>, etc.</a:t>
            </a:r>
          </a:p>
          <a:p>
            <a:pPr lvl="1" eaLnBrk="1" hangingPunct="1">
              <a:defRPr/>
            </a:pPr>
            <a:r>
              <a:rPr lang="en-US" sz="2800" dirty="0">
                <a:cs typeface="Tahoma" pitchFamily="34" charset="0"/>
              </a:rPr>
              <a:t>Reaction (or recovery): Such as </a:t>
            </a:r>
            <a:r>
              <a:rPr lang="en-US" sz="2800" dirty="0">
                <a:solidFill>
                  <a:schemeClr val="folHlink"/>
                </a:solidFill>
                <a:cs typeface="Tahoma" pitchFamily="34" charset="0"/>
              </a:rPr>
              <a:t>Backup systems, OS’s recovery points</a:t>
            </a:r>
            <a:r>
              <a:rPr lang="en-US" sz="2800" dirty="0">
                <a:solidFill>
                  <a:srgbClr val="92D050"/>
                </a:solidFill>
                <a:cs typeface="Tahoma" pitchFamily="34" charset="0"/>
              </a:rPr>
              <a:t>, etc.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F7FE03-9B2A-4ADB-A28E-BA86AAF5DD5E}"/>
              </a:ext>
            </a:extLst>
          </p:cNvPr>
          <p:cNvSpPr>
            <a:spLocks noGrp="1"/>
          </p:cNvSpPr>
          <p:nvPr>
            <p:ph type="sldNum" sz="quarter" idx="12"/>
          </p:nvPr>
        </p:nvSpPr>
        <p:spPr/>
        <p:txBody>
          <a:bodyPr/>
          <a:lstStyle/>
          <a:p>
            <a:pPr>
              <a:defRPr/>
            </a:pPr>
            <a:fld id="{CD3C7CF7-17E6-422F-8A75-EB5DE54D04B3}" type="slidenum">
              <a:rPr lang="en-US" smtClean="0"/>
              <a:pPr>
                <a:defRPr/>
              </a:pPr>
              <a:t>27</a:t>
            </a:fld>
            <a:endParaRPr lang="en-US"/>
          </a:p>
        </p:txBody>
      </p:sp>
      <p:sp>
        <p:nvSpPr>
          <p:cNvPr id="7" name="Rectangle 2">
            <a:extLst>
              <a:ext uri="{FF2B5EF4-FFF2-40B4-BE49-F238E27FC236}">
                <a16:creationId xmlns:a16="http://schemas.microsoft.com/office/drawing/2014/main" id="{33A3F1C2-C6DE-48E2-B749-F492911DE5AF}"/>
              </a:ext>
            </a:extLst>
          </p:cNvPr>
          <p:cNvSpPr txBox="1">
            <a:spLocks noChangeArrowheads="1"/>
          </p:cNvSpPr>
          <p:nvPr/>
        </p:nvSpPr>
        <p:spPr>
          <a:xfrm>
            <a:off x="609600" y="241300"/>
            <a:ext cx="8001000" cy="1100138"/>
          </a:xfrm>
          <a:prstGeom prst="rect">
            <a:avLst/>
          </a:prstGeom>
        </p:spPr>
        <p:txBody>
          <a:bodyPr/>
          <a:lstStyle>
            <a:lvl1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2pPr>
            <a:lvl3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3pPr>
            <a:lvl4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4pPr>
            <a:lvl5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5pPr>
            <a:lvl6pPr marL="4572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6pPr>
            <a:lvl7pPr marL="9144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7pPr>
            <a:lvl8pPr marL="13716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8pPr>
            <a:lvl9pPr marL="1828800" algn="l" rtl="0" fontAlgn="base">
              <a:spcBef>
                <a:spcPct val="0"/>
              </a:spcBef>
              <a:spcAft>
                <a:spcPct val="0"/>
              </a:spcAft>
              <a:defRPr sz="3600" b="1">
                <a:solidFill>
                  <a:schemeClr val="tx2"/>
                </a:solidFill>
                <a:effectLst>
                  <a:outerShdw blurRad="38100" dist="38100" dir="2700000" algn="tl">
                    <a:srgbClr val="000000"/>
                  </a:outerShdw>
                </a:effectLst>
                <a:latin typeface="Tahoma" pitchFamily="34" charset="0"/>
                <a:cs typeface="Arial" charset="0"/>
              </a:defRPr>
            </a:lvl9pPr>
          </a:lstStyle>
          <a:p>
            <a:pPr eaLnBrk="1" hangingPunct="1">
              <a:defRPr/>
            </a:pPr>
            <a:r>
              <a:rPr lang="en-US" dirty="0">
                <a:effectLst/>
              </a:rPr>
              <a:t>A Model for Computer Security</a:t>
            </a:r>
            <a:r>
              <a:rPr lang="en-US" dirty="0"/>
              <a:t> </a:t>
            </a:r>
            <a:endParaRPr lang="en-US" kern="0" dirty="0"/>
          </a:p>
        </p:txBody>
      </p:sp>
      <p:pic>
        <p:nvPicPr>
          <p:cNvPr id="3" name="Picture 2">
            <a:extLst>
              <a:ext uri="{FF2B5EF4-FFF2-40B4-BE49-F238E27FC236}">
                <a16:creationId xmlns:a16="http://schemas.microsoft.com/office/drawing/2014/main" id="{17B8A42F-3422-7F82-CCED-F50308F1AE84}"/>
              </a:ext>
            </a:extLst>
          </p:cNvPr>
          <p:cNvPicPr>
            <a:picLocks noChangeAspect="1"/>
          </p:cNvPicPr>
          <p:nvPr/>
        </p:nvPicPr>
        <p:blipFill rotWithShape="1">
          <a:blip r:embed="rId3">
            <a:extLst>
              <a:ext uri="{28A0092B-C50C-407E-A947-70E740481C1C}">
                <a14:useLocalDpi xmlns:a14="http://schemas.microsoft.com/office/drawing/2010/main" val="0"/>
              </a:ext>
            </a:extLst>
          </a:blip>
          <a:srcRect t="18500" r="2355" b="24800"/>
          <a:stretch/>
        </p:blipFill>
        <p:spPr>
          <a:xfrm>
            <a:off x="799586" y="1541666"/>
            <a:ext cx="7544828" cy="5621134"/>
          </a:xfrm>
          <a:prstGeom prst="rect">
            <a:avLst/>
          </a:prstGeom>
          <a:solidFill>
            <a:schemeClr val="tx1"/>
          </a:solidFill>
        </p:spPr>
      </p:pic>
    </p:spTree>
    <p:extLst>
      <p:ext uri="{BB962C8B-B14F-4D97-AF65-F5344CB8AC3E}">
        <p14:creationId xmlns:p14="http://schemas.microsoft.com/office/powerpoint/2010/main" val="1074293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ECBFBC74-5192-4951-B4E8-241AF3C2C1DD}" type="slidenum">
              <a:rPr lang="en-US"/>
              <a:pPr>
                <a:defRPr/>
              </a:pPr>
              <a:t>28</a:t>
            </a:fld>
            <a:endParaRPr lang="en-US"/>
          </a:p>
        </p:txBody>
      </p:sp>
      <p:sp>
        <p:nvSpPr>
          <p:cNvPr id="110594" name="Rectangle 2"/>
          <p:cNvSpPr>
            <a:spLocks noGrp="1" noChangeArrowheads="1"/>
          </p:cNvSpPr>
          <p:nvPr>
            <p:ph type="title"/>
          </p:nvPr>
        </p:nvSpPr>
        <p:spPr>
          <a:xfrm>
            <a:off x="609600" y="0"/>
            <a:ext cx="8001000" cy="1341438"/>
          </a:xfrm>
        </p:spPr>
        <p:txBody>
          <a:bodyPr/>
          <a:lstStyle/>
          <a:p>
            <a:pPr eaLnBrk="1" hangingPunct="1">
              <a:defRPr/>
            </a:pPr>
            <a:r>
              <a:rPr lang="en-US" dirty="0"/>
              <a:t>ISS- another  definition</a:t>
            </a:r>
          </a:p>
        </p:txBody>
      </p:sp>
      <p:sp>
        <p:nvSpPr>
          <p:cNvPr id="110595" name="Rectangle 3"/>
          <p:cNvSpPr>
            <a:spLocks noGrp="1" noChangeArrowheads="1"/>
          </p:cNvSpPr>
          <p:nvPr>
            <p:ph type="body" idx="1"/>
          </p:nvPr>
        </p:nvSpPr>
        <p:spPr>
          <a:xfrm>
            <a:off x="357808" y="1808921"/>
            <a:ext cx="8825879" cy="4602991"/>
          </a:xfrm>
        </p:spPr>
        <p:txBody>
          <a:bodyPr/>
          <a:lstStyle/>
          <a:p>
            <a:pPr lvl="1" eaLnBrk="1" hangingPunct="1">
              <a:defRPr/>
            </a:pPr>
            <a:r>
              <a:rPr lang="en-US" sz="2900" u="sng" dirty="0">
                <a:cs typeface="Tahoma" pitchFamily="34" charset="0"/>
              </a:rPr>
              <a:t>What</a:t>
            </a:r>
            <a:r>
              <a:rPr lang="en-US" sz="2900" i="1" dirty="0">
                <a:cs typeface="Tahoma" pitchFamily="34" charset="0"/>
              </a:rPr>
              <a:t>  </a:t>
            </a:r>
            <a:r>
              <a:rPr lang="en-US" sz="2900" dirty="0">
                <a:cs typeface="Tahoma" pitchFamily="34" charset="0"/>
              </a:rPr>
              <a:t>needs to be protected,</a:t>
            </a:r>
            <a:r>
              <a:rPr lang="en-US" sz="2900" i="1" dirty="0">
                <a:cs typeface="Tahoma" pitchFamily="34" charset="0"/>
              </a:rPr>
              <a:t> i.e.</a:t>
            </a:r>
            <a:r>
              <a:rPr lang="en-US" sz="2900" dirty="0">
                <a:cs typeface="Tahoma" pitchFamily="34" charset="0"/>
              </a:rPr>
              <a:t>, assets </a:t>
            </a:r>
          </a:p>
          <a:p>
            <a:pPr lvl="1" eaLnBrk="1" hangingPunct="1">
              <a:defRPr/>
            </a:pPr>
            <a:r>
              <a:rPr lang="en-US" sz="2900" u="sng" dirty="0">
                <a:cs typeface="Tahoma" pitchFamily="34" charset="0"/>
              </a:rPr>
              <a:t>Why</a:t>
            </a:r>
            <a:r>
              <a:rPr lang="en-US" sz="2900" i="1" dirty="0">
                <a:cs typeface="Tahoma" pitchFamily="34" charset="0"/>
              </a:rPr>
              <a:t> </a:t>
            </a:r>
            <a:r>
              <a:rPr lang="en-US" sz="2900" dirty="0">
                <a:cs typeface="Tahoma" pitchFamily="34" charset="0"/>
              </a:rPr>
              <a:t>(security requirements which include </a:t>
            </a:r>
            <a:r>
              <a:rPr lang="en-US" sz="2900" i="1" dirty="0">
                <a:cs typeface="Tahoma" pitchFamily="34" charset="0"/>
              </a:rPr>
              <a:t>CIA</a:t>
            </a:r>
            <a:r>
              <a:rPr lang="en-US" sz="2900" dirty="0">
                <a:cs typeface="Tahoma" pitchFamily="34" charset="0"/>
              </a:rPr>
              <a:t>), </a:t>
            </a:r>
          </a:p>
          <a:p>
            <a:pPr lvl="1" eaLnBrk="1" hangingPunct="1">
              <a:defRPr/>
            </a:pPr>
            <a:r>
              <a:rPr lang="en-US" sz="2900" u="sng" dirty="0">
                <a:cs typeface="Tahoma" pitchFamily="34" charset="0"/>
              </a:rPr>
              <a:t>What</a:t>
            </a:r>
            <a:r>
              <a:rPr lang="en-US" sz="2900" dirty="0">
                <a:cs typeface="Tahoma" pitchFamily="34" charset="0"/>
              </a:rPr>
              <a:t> we need to protect from (</a:t>
            </a:r>
            <a:r>
              <a:rPr lang="en-US" sz="2900" b="1" i="1" dirty="0">
                <a:cs typeface="Tahoma" pitchFamily="34" charset="0"/>
              </a:rPr>
              <a:t>Threats</a:t>
            </a:r>
            <a:r>
              <a:rPr lang="en-US" sz="2900" dirty="0">
                <a:cs typeface="Tahoma" pitchFamily="34" charset="0"/>
              </a:rPr>
              <a:t>, </a:t>
            </a:r>
            <a:r>
              <a:rPr lang="en-US" sz="2900" b="1" i="1" dirty="0">
                <a:cs typeface="Tahoma" pitchFamily="34" charset="0"/>
              </a:rPr>
              <a:t>vulnerabilities</a:t>
            </a:r>
            <a:r>
              <a:rPr lang="en-US" sz="2900" dirty="0">
                <a:cs typeface="Tahoma" pitchFamily="34" charset="0"/>
              </a:rPr>
              <a:t>, </a:t>
            </a:r>
            <a:r>
              <a:rPr lang="en-US" sz="2900" b="1" i="1" dirty="0">
                <a:cs typeface="Tahoma" pitchFamily="34" charset="0"/>
              </a:rPr>
              <a:t>risks</a:t>
            </a:r>
            <a:r>
              <a:rPr lang="en-US" sz="2900" dirty="0">
                <a:cs typeface="Tahoma" pitchFamily="34" charset="0"/>
              </a:rPr>
              <a:t>)</a:t>
            </a:r>
          </a:p>
          <a:p>
            <a:pPr lvl="1" eaLnBrk="1" hangingPunct="1">
              <a:defRPr/>
            </a:pPr>
            <a:r>
              <a:rPr lang="en-US" sz="2900" dirty="0">
                <a:cs typeface="Tahoma" pitchFamily="34" charset="0"/>
              </a:rPr>
              <a:t>and </a:t>
            </a:r>
            <a:r>
              <a:rPr lang="en-US" sz="2900" u="sng" dirty="0">
                <a:cs typeface="Tahoma" pitchFamily="34" charset="0"/>
              </a:rPr>
              <a:t>how</a:t>
            </a:r>
            <a:r>
              <a:rPr lang="en-US" sz="2900" dirty="0">
                <a:cs typeface="Tahoma" pitchFamily="34" charset="0"/>
              </a:rPr>
              <a:t>  (</a:t>
            </a:r>
            <a:r>
              <a:rPr lang="en-US" sz="2900" i="1" dirty="0">
                <a:cs typeface="Tahoma" pitchFamily="34" charset="0"/>
              </a:rPr>
              <a:t>Countermeasures</a:t>
            </a:r>
            <a:r>
              <a:rPr lang="en-US" sz="2900" dirty="0">
                <a:cs typeface="Tahoma" pitchFamily="34" charset="0"/>
              </a:rPr>
              <a:t>) to protect it for as long as it exists</a:t>
            </a:r>
          </a:p>
          <a:p>
            <a:pPr lvl="1" eaLnBrk="1" hangingPunct="1">
              <a:defRPr/>
            </a:pPr>
            <a:r>
              <a:rPr lang="en-US" sz="2900" dirty="0">
                <a:cs typeface="Tahoma" pitchFamily="34" charset="0"/>
              </a:rPr>
              <a:t>Then operate, monitor, review, improve </a:t>
            </a:r>
          </a:p>
          <a:p>
            <a:pPr lvl="1" eaLnBrk="1" hangingPunct="1">
              <a:defRPr/>
            </a:pPr>
            <a:r>
              <a:rPr lang="en-US" sz="2800" dirty="0">
                <a:cs typeface="Tahoma" pitchFamily="34" charset="0"/>
              </a:rPr>
              <a:t>All steps are implemented according to the </a:t>
            </a:r>
            <a:r>
              <a:rPr lang="en-US" sz="2800" b="1" i="1" dirty="0">
                <a:solidFill>
                  <a:schemeClr val="accent1"/>
                </a:solidFill>
                <a:cs typeface="Tahoma" pitchFamily="34" charset="0"/>
              </a:rPr>
              <a:t>security policy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E865EB07-93CD-4319-A197-E3CB485E7B50}" type="slidenum">
              <a:rPr lang="en-US"/>
              <a:pPr>
                <a:defRPr/>
              </a:pPr>
              <a:t>29</a:t>
            </a:fld>
            <a:endParaRPr lang="en-US"/>
          </a:p>
        </p:txBody>
      </p:sp>
      <p:sp>
        <p:nvSpPr>
          <p:cNvPr id="80898" name="Rectangle 2"/>
          <p:cNvSpPr>
            <a:spLocks noGrp="1" noChangeArrowheads="1"/>
          </p:cNvSpPr>
          <p:nvPr>
            <p:ph type="title"/>
          </p:nvPr>
        </p:nvSpPr>
        <p:spPr/>
        <p:txBody>
          <a:bodyPr/>
          <a:lstStyle/>
          <a:p>
            <a:pPr eaLnBrk="1" hangingPunct="1">
              <a:defRPr/>
            </a:pPr>
            <a:r>
              <a:rPr lang="en-US" dirty="0"/>
              <a:t>5. Security Policy</a:t>
            </a:r>
          </a:p>
        </p:txBody>
      </p:sp>
      <p:sp>
        <p:nvSpPr>
          <p:cNvPr id="80899" name="Rectangle 3"/>
          <p:cNvSpPr>
            <a:spLocks noGrp="1" noChangeArrowheads="1"/>
          </p:cNvSpPr>
          <p:nvPr>
            <p:ph type="body" idx="1"/>
          </p:nvPr>
        </p:nvSpPr>
        <p:spPr>
          <a:xfrm>
            <a:off x="825500" y="1981200"/>
            <a:ext cx="8318500" cy="4797425"/>
          </a:xfrm>
        </p:spPr>
        <p:txBody>
          <a:bodyPr/>
          <a:lstStyle/>
          <a:p>
            <a:pPr eaLnBrk="1" hangingPunct="1">
              <a:defRPr/>
            </a:pPr>
            <a:r>
              <a:rPr lang="en-US" sz="2800" dirty="0">
                <a:solidFill>
                  <a:srgbClr val="FFFF00"/>
                </a:solidFill>
                <a:cs typeface="Tahoma" pitchFamily="34" charset="0"/>
              </a:rPr>
              <a:t>a document describing </a:t>
            </a:r>
            <a:r>
              <a:rPr lang="en-US" dirty="0">
                <a:cs typeface="Tahoma" pitchFamily="34" charset="0"/>
              </a:rPr>
              <a:t>intentions and direction of an organization regarding information security</a:t>
            </a:r>
          </a:p>
          <a:p>
            <a:pPr lvl="1" eaLnBrk="1" hangingPunct="1">
              <a:defRPr/>
            </a:pPr>
            <a:r>
              <a:rPr lang="en-US" dirty="0">
                <a:solidFill>
                  <a:srgbClr val="FFFF00"/>
                </a:solidFill>
                <a:cs typeface="Tahoma" pitchFamily="34" charset="0"/>
              </a:rPr>
              <a:t>Example 1:</a:t>
            </a:r>
          </a:p>
          <a:p>
            <a:pPr lvl="2" eaLnBrk="1" hangingPunct="1">
              <a:defRPr/>
            </a:pPr>
            <a:r>
              <a:rPr lang="en-US" dirty="0">
                <a:solidFill>
                  <a:srgbClr val="66FF33"/>
                </a:solidFill>
                <a:cs typeface="Tahoma" pitchFamily="34" charset="0"/>
              </a:rPr>
              <a:t>personal information must be treated as confidential.</a:t>
            </a:r>
          </a:p>
          <a:p>
            <a:pPr lvl="2" eaLnBrk="1" hangingPunct="1">
              <a:defRPr/>
            </a:pPr>
            <a:r>
              <a:rPr lang="en-US" dirty="0">
                <a:solidFill>
                  <a:srgbClr val="66FF33"/>
                </a:solidFill>
                <a:cs typeface="Tahoma" pitchFamily="34" charset="0"/>
              </a:rPr>
              <a:t>services must be available 24/7</a:t>
            </a:r>
            <a:endParaRPr lang="en-US" dirty="0">
              <a:cs typeface="Tahoma" pitchFamily="34" charset="0"/>
            </a:endParaRPr>
          </a:p>
          <a:p>
            <a:pPr eaLnBrk="1" hangingPunct="1">
              <a:defRPr/>
            </a:pPr>
            <a:r>
              <a:rPr lang="en-US" sz="2800" dirty="0">
                <a:solidFill>
                  <a:srgbClr val="FFFF00"/>
                </a:solidFill>
                <a:cs typeface="Tahoma" pitchFamily="34" charset="0"/>
              </a:rPr>
              <a:t>states what is/is not allowed</a:t>
            </a:r>
            <a:endParaRPr lang="en-US" sz="2800" dirty="0">
              <a:cs typeface="Tahoma" pitchFamily="34" charset="0"/>
            </a:endParaRPr>
          </a:p>
          <a:p>
            <a:pPr lvl="1" eaLnBrk="1" hangingPunct="1">
              <a:defRPr/>
            </a:pPr>
            <a:r>
              <a:rPr lang="en-US" dirty="0">
                <a:solidFill>
                  <a:srgbClr val="FFFF00"/>
                </a:solidFill>
                <a:cs typeface="Tahoma" pitchFamily="34" charset="0"/>
              </a:rPr>
              <a:t>examples:</a:t>
            </a:r>
          </a:p>
          <a:p>
            <a:pPr lvl="2" eaLnBrk="1" hangingPunct="1">
              <a:defRPr/>
            </a:pPr>
            <a:r>
              <a:rPr lang="en-US" sz="2400" dirty="0">
                <a:solidFill>
                  <a:srgbClr val="66FF33"/>
                </a:solidFill>
                <a:cs typeface="Tahoma" pitchFamily="34" charset="0"/>
              </a:rPr>
              <a:t>account names must not be used in passwords.</a:t>
            </a:r>
          </a:p>
          <a:p>
            <a:pPr lvl="2" eaLnBrk="1" hangingPunct="1">
              <a:defRPr/>
            </a:pPr>
            <a:r>
              <a:rPr lang="en-US" dirty="0">
                <a:solidFill>
                  <a:srgbClr val="66FF33"/>
                </a:solidFill>
                <a:cs typeface="Tahoma" pitchFamily="34" charset="0"/>
              </a:rPr>
              <a:t>Surfing the www is prohibited.</a:t>
            </a:r>
            <a:r>
              <a:rPr lang="en-US" sz="2400" dirty="0">
                <a:solidFill>
                  <a:srgbClr val="66FF33"/>
                </a:solidFill>
                <a:cs typeface="Tahoma" pitchFamily="34" charset="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E865EB07-93CD-4319-A197-E3CB485E7B50}" type="slidenum">
              <a:rPr lang="en-US"/>
              <a:pPr>
                <a:defRPr/>
              </a:pPr>
              <a:t>30</a:t>
            </a:fld>
            <a:endParaRPr lang="en-US"/>
          </a:p>
        </p:txBody>
      </p:sp>
      <p:sp>
        <p:nvSpPr>
          <p:cNvPr id="80898" name="Rectangle 2"/>
          <p:cNvSpPr>
            <a:spLocks noGrp="1" noChangeArrowheads="1"/>
          </p:cNvSpPr>
          <p:nvPr>
            <p:ph type="title"/>
          </p:nvPr>
        </p:nvSpPr>
        <p:spPr/>
        <p:txBody>
          <a:bodyPr/>
          <a:lstStyle/>
          <a:p>
            <a:pPr eaLnBrk="1" hangingPunct="1">
              <a:defRPr/>
            </a:pPr>
            <a:r>
              <a:rPr lang="en-US" dirty="0"/>
              <a:t>Security Policy</a:t>
            </a:r>
          </a:p>
        </p:txBody>
      </p:sp>
      <p:sp>
        <p:nvSpPr>
          <p:cNvPr id="80899" name="Rectangle 3"/>
          <p:cNvSpPr>
            <a:spLocks noGrp="1" noChangeArrowheads="1"/>
          </p:cNvSpPr>
          <p:nvPr>
            <p:ph type="body" idx="1"/>
          </p:nvPr>
        </p:nvSpPr>
        <p:spPr>
          <a:xfrm>
            <a:off x="859970" y="1959429"/>
            <a:ext cx="7935687" cy="4331834"/>
          </a:xfrm>
        </p:spPr>
        <p:txBody>
          <a:bodyPr/>
          <a:lstStyle/>
          <a:p>
            <a:pPr eaLnBrk="1" hangingPunct="1">
              <a:defRPr/>
            </a:pPr>
            <a:r>
              <a:rPr lang="en-US" dirty="0">
                <a:cs typeface="Tahoma" pitchFamily="34" charset="0"/>
              </a:rPr>
              <a:t>security policy does not specify technologies. </a:t>
            </a:r>
          </a:p>
          <a:p>
            <a:pPr eaLnBrk="1" hangingPunct="1">
              <a:defRPr/>
            </a:pPr>
            <a:endParaRPr lang="en-US" dirty="0">
              <a:cs typeface="Tahoma" pitchFamily="34" charset="0"/>
            </a:endParaRPr>
          </a:p>
          <a:p>
            <a:pPr eaLnBrk="1" hangingPunct="1">
              <a:defRPr/>
            </a:pPr>
            <a:r>
              <a:rPr lang="en-US" sz="2800" dirty="0">
                <a:solidFill>
                  <a:srgbClr val="FFFF00"/>
                </a:solidFill>
                <a:cs typeface="Tahoma" pitchFamily="34" charset="0"/>
              </a:rPr>
              <a:t>A </a:t>
            </a:r>
            <a:r>
              <a:rPr lang="en-US" sz="2800" b="1" dirty="0">
                <a:solidFill>
                  <a:srgbClr val="FFFF00"/>
                </a:solidFill>
                <a:cs typeface="Tahoma" pitchFamily="34" charset="0"/>
              </a:rPr>
              <a:t>security Policy</a:t>
            </a:r>
            <a:r>
              <a:rPr lang="en-US" sz="2800" dirty="0">
                <a:solidFill>
                  <a:srgbClr val="FFFF00"/>
                </a:solidFill>
                <a:cs typeface="Tahoma" pitchFamily="34" charset="0"/>
              </a:rPr>
              <a:t> is a guideline for implementing security measures.</a:t>
            </a:r>
          </a:p>
          <a:p>
            <a:pPr lvl="1" eaLnBrk="1" hangingPunct="1">
              <a:defRPr/>
            </a:pPr>
            <a:r>
              <a:rPr lang="en-US" dirty="0">
                <a:solidFill>
                  <a:srgbClr val="FFFF00"/>
                </a:solidFill>
                <a:cs typeface="Tahoma" pitchFamily="34" charset="0"/>
              </a:rPr>
              <a:t>Example:</a:t>
            </a:r>
          </a:p>
          <a:p>
            <a:pPr lvl="2" eaLnBrk="1" hangingPunct="1">
              <a:defRPr/>
            </a:pPr>
            <a:r>
              <a:rPr lang="en-US" dirty="0">
                <a:solidFill>
                  <a:srgbClr val="FFFF00"/>
                </a:solidFill>
                <a:cs typeface="Tahoma" pitchFamily="34" charset="0"/>
              </a:rPr>
              <a:t>Use a </a:t>
            </a:r>
            <a:r>
              <a:rPr lang="en-US" dirty="0">
                <a:solidFill>
                  <a:schemeClr val="accent1"/>
                </a:solidFill>
                <a:cs typeface="Tahoma" pitchFamily="34" charset="0"/>
              </a:rPr>
              <a:t>firewall</a:t>
            </a:r>
            <a:r>
              <a:rPr lang="en-US" dirty="0">
                <a:solidFill>
                  <a:srgbClr val="FFFF00"/>
                </a:solidFill>
                <a:cs typeface="Tahoma" pitchFamily="34" charset="0"/>
              </a:rPr>
              <a:t> to block ports 80 and 443 (as to </a:t>
            </a:r>
            <a:r>
              <a:rPr lang="en-US" u="sng" dirty="0">
                <a:solidFill>
                  <a:srgbClr val="FFFF00"/>
                </a:solidFill>
                <a:cs typeface="Tahoma" pitchFamily="34" charset="0"/>
              </a:rPr>
              <a:t>prevent leakage of confidential information</a:t>
            </a:r>
            <a:r>
              <a:rPr lang="en-US" dirty="0">
                <a:solidFill>
                  <a:srgbClr val="FFFF00"/>
                </a:solidFill>
                <a:cs typeface="Tahoma" pitchFamily="34" charset="0"/>
              </a:rPr>
              <a:t>)</a:t>
            </a:r>
          </a:p>
          <a:p>
            <a:pPr lvl="2" eaLnBrk="1" hangingPunct="1">
              <a:defRPr/>
            </a:pPr>
            <a:r>
              <a:rPr lang="en-US" dirty="0">
                <a:solidFill>
                  <a:srgbClr val="FFFF00"/>
                </a:solidFill>
                <a:cs typeface="Tahoma" pitchFamily="34" charset="0"/>
              </a:rPr>
              <a:t> </a:t>
            </a:r>
            <a:r>
              <a:rPr lang="en-US" dirty="0">
                <a:solidFill>
                  <a:schemeClr val="accent1"/>
                </a:solidFill>
                <a:cs typeface="Tahoma" pitchFamily="34" charset="0"/>
              </a:rPr>
              <a:t>Encrypt</a:t>
            </a:r>
            <a:r>
              <a:rPr lang="en-US" dirty="0">
                <a:solidFill>
                  <a:srgbClr val="FFFF00"/>
                </a:solidFill>
                <a:cs typeface="Tahoma" pitchFamily="34" charset="0"/>
              </a:rPr>
              <a:t> email containing sensitive data (as to </a:t>
            </a:r>
            <a:r>
              <a:rPr lang="en-US" u="sng" dirty="0">
                <a:solidFill>
                  <a:srgbClr val="FFFF00"/>
                </a:solidFill>
                <a:cs typeface="Tahoma" pitchFamily="34" charset="0"/>
              </a:rPr>
              <a:t>protect private information)</a:t>
            </a:r>
            <a:endParaRPr lang="en-US" dirty="0">
              <a:solidFill>
                <a:srgbClr val="FFFF00"/>
              </a:solidFill>
              <a:cs typeface="Tahoma" pitchFamily="34" charset="0"/>
            </a:endParaRPr>
          </a:p>
          <a:p>
            <a:pPr lvl="2" eaLnBrk="1" hangingPunct="1">
              <a:defRPr/>
            </a:pPr>
            <a:r>
              <a:rPr lang="en-US" dirty="0">
                <a:solidFill>
                  <a:srgbClr val="FFFF00"/>
                </a:solidFill>
                <a:cs typeface="Tahoma" pitchFamily="34" charset="0"/>
              </a:rPr>
              <a:t> </a:t>
            </a:r>
          </a:p>
        </p:txBody>
      </p:sp>
    </p:spTree>
    <p:extLst>
      <p:ext uri="{BB962C8B-B14F-4D97-AF65-F5344CB8AC3E}">
        <p14:creationId xmlns:p14="http://schemas.microsoft.com/office/powerpoint/2010/main" val="3831664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87E30-5FD6-439C-97F6-CDD9281ADF04}"/>
              </a:ext>
            </a:extLst>
          </p:cNvPr>
          <p:cNvSpPr>
            <a:spLocks noGrp="1"/>
          </p:cNvSpPr>
          <p:nvPr>
            <p:ph type="title"/>
          </p:nvPr>
        </p:nvSpPr>
        <p:spPr/>
        <p:txBody>
          <a:bodyPr/>
          <a:lstStyle/>
          <a:p>
            <a:r>
              <a:rPr lang="en-US" dirty="0"/>
              <a:t>Security Lifecycle</a:t>
            </a:r>
          </a:p>
        </p:txBody>
      </p:sp>
      <p:sp>
        <p:nvSpPr>
          <p:cNvPr id="4" name="Slide Number Placeholder 3">
            <a:extLst>
              <a:ext uri="{FF2B5EF4-FFF2-40B4-BE49-F238E27FC236}">
                <a16:creationId xmlns:a16="http://schemas.microsoft.com/office/drawing/2014/main" id="{08A574F9-4134-45D6-B9D4-5A3A624B5B72}"/>
              </a:ext>
            </a:extLst>
          </p:cNvPr>
          <p:cNvSpPr>
            <a:spLocks noGrp="1"/>
          </p:cNvSpPr>
          <p:nvPr>
            <p:ph type="sldNum" sz="quarter" idx="12"/>
          </p:nvPr>
        </p:nvSpPr>
        <p:spPr/>
        <p:txBody>
          <a:bodyPr/>
          <a:lstStyle/>
          <a:p>
            <a:pPr>
              <a:defRPr/>
            </a:pPr>
            <a:fld id="{0E2F858B-2218-4DCA-9707-121426E71222}" type="slidenum">
              <a:rPr lang="en-US" smtClean="0"/>
              <a:pPr>
                <a:defRPr/>
              </a:pPr>
              <a:t>31</a:t>
            </a:fld>
            <a:endParaRPr lang="en-US" dirty="0"/>
          </a:p>
        </p:txBody>
      </p:sp>
      <p:sp>
        <p:nvSpPr>
          <p:cNvPr id="5" name="Rectangle: Rounded Corners 4">
            <a:extLst>
              <a:ext uri="{FF2B5EF4-FFF2-40B4-BE49-F238E27FC236}">
                <a16:creationId xmlns:a16="http://schemas.microsoft.com/office/drawing/2014/main" id="{668A29B0-103C-4EB9-9AAE-FEF5C16167B7}"/>
              </a:ext>
            </a:extLst>
          </p:cNvPr>
          <p:cNvSpPr/>
          <p:nvPr/>
        </p:nvSpPr>
        <p:spPr bwMode="auto">
          <a:xfrm>
            <a:off x="544286" y="1709055"/>
            <a:ext cx="1970314" cy="587829"/>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ahoma" pitchFamily="34" charset="0"/>
                <a:cs typeface="Arial" charset="0"/>
              </a:rPr>
              <a:t>Analyze</a:t>
            </a:r>
          </a:p>
        </p:txBody>
      </p:sp>
      <p:cxnSp>
        <p:nvCxnSpPr>
          <p:cNvPr id="16" name="Connector: Elbow 15">
            <a:extLst>
              <a:ext uri="{FF2B5EF4-FFF2-40B4-BE49-F238E27FC236}">
                <a16:creationId xmlns:a16="http://schemas.microsoft.com/office/drawing/2014/main" id="{2F820E7D-B267-4906-B16D-8531D0D8D908}"/>
              </a:ext>
            </a:extLst>
          </p:cNvPr>
          <p:cNvCxnSpPr/>
          <p:nvPr/>
        </p:nvCxnSpPr>
        <p:spPr bwMode="auto">
          <a:xfrm rot="16200000" flipH="1">
            <a:off x="1494064" y="2332263"/>
            <a:ext cx="762000" cy="691242"/>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17" name="Rectangle: Rounded Corners 16">
            <a:extLst>
              <a:ext uri="{FF2B5EF4-FFF2-40B4-BE49-F238E27FC236}">
                <a16:creationId xmlns:a16="http://schemas.microsoft.com/office/drawing/2014/main" id="{9361D686-2414-4042-91FA-1C2D113141B7}"/>
              </a:ext>
            </a:extLst>
          </p:cNvPr>
          <p:cNvSpPr/>
          <p:nvPr/>
        </p:nvSpPr>
        <p:spPr bwMode="auto">
          <a:xfrm>
            <a:off x="1235528" y="3058884"/>
            <a:ext cx="1970314" cy="587829"/>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ahoma" pitchFamily="34" charset="0"/>
                <a:cs typeface="Arial" charset="0"/>
              </a:rPr>
              <a:t>Design</a:t>
            </a:r>
          </a:p>
        </p:txBody>
      </p:sp>
      <p:cxnSp>
        <p:nvCxnSpPr>
          <p:cNvPr id="18" name="Connector: Elbow 17">
            <a:extLst>
              <a:ext uri="{FF2B5EF4-FFF2-40B4-BE49-F238E27FC236}">
                <a16:creationId xmlns:a16="http://schemas.microsoft.com/office/drawing/2014/main" id="{A98B8326-FB6A-4815-AC29-6448664DBA94}"/>
              </a:ext>
            </a:extLst>
          </p:cNvPr>
          <p:cNvCxnSpPr/>
          <p:nvPr/>
        </p:nvCxnSpPr>
        <p:spPr bwMode="auto">
          <a:xfrm rot="16200000" flipH="1">
            <a:off x="2185306" y="3682092"/>
            <a:ext cx="762000" cy="691242"/>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19" name="Rectangle: Rounded Corners 18">
            <a:extLst>
              <a:ext uri="{FF2B5EF4-FFF2-40B4-BE49-F238E27FC236}">
                <a16:creationId xmlns:a16="http://schemas.microsoft.com/office/drawing/2014/main" id="{7E5ABB06-F994-4323-B4E5-78ECF334BD71}"/>
              </a:ext>
            </a:extLst>
          </p:cNvPr>
          <p:cNvSpPr/>
          <p:nvPr/>
        </p:nvSpPr>
        <p:spPr bwMode="auto">
          <a:xfrm>
            <a:off x="1926770" y="4408713"/>
            <a:ext cx="1970314" cy="587829"/>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ahoma" pitchFamily="34" charset="0"/>
                <a:cs typeface="Arial" charset="0"/>
              </a:rPr>
              <a:t>Implement</a:t>
            </a:r>
          </a:p>
        </p:txBody>
      </p:sp>
      <p:cxnSp>
        <p:nvCxnSpPr>
          <p:cNvPr id="20" name="Connector: Elbow 19">
            <a:extLst>
              <a:ext uri="{FF2B5EF4-FFF2-40B4-BE49-F238E27FC236}">
                <a16:creationId xmlns:a16="http://schemas.microsoft.com/office/drawing/2014/main" id="{F824CE31-49C6-40AA-8753-46886DC4DED3}"/>
              </a:ext>
            </a:extLst>
          </p:cNvPr>
          <p:cNvCxnSpPr/>
          <p:nvPr/>
        </p:nvCxnSpPr>
        <p:spPr bwMode="auto">
          <a:xfrm rot="16200000" flipH="1">
            <a:off x="2876548" y="5031921"/>
            <a:ext cx="762000" cy="691242"/>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21" name="Rectangle: Rounded Corners 20">
            <a:extLst>
              <a:ext uri="{FF2B5EF4-FFF2-40B4-BE49-F238E27FC236}">
                <a16:creationId xmlns:a16="http://schemas.microsoft.com/office/drawing/2014/main" id="{AF25F993-F687-49E3-9421-BBDA00F9A28D}"/>
              </a:ext>
            </a:extLst>
          </p:cNvPr>
          <p:cNvSpPr/>
          <p:nvPr/>
        </p:nvSpPr>
        <p:spPr bwMode="auto">
          <a:xfrm>
            <a:off x="2770414" y="5758542"/>
            <a:ext cx="1970314" cy="587829"/>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ahoma" pitchFamily="34" charset="0"/>
                <a:cs typeface="Arial" charset="0"/>
              </a:rPr>
              <a:t>Operate</a:t>
            </a:r>
          </a:p>
        </p:txBody>
      </p:sp>
      <p:sp>
        <p:nvSpPr>
          <p:cNvPr id="23" name="Left Brace 22">
            <a:extLst>
              <a:ext uri="{FF2B5EF4-FFF2-40B4-BE49-F238E27FC236}">
                <a16:creationId xmlns:a16="http://schemas.microsoft.com/office/drawing/2014/main" id="{D134C892-41BF-4C86-BF41-E82105037E67}"/>
              </a:ext>
            </a:extLst>
          </p:cNvPr>
          <p:cNvSpPr/>
          <p:nvPr/>
        </p:nvSpPr>
        <p:spPr bwMode="auto">
          <a:xfrm>
            <a:off x="2666999" y="1709055"/>
            <a:ext cx="538843" cy="762000"/>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24" name="TextBox 23">
            <a:extLst>
              <a:ext uri="{FF2B5EF4-FFF2-40B4-BE49-F238E27FC236}">
                <a16:creationId xmlns:a16="http://schemas.microsoft.com/office/drawing/2014/main" id="{5D6303BA-2ABD-49A3-9E73-13DF6477C8EF}"/>
              </a:ext>
            </a:extLst>
          </p:cNvPr>
          <p:cNvSpPr txBox="1"/>
          <p:nvPr/>
        </p:nvSpPr>
        <p:spPr>
          <a:xfrm>
            <a:off x="3257548" y="1489054"/>
            <a:ext cx="4729844" cy="1477328"/>
          </a:xfrm>
          <a:prstGeom prst="rect">
            <a:avLst/>
          </a:prstGeom>
          <a:noFill/>
        </p:spPr>
        <p:txBody>
          <a:bodyPr wrap="square" rtlCol="0">
            <a:spAutoFit/>
          </a:bodyPr>
          <a:lstStyle/>
          <a:p>
            <a:pPr marL="285750" indent="-285750">
              <a:buFontTx/>
              <a:buChar char="-"/>
            </a:pPr>
            <a:r>
              <a:rPr lang="en-US" b="0" dirty="0">
                <a:solidFill>
                  <a:srgbClr val="FFFF00"/>
                </a:solidFill>
              </a:rPr>
              <a:t>Develop sec policy</a:t>
            </a:r>
          </a:p>
          <a:p>
            <a:pPr marL="285750" indent="-285750">
              <a:buFontTx/>
              <a:buChar char="-"/>
            </a:pPr>
            <a:r>
              <a:rPr lang="en-US" b="0" dirty="0"/>
              <a:t>Draw blueprints</a:t>
            </a:r>
          </a:p>
          <a:p>
            <a:pPr marL="285750" indent="-285750">
              <a:buFontTx/>
              <a:buChar char="-"/>
            </a:pPr>
            <a:r>
              <a:rPr lang="en-US" b="0" dirty="0"/>
              <a:t>Determine sec requirements (objectives)</a:t>
            </a:r>
          </a:p>
          <a:p>
            <a:pPr marL="285750" indent="-285750">
              <a:buFontTx/>
              <a:buChar char="-"/>
            </a:pPr>
            <a:r>
              <a:rPr lang="en-US" b="0" dirty="0"/>
              <a:t>Analyze threats, vulnerabilities (</a:t>
            </a:r>
            <a:r>
              <a:rPr lang="en-US" b="0" i="1" dirty="0"/>
              <a:t>i.e.</a:t>
            </a:r>
            <a:r>
              <a:rPr lang="en-US" b="0" dirty="0"/>
              <a:t>, analyze risks)</a:t>
            </a:r>
          </a:p>
        </p:txBody>
      </p:sp>
      <p:sp>
        <p:nvSpPr>
          <p:cNvPr id="27" name="Left Brace 26">
            <a:extLst>
              <a:ext uri="{FF2B5EF4-FFF2-40B4-BE49-F238E27FC236}">
                <a16:creationId xmlns:a16="http://schemas.microsoft.com/office/drawing/2014/main" id="{C627C4D6-6B4C-4360-891E-F991D5108B32}"/>
              </a:ext>
            </a:extLst>
          </p:cNvPr>
          <p:cNvSpPr/>
          <p:nvPr/>
        </p:nvSpPr>
        <p:spPr bwMode="auto">
          <a:xfrm>
            <a:off x="3336474" y="3008493"/>
            <a:ext cx="538843" cy="762000"/>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28" name="TextBox 27">
            <a:extLst>
              <a:ext uri="{FF2B5EF4-FFF2-40B4-BE49-F238E27FC236}">
                <a16:creationId xmlns:a16="http://schemas.microsoft.com/office/drawing/2014/main" id="{0863EC1A-1516-417C-9495-A113B977EE9B}"/>
              </a:ext>
            </a:extLst>
          </p:cNvPr>
          <p:cNvSpPr txBox="1"/>
          <p:nvPr/>
        </p:nvSpPr>
        <p:spPr>
          <a:xfrm>
            <a:off x="3897084" y="2935103"/>
            <a:ext cx="3717473" cy="923330"/>
          </a:xfrm>
          <a:prstGeom prst="rect">
            <a:avLst/>
          </a:prstGeom>
          <a:noFill/>
        </p:spPr>
        <p:txBody>
          <a:bodyPr wrap="square" rtlCol="0">
            <a:spAutoFit/>
          </a:bodyPr>
          <a:lstStyle/>
          <a:p>
            <a:pPr marL="285750" indent="-285750">
              <a:buFontTx/>
              <a:buChar char="-"/>
            </a:pPr>
            <a:r>
              <a:rPr lang="en-US" b="0" dirty="0"/>
              <a:t>Design architecture,</a:t>
            </a:r>
          </a:p>
          <a:p>
            <a:pPr marL="285750" indent="-285750">
              <a:buFontTx/>
              <a:buChar char="-"/>
            </a:pPr>
            <a:r>
              <a:rPr lang="en-US" b="0" dirty="0"/>
              <a:t>Choose countermeasures</a:t>
            </a:r>
          </a:p>
          <a:p>
            <a:pPr marL="285750" indent="-285750">
              <a:buFontTx/>
              <a:buChar char="-"/>
            </a:pPr>
            <a:r>
              <a:rPr lang="en-US" b="0" dirty="0">
                <a:solidFill>
                  <a:srgbClr val="FFFF00"/>
                </a:solidFill>
              </a:rPr>
              <a:t>Continue developing sec policy</a:t>
            </a:r>
          </a:p>
        </p:txBody>
      </p:sp>
      <p:sp>
        <p:nvSpPr>
          <p:cNvPr id="29" name="Left Brace 28">
            <a:extLst>
              <a:ext uri="{FF2B5EF4-FFF2-40B4-BE49-F238E27FC236}">
                <a16:creationId xmlns:a16="http://schemas.microsoft.com/office/drawing/2014/main" id="{51213C86-7E46-4201-AC88-4CFC911B2D45}"/>
              </a:ext>
            </a:extLst>
          </p:cNvPr>
          <p:cNvSpPr/>
          <p:nvPr/>
        </p:nvSpPr>
        <p:spPr bwMode="auto">
          <a:xfrm>
            <a:off x="4011390" y="4309820"/>
            <a:ext cx="538843" cy="762000"/>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30" name="TextBox 29">
            <a:extLst>
              <a:ext uri="{FF2B5EF4-FFF2-40B4-BE49-F238E27FC236}">
                <a16:creationId xmlns:a16="http://schemas.microsoft.com/office/drawing/2014/main" id="{AC9B4020-4700-4D92-9876-CD57E2B8CAAA}"/>
              </a:ext>
            </a:extLst>
          </p:cNvPr>
          <p:cNvSpPr txBox="1"/>
          <p:nvPr/>
        </p:nvSpPr>
        <p:spPr>
          <a:xfrm>
            <a:off x="5562597" y="5725205"/>
            <a:ext cx="2046515" cy="646331"/>
          </a:xfrm>
          <a:prstGeom prst="rect">
            <a:avLst/>
          </a:prstGeom>
          <a:noFill/>
        </p:spPr>
        <p:txBody>
          <a:bodyPr wrap="square" rtlCol="0">
            <a:spAutoFit/>
          </a:bodyPr>
          <a:lstStyle/>
          <a:p>
            <a:pPr marL="285750" indent="-285750">
              <a:buFontTx/>
              <a:buChar char="-"/>
            </a:pPr>
            <a:r>
              <a:rPr lang="en-US" b="0" dirty="0"/>
              <a:t>Monitor</a:t>
            </a:r>
          </a:p>
          <a:p>
            <a:pPr marL="285750" indent="-285750">
              <a:buFontTx/>
              <a:buChar char="-"/>
            </a:pPr>
            <a:r>
              <a:rPr lang="en-US" b="0" dirty="0"/>
              <a:t>review</a:t>
            </a:r>
          </a:p>
        </p:txBody>
      </p:sp>
      <p:sp>
        <p:nvSpPr>
          <p:cNvPr id="31" name="Left Brace 30">
            <a:extLst>
              <a:ext uri="{FF2B5EF4-FFF2-40B4-BE49-F238E27FC236}">
                <a16:creationId xmlns:a16="http://schemas.microsoft.com/office/drawing/2014/main" id="{7D51AC1D-2D23-4AED-9BC9-CC9EFB768672}"/>
              </a:ext>
            </a:extLst>
          </p:cNvPr>
          <p:cNvSpPr/>
          <p:nvPr/>
        </p:nvSpPr>
        <p:spPr bwMode="auto">
          <a:xfrm>
            <a:off x="4882241" y="5671456"/>
            <a:ext cx="538843" cy="762000"/>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36" name="TextBox 35">
            <a:extLst>
              <a:ext uri="{FF2B5EF4-FFF2-40B4-BE49-F238E27FC236}">
                <a16:creationId xmlns:a16="http://schemas.microsoft.com/office/drawing/2014/main" id="{E1B3ED7E-D2FD-49FA-AD73-B15235CFE981}"/>
              </a:ext>
            </a:extLst>
          </p:cNvPr>
          <p:cNvSpPr txBox="1"/>
          <p:nvPr/>
        </p:nvSpPr>
        <p:spPr>
          <a:xfrm>
            <a:off x="4588326" y="4252067"/>
            <a:ext cx="4060367" cy="923330"/>
          </a:xfrm>
          <a:prstGeom prst="rect">
            <a:avLst/>
          </a:prstGeom>
          <a:noFill/>
        </p:spPr>
        <p:txBody>
          <a:bodyPr wrap="square" rtlCol="0">
            <a:spAutoFit/>
          </a:bodyPr>
          <a:lstStyle/>
          <a:p>
            <a:pPr marL="285750" indent="-285750">
              <a:buFontTx/>
              <a:buChar char="-"/>
            </a:pPr>
            <a:r>
              <a:rPr lang="en-US" b="0" dirty="0"/>
              <a:t>Implement countermeasures</a:t>
            </a:r>
          </a:p>
          <a:p>
            <a:pPr marL="285750" indent="-285750">
              <a:buFontTx/>
              <a:buChar char="-"/>
            </a:pPr>
            <a:r>
              <a:rPr lang="en-US" b="0" dirty="0"/>
              <a:t>Test</a:t>
            </a:r>
          </a:p>
          <a:p>
            <a:pPr marL="285750" indent="-285750">
              <a:buFontTx/>
              <a:buChar char="-"/>
            </a:pPr>
            <a:r>
              <a:rPr lang="en-US" b="0" dirty="0"/>
              <a:t>Carry out training and awareness</a:t>
            </a:r>
          </a:p>
        </p:txBody>
      </p:sp>
      <p:cxnSp>
        <p:nvCxnSpPr>
          <p:cNvPr id="40" name="Straight Connector 39">
            <a:extLst>
              <a:ext uri="{FF2B5EF4-FFF2-40B4-BE49-F238E27FC236}">
                <a16:creationId xmlns:a16="http://schemas.microsoft.com/office/drawing/2014/main" id="{2E6874E7-BAA7-4A74-B90B-3C40983C3B8C}"/>
              </a:ext>
            </a:extLst>
          </p:cNvPr>
          <p:cNvCxnSpPr>
            <a:stCxn id="21" idx="1"/>
          </p:cNvCxnSpPr>
          <p:nvPr/>
        </p:nvCxnSpPr>
        <p:spPr bwMode="auto">
          <a:xfrm flipH="1" flipV="1">
            <a:off x="664029" y="6048370"/>
            <a:ext cx="2106385" cy="4087"/>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41" name="Straight Connector 40">
            <a:extLst>
              <a:ext uri="{FF2B5EF4-FFF2-40B4-BE49-F238E27FC236}">
                <a16:creationId xmlns:a16="http://schemas.microsoft.com/office/drawing/2014/main" id="{DD6E1F68-7F6B-4264-A949-3460B5898B5A}"/>
              </a:ext>
            </a:extLst>
          </p:cNvPr>
          <p:cNvCxnSpPr>
            <a:cxnSpLocks/>
          </p:cNvCxnSpPr>
          <p:nvPr/>
        </p:nvCxnSpPr>
        <p:spPr bwMode="auto">
          <a:xfrm>
            <a:off x="664029" y="5388726"/>
            <a:ext cx="0" cy="659644"/>
          </a:xfrm>
          <a:prstGeom prst="line">
            <a:avLst/>
          </a:prstGeom>
          <a:solidFill>
            <a:schemeClr val="accent1"/>
          </a:solidFill>
          <a:ln w="9525" cap="flat" cmpd="sng" algn="ctr">
            <a:solidFill>
              <a:schemeClr val="tx1"/>
            </a:solidFill>
            <a:prstDash val="dash"/>
            <a:round/>
            <a:headEnd type="arrow" w="med" len="med"/>
            <a:tailEnd type="none" w="med" len="med"/>
          </a:ln>
          <a:effectLst/>
        </p:spPr>
      </p:cxnSp>
      <p:cxnSp>
        <p:nvCxnSpPr>
          <p:cNvPr id="44" name="Straight Connector 43">
            <a:extLst>
              <a:ext uri="{FF2B5EF4-FFF2-40B4-BE49-F238E27FC236}">
                <a16:creationId xmlns:a16="http://schemas.microsoft.com/office/drawing/2014/main" id="{7346C8EA-21F4-47D2-8E72-4ABA02A4A77D}"/>
              </a:ext>
            </a:extLst>
          </p:cNvPr>
          <p:cNvCxnSpPr>
            <a:cxnSpLocks/>
            <a:stCxn id="19" idx="1"/>
          </p:cNvCxnSpPr>
          <p:nvPr/>
        </p:nvCxnSpPr>
        <p:spPr bwMode="auto">
          <a:xfrm flipH="1" flipV="1">
            <a:off x="639538" y="4698542"/>
            <a:ext cx="1287232" cy="4086"/>
          </a:xfrm>
          <a:prstGeom prst="line">
            <a:avLst/>
          </a:prstGeom>
          <a:solidFill>
            <a:schemeClr val="accent1"/>
          </a:solidFill>
          <a:ln w="9525" cap="flat" cmpd="sng" algn="ctr">
            <a:solidFill>
              <a:schemeClr val="tx1"/>
            </a:solidFill>
            <a:prstDash val="dash"/>
            <a:round/>
            <a:headEnd type="arrow" w="med" len="med"/>
            <a:tailEnd type="none" w="med" len="med"/>
          </a:ln>
          <a:effectLst/>
        </p:spPr>
      </p:cxnSp>
      <p:cxnSp>
        <p:nvCxnSpPr>
          <p:cNvPr id="45" name="Straight Connector 44">
            <a:extLst>
              <a:ext uri="{FF2B5EF4-FFF2-40B4-BE49-F238E27FC236}">
                <a16:creationId xmlns:a16="http://schemas.microsoft.com/office/drawing/2014/main" id="{B845EA44-2B1E-4B11-AC5C-AF3CB5218B3B}"/>
              </a:ext>
            </a:extLst>
          </p:cNvPr>
          <p:cNvCxnSpPr>
            <a:cxnSpLocks/>
          </p:cNvCxnSpPr>
          <p:nvPr/>
        </p:nvCxnSpPr>
        <p:spPr bwMode="auto">
          <a:xfrm>
            <a:off x="639536" y="4245725"/>
            <a:ext cx="0" cy="659644"/>
          </a:xfrm>
          <a:prstGeom prst="line">
            <a:avLst/>
          </a:prstGeom>
          <a:solidFill>
            <a:schemeClr val="accent1"/>
          </a:solidFill>
          <a:ln w="9525" cap="flat" cmpd="sng" algn="ctr">
            <a:solidFill>
              <a:schemeClr val="tx1"/>
            </a:solidFill>
            <a:prstDash val="dash"/>
            <a:round/>
            <a:headEnd type="arrow" w="med" len="med"/>
            <a:tailEnd type="none" w="med" len="med"/>
          </a:ln>
          <a:effectLst/>
        </p:spPr>
      </p:cxnSp>
      <p:cxnSp>
        <p:nvCxnSpPr>
          <p:cNvPr id="52" name="Straight Connector 51">
            <a:extLst>
              <a:ext uri="{FF2B5EF4-FFF2-40B4-BE49-F238E27FC236}">
                <a16:creationId xmlns:a16="http://schemas.microsoft.com/office/drawing/2014/main" id="{600E5637-B535-43C1-895B-24BF6F7782FC}"/>
              </a:ext>
            </a:extLst>
          </p:cNvPr>
          <p:cNvCxnSpPr>
            <a:cxnSpLocks/>
            <a:stCxn id="17" idx="1"/>
          </p:cNvCxnSpPr>
          <p:nvPr/>
        </p:nvCxnSpPr>
        <p:spPr bwMode="auto">
          <a:xfrm flipH="1">
            <a:off x="713013" y="3352799"/>
            <a:ext cx="522515" cy="0"/>
          </a:xfrm>
          <a:prstGeom prst="line">
            <a:avLst/>
          </a:prstGeom>
          <a:solidFill>
            <a:schemeClr val="accent1"/>
          </a:solidFill>
          <a:ln w="9525" cap="flat" cmpd="sng" algn="ctr">
            <a:solidFill>
              <a:schemeClr val="tx1"/>
            </a:solidFill>
            <a:prstDash val="dash"/>
            <a:round/>
            <a:headEnd type="arrow" w="med" len="med"/>
            <a:tailEnd type="none" w="med" len="med"/>
          </a:ln>
          <a:effectLst/>
        </p:spPr>
      </p:cxnSp>
      <p:cxnSp>
        <p:nvCxnSpPr>
          <p:cNvPr id="53" name="Straight Connector 52">
            <a:extLst>
              <a:ext uri="{FF2B5EF4-FFF2-40B4-BE49-F238E27FC236}">
                <a16:creationId xmlns:a16="http://schemas.microsoft.com/office/drawing/2014/main" id="{4E839046-55CC-46A8-A0D4-17ED8AC24B35}"/>
              </a:ext>
            </a:extLst>
          </p:cNvPr>
          <p:cNvCxnSpPr>
            <a:cxnSpLocks/>
          </p:cNvCxnSpPr>
          <p:nvPr/>
        </p:nvCxnSpPr>
        <p:spPr bwMode="auto">
          <a:xfrm>
            <a:off x="713013" y="2794196"/>
            <a:ext cx="0" cy="659644"/>
          </a:xfrm>
          <a:prstGeom prst="line">
            <a:avLst/>
          </a:prstGeom>
          <a:solidFill>
            <a:schemeClr val="accent1"/>
          </a:solidFill>
          <a:ln w="9525" cap="flat" cmpd="sng" algn="ctr">
            <a:solidFill>
              <a:schemeClr val="tx1"/>
            </a:solidFill>
            <a:prstDash val="dash"/>
            <a:round/>
            <a:headEnd type="arrow" w="med" len="med"/>
            <a:tailEnd type="none" w="med" len="med"/>
          </a:ln>
          <a:effectLst/>
        </p:spPr>
      </p:cxnSp>
    </p:spTree>
    <p:extLst>
      <p:ext uri="{BB962C8B-B14F-4D97-AF65-F5344CB8AC3E}">
        <p14:creationId xmlns:p14="http://schemas.microsoft.com/office/powerpoint/2010/main" val="4039444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7E59BFC3-83C5-437C-9910-4F944FB014D9}" type="slidenum">
              <a:rPr lang="en-US"/>
              <a:pPr>
                <a:defRPr/>
              </a:pPr>
              <a:t>32</a:t>
            </a:fld>
            <a:endParaRPr lang="en-US"/>
          </a:p>
        </p:txBody>
      </p:sp>
      <p:sp>
        <p:nvSpPr>
          <p:cNvPr id="138242" name="Rectangle 2"/>
          <p:cNvSpPr>
            <a:spLocks noGrp="1" noChangeArrowheads="1"/>
          </p:cNvSpPr>
          <p:nvPr>
            <p:ph type="title"/>
          </p:nvPr>
        </p:nvSpPr>
        <p:spPr/>
        <p:txBody>
          <a:bodyPr/>
          <a:lstStyle/>
          <a:p>
            <a:pPr eaLnBrk="1" hangingPunct="1">
              <a:defRPr/>
            </a:pPr>
            <a:r>
              <a:rPr lang="en-GB" dirty="0"/>
              <a:t>6. Conclusion</a:t>
            </a:r>
            <a:endParaRPr lang="en-US" dirty="0"/>
          </a:p>
        </p:txBody>
      </p:sp>
      <p:sp>
        <p:nvSpPr>
          <p:cNvPr id="138243" name="Rectangle 3"/>
          <p:cNvSpPr>
            <a:spLocks noGrp="1" noChangeArrowheads="1"/>
          </p:cNvSpPr>
          <p:nvPr>
            <p:ph type="body" idx="1"/>
          </p:nvPr>
        </p:nvSpPr>
        <p:spPr>
          <a:xfrm>
            <a:off x="646113" y="1571331"/>
            <a:ext cx="8497887" cy="4702175"/>
          </a:xfrm>
        </p:spPr>
        <p:txBody>
          <a:bodyPr/>
          <a:lstStyle/>
          <a:p>
            <a:pPr eaLnBrk="1" hangingPunct="1">
              <a:defRPr/>
            </a:pPr>
            <a:r>
              <a:rPr lang="en-GB" dirty="0"/>
              <a:t>Security terms</a:t>
            </a:r>
          </a:p>
          <a:p>
            <a:pPr lvl="1" eaLnBrk="1" hangingPunct="1">
              <a:defRPr/>
            </a:pPr>
            <a:r>
              <a:rPr lang="en-GB" dirty="0"/>
              <a:t>ISS</a:t>
            </a:r>
          </a:p>
          <a:p>
            <a:pPr lvl="1" eaLnBrk="1" hangingPunct="1">
              <a:defRPr/>
            </a:pPr>
            <a:r>
              <a:rPr lang="en-GB" dirty="0"/>
              <a:t>Security objectives</a:t>
            </a:r>
          </a:p>
          <a:p>
            <a:pPr lvl="1" eaLnBrk="1" hangingPunct="1">
              <a:defRPr/>
            </a:pPr>
            <a:r>
              <a:rPr lang="en-GB" dirty="0"/>
              <a:t>Vulnerabilities and Threats, </a:t>
            </a:r>
          </a:p>
          <a:p>
            <a:pPr lvl="1" eaLnBrk="1" hangingPunct="1">
              <a:defRPr/>
            </a:pPr>
            <a:r>
              <a:rPr lang="en-GB" dirty="0"/>
              <a:t>Security measures</a:t>
            </a:r>
          </a:p>
          <a:p>
            <a:pPr lvl="1" eaLnBrk="1" hangingPunct="1">
              <a:defRPr/>
            </a:pPr>
            <a:r>
              <a:rPr lang="en-GB" dirty="0"/>
              <a:t>Security Policy</a:t>
            </a:r>
          </a:p>
          <a:p>
            <a:pPr lvl="1" eaLnBrk="1" hangingPunct="1">
              <a:buFontTx/>
              <a:buNone/>
              <a:defRPr/>
            </a:pPr>
            <a:r>
              <a:rPr lang="en-GB" dirty="0"/>
              <a:t> </a:t>
            </a:r>
          </a:p>
          <a:p>
            <a:pPr eaLnBrk="1" hangingPunct="1">
              <a:defRPr/>
            </a:pPr>
            <a:r>
              <a:rPr lang="en-GB" dirty="0"/>
              <a:t>Next lectures:</a:t>
            </a:r>
          </a:p>
          <a:p>
            <a:pPr lvl="1" eaLnBrk="1" hangingPunct="1">
              <a:defRPr/>
            </a:pPr>
            <a:r>
              <a:rPr lang="en-GB" dirty="0"/>
              <a:t>Covering these terms in detail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2"/>
          </p:nvPr>
        </p:nvSpPr>
        <p:spPr/>
        <p:txBody>
          <a:bodyPr/>
          <a:lstStyle/>
          <a:p>
            <a:pPr>
              <a:defRPr/>
            </a:pPr>
            <a:fld id="{672AA5D1-0B59-4557-B53C-CEA5C2BDD801}" type="slidenum">
              <a:rPr lang="en-US"/>
              <a:pPr>
                <a:defRPr/>
              </a:pPr>
              <a:t>33</a:t>
            </a:fld>
            <a:endParaRPr lang="en-US"/>
          </a:p>
        </p:txBody>
      </p:sp>
      <p:sp>
        <p:nvSpPr>
          <p:cNvPr id="29699" name="WordArt 6"/>
          <p:cNvSpPr>
            <a:spLocks noChangeArrowheads="1" noChangeShapeType="1" noTextEdit="1"/>
          </p:cNvSpPr>
          <p:nvPr/>
        </p:nvSpPr>
        <p:spPr bwMode="auto">
          <a:xfrm>
            <a:off x="1419225" y="1539875"/>
            <a:ext cx="7142163" cy="4179888"/>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Questions?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568960" y="1564641"/>
            <a:ext cx="7843520" cy="4726622"/>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Tahoma" pitchFamily="34" charset="0"/>
              <a:cs typeface="Arial" charset="0"/>
            </a:endParaRPr>
          </a:p>
        </p:txBody>
      </p:sp>
      <p:sp>
        <p:nvSpPr>
          <p:cNvPr id="2" name="Title 1"/>
          <p:cNvSpPr>
            <a:spLocks noGrp="1"/>
          </p:cNvSpPr>
          <p:nvPr>
            <p:ph type="title"/>
          </p:nvPr>
        </p:nvSpPr>
        <p:spPr/>
        <p:txBody>
          <a:bodyPr/>
          <a:lstStyle/>
          <a:p>
            <a:r>
              <a:rPr lang="en-US" dirty="0"/>
              <a:t>Case Study 1 – Hospital system</a:t>
            </a:r>
            <a:endParaRPr lang="ar-SY" dirty="0"/>
          </a:p>
        </p:txBody>
      </p:sp>
      <p:sp>
        <p:nvSpPr>
          <p:cNvPr id="3" name="Slide Number Placeholder 2"/>
          <p:cNvSpPr>
            <a:spLocks noGrp="1"/>
          </p:cNvSpPr>
          <p:nvPr>
            <p:ph type="sldNum" sz="quarter" idx="12"/>
          </p:nvPr>
        </p:nvSpPr>
        <p:spPr/>
        <p:txBody>
          <a:bodyPr/>
          <a:lstStyle/>
          <a:p>
            <a:pPr>
              <a:defRPr/>
            </a:pPr>
            <a:fld id="{D66DD518-6551-4FBC-BDA2-A8FF484494BA}" type="slidenum">
              <a:rPr lang="en-US" smtClean="0"/>
              <a:pPr>
                <a:defRPr/>
              </a:pPr>
              <a:t>34</a:t>
            </a:fld>
            <a:endParaRPr lang="en-US"/>
          </a:p>
        </p:txBody>
      </p:sp>
      <p:pic>
        <p:nvPicPr>
          <p:cNvPr id="585" name="Picture 584"/>
          <p:cNvPicPr/>
          <p:nvPr/>
        </p:nvPicPr>
        <p:blipFill>
          <a:blip r:embed="rId3" cstate="print">
            <a:extLst>
              <a:ext uri="{28A0092B-C50C-407E-A947-70E740481C1C}">
                <a14:useLocalDpi xmlns:a14="http://schemas.microsoft.com/office/drawing/2010/main" val="0"/>
              </a:ext>
            </a:extLst>
          </a:blip>
          <a:stretch>
            <a:fillRect/>
          </a:stretch>
        </p:blipFill>
        <p:spPr>
          <a:xfrm>
            <a:off x="751840" y="1564641"/>
            <a:ext cx="7477760" cy="4503419"/>
          </a:xfrm>
          <a:prstGeom prst="rect">
            <a:avLst/>
          </a:prstGeom>
        </p:spPr>
      </p:pic>
    </p:spTree>
    <p:extLst>
      <p:ext uri="{BB962C8B-B14F-4D97-AF65-F5344CB8AC3E}">
        <p14:creationId xmlns:p14="http://schemas.microsoft.com/office/powerpoint/2010/main" val="3793693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066800" y="1928553"/>
            <a:ext cx="6913418" cy="4056611"/>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ar-SY" sz="1800" b="1" i="0" u="none" strike="noStrike" cap="none" normalizeH="0" baseline="0">
              <a:ln>
                <a:noFill/>
              </a:ln>
              <a:solidFill>
                <a:schemeClr val="tx1"/>
              </a:solidFill>
              <a:effectLst/>
              <a:latin typeface="Tahoma" pitchFamily="34" charset="0"/>
              <a:cs typeface="Arial" charset="0"/>
            </a:endParaRPr>
          </a:p>
        </p:txBody>
      </p:sp>
      <p:sp>
        <p:nvSpPr>
          <p:cNvPr id="2" name="Title 1"/>
          <p:cNvSpPr>
            <a:spLocks noGrp="1"/>
          </p:cNvSpPr>
          <p:nvPr>
            <p:ph type="title"/>
          </p:nvPr>
        </p:nvSpPr>
        <p:spPr/>
        <p:txBody>
          <a:bodyPr/>
          <a:lstStyle/>
          <a:p>
            <a:r>
              <a:rPr lang="en-US" dirty="0"/>
              <a:t>Case Study 2 – Online bank</a:t>
            </a:r>
            <a:endParaRPr lang="ar-SY" dirty="0"/>
          </a:p>
        </p:txBody>
      </p:sp>
      <p:sp>
        <p:nvSpPr>
          <p:cNvPr id="3" name="Slide Number Placeholder 2"/>
          <p:cNvSpPr>
            <a:spLocks noGrp="1"/>
          </p:cNvSpPr>
          <p:nvPr>
            <p:ph type="sldNum" sz="quarter" idx="12"/>
          </p:nvPr>
        </p:nvSpPr>
        <p:spPr/>
        <p:txBody>
          <a:bodyPr/>
          <a:lstStyle/>
          <a:p>
            <a:pPr>
              <a:defRPr/>
            </a:pPr>
            <a:fld id="{D66DD518-6551-4FBC-BDA2-A8FF484494BA}" type="slidenum">
              <a:rPr lang="en-US" smtClean="0"/>
              <a:pPr>
                <a:defRPr/>
              </a:pPr>
              <a:t>35</a:t>
            </a:fld>
            <a:endParaRPr lang="en-US"/>
          </a:p>
        </p:txBody>
      </p:sp>
      <p:pic>
        <p:nvPicPr>
          <p:cNvPr id="75" name="Picture 74"/>
          <p:cNvPicPr/>
          <p:nvPr/>
        </p:nvPicPr>
        <p:blipFill>
          <a:blip r:embed="rId3" cstate="print">
            <a:extLst>
              <a:ext uri="{28A0092B-C50C-407E-A947-70E740481C1C}">
                <a14:useLocalDpi xmlns:a14="http://schemas.microsoft.com/office/drawing/2010/main" val="0"/>
              </a:ext>
            </a:extLst>
          </a:blip>
          <a:stretch>
            <a:fillRect/>
          </a:stretch>
        </p:blipFill>
        <p:spPr>
          <a:xfrm>
            <a:off x="1066800" y="1961804"/>
            <a:ext cx="6797040" cy="3906981"/>
          </a:xfrm>
          <a:prstGeom prst="rect">
            <a:avLst/>
          </a:prstGeom>
        </p:spPr>
      </p:pic>
    </p:spTree>
    <p:extLst>
      <p:ext uri="{BB962C8B-B14F-4D97-AF65-F5344CB8AC3E}">
        <p14:creationId xmlns:p14="http://schemas.microsoft.com/office/powerpoint/2010/main" val="196480801"/>
      </p:ext>
    </p:extLst>
  </p:cSld>
  <p:clrMapOvr>
    <a:masterClrMapping/>
  </p:clrMapOvr>
</p:sld>
</file>

<file path=ppt/theme/theme1.xml><?xml version="1.0" encoding="utf-8"?>
<a:theme xmlns:a="http://schemas.openxmlformats.org/drawingml/2006/main" name="Shimmer">
  <a:themeElements>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fontScheme name="Shimmer">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itchFamily="34" charset="0"/>
            <a:cs typeface="Arial" charset="0"/>
          </a:defRPr>
        </a:defPPr>
      </a:lstStyle>
    </a:lnDef>
  </a:objectDefaults>
  <a:extraClrSchemeLst>
    <a:extraClrScheme>
      <a:clrScheme name="Shimmer 1">
        <a:dk1>
          <a:srgbClr val="BD3737"/>
        </a:dk1>
        <a:lt1>
          <a:srgbClr val="FFFFFF"/>
        </a:lt1>
        <a:dk2>
          <a:srgbClr val="721E1E"/>
        </a:dk2>
        <a:lt2>
          <a:srgbClr val="FFCC00"/>
        </a:lt2>
        <a:accent1>
          <a:srgbClr val="FF6600"/>
        </a:accent1>
        <a:accent2>
          <a:srgbClr val="CC3300"/>
        </a:accent2>
        <a:accent3>
          <a:srgbClr val="BCABAB"/>
        </a:accent3>
        <a:accent4>
          <a:srgbClr val="DADADA"/>
        </a:accent4>
        <a:accent5>
          <a:srgbClr val="FFB8AA"/>
        </a:accent5>
        <a:accent6>
          <a:srgbClr val="B92D00"/>
        </a:accent6>
        <a:hlink>
          <a:srgbClr val="F7CC2F"/>
        </a:hlink>
        <a:folHlink>
          <a:srgbClr val="C7C6B1"/>
        </a:folHlink>
      </a:clrScheme>
      <a:clrMap bg1="dk2" tx1="lt1" bg2="dk1" tx2="lt2" accent1="accent1" accent2="accent2" accent3="accent3" accent4="accent4" accent5="accent5" accent6="accent6" hlink="hlink" folHlink="folHlink"/>
    </a:extraClrScheme>
    <a:extraClrScheme>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clrMap bg1="dk2" tx1="lt1" bg2="dk1" tx2="lt2" accent1="accent1" accent2="accent2" accent3="accent3" accent4="accent4" accent5="accent5" accent6="accent6" hlink="hlink" folHlink="folHlink"/>
    </a:extraClrScheme>
    <a:extraClrScheme>
      <a:clrScheme name="Shimmer 3">
        <a:dk1>
          <a:srgbClr val="6600CC"/>
        </a:dk1>
        <a:lt1>
          <a:srgbClr val="FFFFFF"/>
        </a:lt1>
        <a:dk2>
          <a:srgbClr val="4B0096"/>
        </a:dk2>
        <a:lt2>
          <a:srgbClr val="CDD7DF"/>
        </a:lt2>
        <a:accent1>
          <a:srgbClr val="9999FF"/>
        </a:accent1>
        <a:accent2>
          <a:srgbClr val="7850BA"/>
        </a:accent2>
        <a:accent3>
          <a:srgbClr val="B1AAC9"/>
        </a:accent3>
        <a:accent4>
          <a:srgbClr val="DADADA"/>
        </a:accent4>
        <a:accent5>
          <a:srgbClr val="CACAFF"/>
        </a:accent5>
        <a:accent6>
          <a:srgbClr val="6C48A8"/>
        </a:accent6>
        <a:hlink>
          <a:srgbClr val="00CCFF"/>
        </a:hlink>
        <a:folHlink>
          <a:srgbClr val="0796B3"/>
        </a:folHlink>
      </a:clrScheme>
      <a:clrMap bg1="dk2" tx1="lt1" bg2="dk1" tx2="lt2" accent1="accent1" accent2="accent2" accent3="accent3" accent4="accent4" accent5="accent5" accent6="accent6" hlink="hlink" folHlink="folHlink"/>
    </a:extraClrScheme>
    <a:extraClrScheme>
      <a:clrScheme name="Shimmer 4">
        <a:dk1>
          <a:srgbClr val="55863C"/>
        </a:dk1>
        <a:lt1>
          <a:srgbClr val="FFFFFF"/>
        </a:lt1>
        <a:dk2>
          <a:srgbClr val="375F2F"/>
        </a:dk2>
        <a:lt2>
          <a:srgbClr val="D1EFB3"/>
        </a:lt2>
        <a:accent1>
          <a:srgbClr val="00CC66"/>
        </a:accent1>
        <a:accent2>
          <a:srgbClr val="8EAC66"/>
        </a:accent2>
        <a:accent3>
          <a:srgbClr val="AEB6AD"/>
        </a:accent3>
        <a:accent4>
          <a:srgbClr val="DADADA"/>
        </a:accent4>
        <a:accent5>
          <a:srgbClr val="AAE2B8"/>
        </a:accent5>
        <a:accent6>
          <a:srgbClr val="809B5C"/>
        </a:accent6>
        <a:hlink>
          <a:srgbClr val="B4EF7F"/>
        </a:hlink>
        <a:folHlink>
          <a:srgbClr val="F8F6AC"/>
        </a:folHlink>
      </a:clrScheme>
      <a:clrMap bg1="dk2" tx1="lt1" bg2="dk1" tx2="lt2" accent1="accent1" accent2="accent2" accent3="accent3" accent4="accent4" accent5="accent5" accent6="accent6" hlink="hlink" folHlink="folHlink"/>
    </a:extraClrScheme>
    <a:extraClrScheme>
      <a:clrScheme name="Shimmer 5">
        <a:dk1>
          <a:srgbClr val="588073"/>
        </a:dk1>
        <a:lt1>
          <a:srgbClr val="FFFFFF"/>
        </a:lt1>
        <a:dk2>
          <a:srgbClr val="486768"/>
        </a:dk2>
        <a:lt2>
          <a:srgbClr val="DDDDDD"/>
        </a:lt2>
        <a:accent1>
          <a:srgbClr val="33CCCC"/>
        </a:accent1>
        <a:accent2>
          <a:srgbClr val="008871"/>
        </a:accent2>
        <a:accent3>
          <a:srgbClr val="B1B8B9"/>
        </a:accent3>
        <a:accent4>
          <a:srgbClr val="DADADA"/>
        </a:accent4>
        <a:accent5>
          <a:srgbClr val="ADE2E2"/>
        </a:accent5>
        <a:accent6>
          <a:srgbClr val="007B66"/>
        </a:accent6>
        <a:hlink>
          <a:srgbClr val="00CC99"/>
        </a:hlink>
        <a:folHlink>
          <a:srgbClr val="A8A8A8"/>
        </a:folHlink>
      </a:clrScheme>
      <a:clrMap bg1="dk2" tx1="lt1" bg2="dk1" tx2="lt2" accent1="accent1" accent2="accent2" accent3="accent3" accent4="accent4" accent5="accent5" accent6="accent6" hlink="hlink" folHlink="folHlink"/>
    </a:extraClrScheme>
    <a:extraClrScheme>
      <a:clrScheme name="Shimmer 6">
        <a:dk1>
          <a:srgbClr val="6B6C75"/>
        </a:dk1>
        <a:lt1>
          <a:srgbClr val="FFFFFF"/>
        </a:lt1>
        <a:dk2>
          <a:srgbClr val="575863"/>
        </a:dk2>
        <a:lt2>
          <a:srgbClr val="FFFFCC"/>
        </a:lt2>
        <a:accent1>
          <a:srgbClr val="677481"/>
        </a:accent1>
        <a:accent2>
          <a:srgbClr val="697E5E"/>
        </a:accent2>
        <a:accent3>
          <a:srgbClr val="B4B4B7"/>
        </a:accent3>
        <a:accent4>
          <a:srgbClr val="DADADA"/>
        </a:accent4>
        <a:accent5>
          <a:srgbClr val="B8BCC1"/>
        </a:accent5>
        <a:accent6>
          <a:srgbClr val="5E7254"/>
        </a:accent6>
        <a:hlink>
          <a:srgbClr val="E9E77F"/>
        </a:hlink>
        <a:folHlink>
          <a:srgbClr val="D3A44F"/>
        </a:folHlink>
      </a:clrScheme>
      <a:clrMap bg1="dk2" tx1="lt1" bg2="dk1" tx2="lt2" accent1="accent1" accent2="accent2" accent3="accent3" accent4="accent4" accent5="accent5" accent6="accent6" hlink="hlink" folHlink="folHlink"/>
    </a:extraClrScheme>
    <a:extraClrScheme>
      <a:clrScheme name="Shimmer 7">
        <a:dk1>
          <a:srgbClr val="000000"/>
        </a:dk1>
        <a:lt1>
          <a:srgbClr val="C4D6BE"/>
        </a:lt1>
        <a:dk2>
          <a:srgbClr val="339966"/>
        </a:dk2>
        <a:lt2>
          <a:srgbClr val="EFFBF0"/>
        </a:lt2>
        <a:accent1>
          <a:srgbClr val="DDDDDD"/>
        </a:accent1>
        <a:accent2>
          <a:srgbClr val="CCFF99"/>
        </a:accent2>
        <a:accent3>
          <a:srgbClr val="DEE8DB"/>
        </a:accent3>
        <a:accent4>
          <a:srgbClr val="000000"/>
        </a:accent4>
        <a:accent5>
          <a:srgbClr val="EBEBEB"/>
        </a:accent5>
        <a:accent6>
          <a:srgbClr val="B9E78A"/>
        </a:accent6>
        <a:hlink>
          <a:srgbClr val="009900"/>
        </a:hlink>
        <a:folHlink>
          <a:srgbClr val="336600"/>
        </a:folHlink>
      </a:clrScheme>
      <a:clrMap bg1="lt1" tx1="dk1" bg2="lt2" tx2="dk2" accent1="accent1" accent2="accent2" accent3="accent3" accent4="accent4" accent5="accent5" accent6="accent6" hlink="hlink" folHlink="folHlink"/>
    </a:extraClrScheme>
    <a:extraClrScheme>
      <a:clrScheme name="Shimmer 8">
        <a:dk1>
          <a:srgbClr val="000000"/>
        </a:dk1>
        <a:lt1>
          <a:srgbClr val="D6DAE4"/>
        </a:lt1>
        <a:dk2>
          <a:srgbClr val="000099"/>
        </a:dk2>
        <a:lt2>
          <a:srgbClr val="FFFFFF"/>
        </a:lt2>
        <a:accent1>
          <a:srgbClr val="BFDEE3"/>
        </a:accent1>
        <a:accent2>
          <a:srgbClr val="C0C0C0"/>
        </a:accent2>
        <a:accent3>
          <a:srgbClr val="E8EAEF"/>
        </a:accent3>
        <a:accent4>
          <a:srgbClr val="000000"/>
        </a:accent4>
        <a:accent5>
          <a:srgbClr val="DCECEF"/>
        </a:accent5>
        <a:accent6>
          <a:srgbClr val="AEAEAE"/>
        </a:accent6>
        <a:hlink>
          <a:srgbClr val="3333CC"/>
        </a:hlink>
        <a:folHlink>
          <a:srgbClr val="5E93C9"/>
        </a:folHlink>
      </a:clrScheme>
      <a:clrMap bg1="lt1" tx1="dk1" bg2="lt2" tx2="dk2" accent1="accent1" accent2="accent2" accent3="accent3" accent4="accent4" accent5="accent5" accent6="accent6" hlink="hlink" folHlink="folHlink"/>
    </a:extraClrScheme>
    <a:extraClrScheme>
      <a:clrScheme name="Shimmer 9">
        <a:dk1>
          <a:srgbClr val="4A2500"/>
        </a:dk1>
        <a:lt1>
          <a:srgbClr val="C2C0BA"/>
        </a:lt1>
        <a:dk2>
          <a:srgbClr val="788569"/>
        </a:dk2>
        <a:lt2>
          <a:srgbClr val="F4F4EC"/>
        </a:lt2>
        <a:accent1>
          <a:srgbClr val="E1DFC1"/>
        </a:accent1>
        <a:accent2>
          <a:srgbClr val="A5A7AF"/>
        </a:accent2>
        <a:accent3>
          <a:srgbClr val="DDDCD9"/>
        </a:accent3>
        <a:accent4>
          <a:srgbClr val="3E1E00"/>
        </a:accent4>
        <a:accent5>
          <a:srgbClr val="EEECDD"/>
        </a:accent5>
        <a:accent6>
          <a:srgbClr val="95979E"/>
        </a:accent6>
        <a:hlink>
          <a:srgbClr val="9C9800"/>
        </a:hlink>
        <a:folHlink>
          <a:srgbClr val="66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Shimmer</Template>
  <TotalTime>17892</TotalTime>
  <Words>3935</Words>
  <Application>Microsoft Office PowerPoint</Application>
  <PresentationFormat>On-screen Show (4:3)</PresentationFormat>
  <Paragraphs>476</Paragraphs>
  <Slides>35</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Arial Black</vt:lpstr>
      <vt:lpstr>Cambria</vt:lpstr>
      <vt:lpstr>NimbusRomNo9L-Regu</vt:lpstr>
      <vt:lpstr>Tahoma</vt:lpstr>
      <vt:lpstr>Times New Roman</vt:lpstr>
      <vt:lpstr>TimesTenLTStd-Bold</vt:lpstr>
      <vt:lpstr>TimesTenLTStd-Roman</vt:lpstr>
      <vt:lpstr>Wingdings</vt:lpstr>
      <vt:lpstr>Shimmer</vt:lpstr>
      <vt:lpstr>Information Systems Security</vt:lpstr>
      <vt:lpstr>Outline</vt:lpstr>
      <vt:lpstr>Security-Related News</vt:lpstr>
      <vt:lpstr>Attack Examples</vt:lpstr>
      <vt:lpstr>Verzion’s 2024 Data Breach Investigations Report</vt:lpstr>
      <vt:lpstr>Outline</vt:lpstr>
      <vt:lpstr>2. What is ISS?</vt:lpstr>
      <vt:lpstr>2. What is ISS?</vt:lpstr>
      <vt:lpstr>What is ISS?</vt:lpstr>
      <vt:lpstr>What is ISS?</vt:lpstr>
      <vt:lpstr>Outline</vt:lpstr>
      <vt:lpstr>ISS Objectives</vt:lpstr>
      <vt:lpstr>ISS Objectives</vt:lpstr>
      <vt:lpstr>ISS Objectives</vt:lpstr>
      <vt:lpstr>ISS Objectives</vt:lpstr>
      <vt:lpstr>ISS Objectives</vt:lpstr>
      <vt:lpstr>Computer Security Challenges</vt:lpstr>
      <vt:lpstr>Outline</vt:lpstr>
      <vt:lpstr>4. Security Terms</vt:lpstr>
      <vt:lpstr>Security terms</vt:lpstr>
      <vt:lpstr>Security terms</vt:lpstr>
      <vt:lpstr>Threats  from hackers</vt:lpstr>
      <vt:lpstr>Types of Attack</vt:lpstr>
      <vt:lpstr>Types of Attack</vt:lpstr>
      <vt:lpstr>Assets and Examples of Threats</vt:lpstr>
      <vt:lpstr>Countermeasures</vt:lpstr>
      <vt:lpstr>PowerPoint Presentation</vt:lpstr>
      <vt:lpstr>ISS- another  definition</vt:lpstr>
      <vt:lpstr>5. Security Policy</vt:lpstr>
      <vt:lpstr>Security Policy</vt:lpstr>
      <vt:lpstr>Security Lifecycle</vt:lpstr>
      <vt:lpstr>6. Conclusion</vt:lpstr>
      <vt:lpstr>PowerPoint Presentation</vt:lpstr>
      <vt:lpstr>Case Study 1 – Hospital system</vt:lpstr>
      <vt:lpstr>Case Study 2 – Online bank</vt:lpstr>
    </vt:vector>
  </TitlesOfParts>
  <Company>RHUL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System Security</dc:title>
  <dc:creator>GH</dc:creator>
  <cp:lastModifiedBy>Ghassan Chaddoud</cp:lastModifiedBy>
  <cp:revision>255</cp:revision>
  <dcterms:created xsi:type="dcterms:W3CDTF">2005-09-13T06:35:02Z</dcterms:created>
  <dcterms:modified xsi:type="dcterms:W3CDTF">2025-10-05T07:28:39Z</dcterms:modified>
</cp:coreProperties>
</file>